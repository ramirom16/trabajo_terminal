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30c6a9374c4e84" /><Relationship Type="http://schemas.openxmlformats.org/officeDocument/2006/relationships/extended-properties" Target="/docProps/app.xml" Id="R965e5dba089f4d0e" /><Relationship Type="http://schemas.openxmlformats.org/officeDocument/2006/relationships/officeDocument" Target="/ppt/presentation.xml" Id="Rffe97d2776a84d88" /></Relationships>
</file>

<file path=ppt/presentation.xml><?xml version="1.0" encoding="utf-8"?>
<p:presentation xmlns:p="http://schemas.openxmlformats.org/presentationml/2006/main">
  <p:sldMasterIdLst>
    <p:sldMasterId xmlns:r="http://schemas.openxmlformats.org/officeDocument/2006/relationships" id="2147483648" r:id="Rdf4ae61929144e53"/>
  </p:sldMasterIdLst>
  <p:notesMasterIdLst>
    <p:notesMasterId xmlns:r="http://schemas.openxmlformats.org/officeDocument/2006/relationships" r:id="Rc11d712d925446a9"/>
  </p:notesMasterIdLst>
  <p:sldIdLst>
    <p:sldId xmlns:r="http://schemas.openxmlformats.org/officeDocument/2006/relationships" id="256" r:id="R63dfeb3dcd0345d0"/>
    <p:sldId xmlns:r="http://schemas.openxmlformats.org/officeDocument/2006/relationships" id="257" r:id="R38902d187dce40ad"/>
    <p:sldId xmlns:r="http://schemas.openxmlformats.org/officeDocument/2006/relationships" id="258" r:id="Rcc60b83e04604180"/>
    <p:sldId xmlns:r="http://schemas.openxmlformats.org/officeDocument/2006/relationships" id="259" r:id="R1a3ac06a764e4455"/>
    <p:sldId xmlns:r="http://schemas.openxmlformats.org/officeDocument/2006/relationships" id="260" r:id="R8c5956369b2a4a35"/>
    <p:sldId xmlns:r="http://schemas.openxmlformats.org/officeDocument/2006/relationships" id="261" r:id="Rc1bc48bf409442d4"/>
    <p:sldId xmlns:r="http://schemas.openxmlformats.org/officeDocument/2006/relationships" id="262" r:id="Rc2efd39faa894c34"/>
    <p:sldId xmlns:r="http://schemas.openxmlformats.org/officeDocument/2006/relationships" id="263" r:id="R7ede022e51e14628"/>
    <p:sldId xmlns:r="http://schemas.openxmlformats.org/officeDocument/2006/relationships" id="264" r:id="R3f2aea868f3a4446"/>
    <p:sldId xmlns:r="http://schemas.openxmlformats.org/officeDocument/2006/relationships" id="265" r:id="R1af7cf4b5ffb4a46"/>
    <p:sldId xmlns:r="http://schemas.openxmlformats.org/officeDocument/2006/relationships" id="266" r:id="Re9d0185847b5476a"/>
    <p:sldId xmlns:r="http://schemas.openxmlformats.org/officeDocument/2006/relationships" id="267" r:id="R0e4ab5595f694bb4"/>
    <p:sldId xmlns:r="http://schemas.openxmlformats.org/officeDocument/2006/relationships" id="268" r:id="R1f2153f7a62e450c"/>
    <p:sldId xmlns:r="http://schemas.openxmlformats.org/officeDocument/2006/relationships" id="269" r:id="R052c683ff9ec420d"/>
    <p:sldId xmlns:r="http://schemas.openxmlformats.org/officeDocument/2006/relationships" id="270" r:id="Re02f498a796a4540"/>
    <p:sldId xmlns:r="http://schemas.openxmlformats.org/officeDocument/2006/relationships" id="271" r:id="R8b555b510bf541d8"/>
    <p:sldId xmlns:r="http://schemas.openxmlformats.org/officeDocument/2006/relationships" id="272" r:id="Rf115605d224b4be3"/>
    <p:sldId xmlns:r="http://schemas.openxmlformats.org/officeDocument/2006/relationships" id="273" r:id="Reb7810eb96204091"/>
    <p:sldId xmlns:r="http://schemas.openxmlformats.org/officeDocument/2006/relationships" id="274" r:id="R76e9f399c8714ee1"/>
    <p:sldId xmlns:r="http://schemas.openxmlformats.org/officeDocument/2006/relationships" id="275" r:id="R09eb2d5894004728"/>
    <p:sldId xmlns:r="http://schemas.openxmlformats.org/officeDocument/2006/relationships" id="276" r:id="Rf31e8807181f4f9a"/>
    <p:sldId xmlns:r="http://schemas.openxmlformats.org/officeDocument/2006/relationships" id="277" r:id="Rfd43aed8bd0a4d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32236659ab46ef" /><Relationship Type="http://schemas.openxmlformats.org/officeDocument/2006/relationships/slideMaster" Target="/ppt/slideMasters/slideMaster1.xml" Id="Rdf4ae61929144e53" /><Relationship Type="http://schemas.openxmlformats.org/officeDocument/2006/relationships/notesMaster" Target="/ppt/notesMasters/notesMaster1.xml" Id="Rc11d712d925446a9" /><Relationship Type="http://schemas.openxmlformats.org/officeDocument/2006/relationships/presProps" Target="/ppt/presProps.xml" Id="Rff2fc02b028d46af" /><Relationship Type="http://schemas.openxmlformats.org/officeDocument/2006/relationships/tableStyles" Target="/ppt/tableStyles.xml" Id="R8483a027c21c4281" /><Relationship Type="http://schemas.openxmlformats.org/officeDocument/2006/relationships/slide" Target="/ppt/slides/slide1.xml" Id="R63dfeb3dcd0345d0" /><Relationship Type="http://schemas.openxmlformats.org/officeDocument/2006/relationships/slide" Target="/ppt/slides/slide2.xml" Id="R38902d187dce40ad" /><Relationship Type="http://schemas.openxmlformats.org/officeDocument/2006/relationships/slide" Target="/ppt/slides/slide3.xml" Id="Rcc60b83e04604180" /><Relationship Type="http://schemas.openxmlformats.org/officeDocument/2006/relationships/slide" Target="/ppt/slides/slide4.xml" Id="R1a3ac06a764e4455" /><Relationship Type="http://schemas.openxmlformats.org/officeDocument/2006/relationships/slide" Target="/ppt/slides/slide5.xml" Id="R8c5956369b2a4a35" /><Relationship Type="http://schemas.openxmlformats.org/officeDocument/2006/relationships/slide" Target="/ppt/slides/slide6.xml" Id="Rc1bc48bf409442d4" /><Relationship Type="http://schemas.openxmlformats.org/officeDocument/2006/relationships/slide" Target="/ppt/slides/slide7.xml" Id="Rc2efd39faa894c34" /><Relationship Type="http://schemas.openxmlformats.org/officeDocument/2006/relationships/slide" Target="/ppt/slides/slide8.xml" Id="R7ede022e51e14628" /><Relationship Type="http://schemas.openxmlformats.org/officeDocument/2006/relationships/slide" Target="/ppt/slides/slide9.xml" Id="R3f2aea868f3a4446" /><Relationship Type="http://schemas.openxmlformats.org/officeDocument/2006/relationships/slide" Target="/ppt/slides/slide10.xml" Id="R1af7cf4b5ffb4a46" /><Relationship Type="http://schemas.openxmlformats.org/officeDocument/2006/relationships/slide" Target="/ppt/slides/slide11.xml" Id="Re9d0185847b5476a" /><Relationship Type="http://schemas.openxmlformats.org/officeDocument/2006/relationships/slide" Target="/ppt/slides/slide12.xml" Id="R0e4ab5595f694bb4" /><Relationship Type="http://schemas.openxmlformats.org/officeDocument/2006/relationships/slide" Target="/ppt/slides/slide13.xml" Id="R1f2153f7a62e450c" /><Relationship Type="http://schemas.openxmlformats.org/officeDocument/2006/relationships/slide" Target="/ppt/slides/slide14.xml" Id="R052c683ff9ec420d" /><Relationship Type="http://schemas.openxmlformats.org/officeDocument/2006/relationships/slide" Target="/ppt/slides/slide15.xml" Id="Re02f498a796a4540" /><Relationship Type="http://schemas.openxmlformats.org/officeDocument/2006/relationships/slide" Target="/ppt/slides/slide16.xml" Id="R8b555b510bf541d8" /><Relationship Type="http://schemas.openxmlformats.org/officeDocument/2006/relationships/slide" Target="/ppt/slides/slide17.xml" Id="Rf115605d224b4be3" /><Relationship Type="http://schemas.openxmlformats.org/officeDocument/2006/relationships/slide" Target="/ppt/slides/slide18.xml" Id="Reb7810eb96204091" /><Relationship Type="http://schemas.openxmlformats.org/officeDocument/2006/relationships/slide" Target="/ppt/slides/slide19.xml" Id="R76e9f399c8714ee1" /><Relationship Type="http://schemas.openxmlformats.org/officeDocument/2006/relationships/slide" Target="/ppt/slides/slide20.xml" Id="R09eb2d5894004728" /><Relationship Type="http://schemas.openxmlformats.org/officeDocument/2006/relationships/slide" Target="/ppt/slides/slide21.xml" Id="Rf31e8807181f4f9a" /><Relationship Type="http://schemas.openxmlformats.org/officeDocument/2006/relationships/slide" Target="/ppt/slides/slide22.xml" Id="Rfd43aed8bd0a4d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7694558fae4f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f5bc22be434f08" /><Relationship Type="http://schemas.openxmlformats.org/officeDocument/2006/relationships/notesMaster" Target="/ppt/notesMasters/notesMaster1.xml" Id="R672b93f5461247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d7767563d74573" /><Relationship Type="http://schemas.openxmlformats.org/officeDocument/2006/relationships/notesMaster" Target="/ppt/notesMasters/notesMaster1.xml" Id="R9c145c4b732748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eed43be62f42aa" /><Relationship Type="http://schemas.openxmlformats.org/officeDocument/2006/relationships/notesMaster" Target="/ppt/notesMasters/notesMaster1.xml" Id="R31caf90a238745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3c269e352044c6" /><Relationship Type="http://schemas.openxmlformats.org/officeDocument/2006/relationships/notesMaster" Target="/ppt/notesMasters/notesMaster1.xml" Id="R9ddd300345b848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3db7dcf2af455f" /><Relationship Type="http://schemas.openxmlformats.org/officeDocument/2006/relationships/notesMaster" Target="/ppt/notesMasters/notesMaster1.xml" Id="Rfca7c5b23d554e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fcf8f771bd43c5" /><Relationship Type="http://schemas.openxmlformats.org/officeDocument/2006/relationships/notesMaster" Target="/ppt/notesMasters/notesMaster1.xml" Id="Rb33e1c3aacd04d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6c55490b4b405b" /><Relationship Type="http://schemas.openxmlformats.org/officeDocument/2006/relationships/notesMaster" Target="/ppt/notesMasters/notesMaster1.xml" Id="Rcf3f4bf3636844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f2e2088fdb483c" /><Relationship Type="http://schemas.openxmlformats.org/officeDocument/2006/relationships/notesMaster" Target="/ppt/notesMasters/notesMaster1.xml" Id="R883e2523c09e47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ce71a40d0d45bf" /><Relationship Type="http://schemas.openxmlformats.org/officeDocument/2006/relationships/notesMaster" Target="/ppt/notesMasters/notesMaster1.xml" Id="R13454dd0422e49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cf53cef59a4aea" /><Relationship Type="http://schemas.openxmlformats.org/officeDocument/2006/relationships/notesMaster" Target="/ppt/notesMasters/notesMaster1.xml" Id="R28d0e8d8ce6f48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2fb7b4273d4be0" /><Relationship Type="http://schemas.openxmlformats.org/officeDocument/2006/relationships/notesMaster" Target="/ppt/notesMasters/notesMaster1.xml" Id="Ra7882875fbfc4a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8cb338c7ed444b" /><Relationship Type="http://schemas.openxmlformats.org/officeDocument/2006/relationships/notesMaster" Target="/ppt/notesMasters/notesMaster1.xml" Id="R0da233497c2b45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b174c59a6f4508" /><Relationship Type="http://schemas.openxmlformats.org/officeDocument/2006/relationships/notesMaster" Target="/ppt/notesMasters/notesMaster1.xml" Id="R74149cac62aa40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cfe973565804601" /><Relationship Type="http://schemas.openxmlformats.org/officeDocument/2006/relationships/notesMaster" Target="/ppt/notesMasters/notesMaster1.xml" Id="Rfb5bea5911cd4a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83880c801c4888" /><Relationship Type="http://schemas.openxmlformats.org/officeDocument/2006/relationships/notesMaster" Target="/ppt/notesMasters/notesMaster1.xml" Id="R27826b38320e445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1c865905bee4a87" /><Relationship Type="http://schemas.openxmlformats.org/officeDocument/2006/relationships/notesMaster" Target="/ppt/notesMasters/notesMaster1.xml" Id="R6813a72433bf42f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3374ac532624bdf" /><Relationship Type="http://schemas.openxmlformats.org/officeDocument/2006/relationships/notesMaster" Target="/ppt/notesMasters/notesMaster1.xml" Id="R76e3b9d530dd431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1b2c7059734a8c" /><Relationship Type="http://schemas.openxmlformats.org/officeDocument/2006/relationships/notesMaster" Target="/ppt/notesMasters/notesMaster1.xml" Id="R18e7327fd54f41b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47f7938b324251" /><Relationship Type="http://schemas.openxmlformats.org/officeDocument/2006/relationships/notesMaster" Target="/ppt/notesMasters/notesMaster1.xml" Id="R1621b442e51848b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218b37fde4f4624" /><Relationship Type="http://schemas.openxmlformats.org/officeDocument/2006/relationships/notesMaster" Target="/ppt/notesMasters/notesMaster1.xml" Id="Rf3c475ca9713428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d239015ee3c4c83" /><Relationship Type="http://schemas.openxmlformats.org/officeDocument/2006/relationships/notesMaster" Target="/ppt/notesMasters/notesMaster1.xml" Id="Rea2d49a3e293466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ebcf58ef071483a" /><Relationship Type="http://schemas.openxmlformats.org/officeDocument/2006/relationships/notesMaster" Target="/ppt/notesMasters/notesMaster1.xml" Id="R46931f974a7c49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0:30. Presentar título, autor y alcance de TT1. Nombres y cargos tomados de la presentación compartida; cotejar datos finales del sínodo antes de exponer. Fuente: /home/ramiro/Downloads/presentacion.pdf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0:20.</a:t>
            </a:r>
          </a:p>
          <a:p xmlns:a="http://schemas.openxmlformats.org/drawingml/2006/main">
            <a:r>
              <a:t>Recorrer el índice sin explicar todavía los resultados. No detenerse más de 20 segundos.</a:t>
            </a:r>
          </a:p>
          <a:p xmlns:a="http://schemas.openxmlformats.org/drawingml/2006/main">
            <a:r>
              <a:t>Fuentes: </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0:50.</a:t>
            </a:r>
          </a:p>
          <a:p xmlns:a="http://schemas.openxmlformats.org/drawingml/2006/main">
            <a:r>
              <a:t>Las tareas robóticas cada vez más complejas motivan investigar alternativas de control, como las redes neuronales. Sin embargo, ejecutar su inferencia requiere cómputo y movimiento de datos. Esta exigencia cobra especial relevancia en plataformas móviles, donde la energía disponible está limitada por las baterías. Por ello se estudia la cuantización, evaluando en TT1 su efecto sobre el tamaño del modelo, la latencia de inferencia y el seguimiento articular. Los sistemas móviles motivan el problema; la evaluación de TT1 se realizó en CPU y simulación del UR3e. No se midió directamente el cuello de botella de Von Neumann ni el ahorro energético.</a:t>
            </a:r>
          </a:p>
          <a:p xmlns:a="http://schemas.openxmlformats.org/drawingml/2006/main">
            <a:r>
              <a:t>Fuentes: Fuente: motivación y alcance del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0:35.</a:t>
            </a:r>
          </a:p>
          <a:p xmlns:a="http://schemas.openxmlformats.org/drawingml/2006/main">
            <a:r>
              <a:t>Leer el sentido del objetivo, no afirmar que ya se cumplió íntegramente. La precisión y recursos se caracterizan en simulación. El componente energético permanece pendiente de medición directa.</a:t>
            </a:r>
          </a:p>
          <a:p xmlns:a="http://schemas.openxmlformats.org/drawingml/2006/main">
            <a:r>
              <a:t>Fuentes: Fuente: objetivo declarado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Agrupación fiel de los objetivos para exposición. Incluyen investigación de cuantización, arquitectura, línea base, metodología y plan/plataforma. El documento propone al menos dos precisiones cuantizadas; la campaña actual acredita FP32 frente a INT8, no INT6+INT8. No declarar cumplimiento total.</a:t>
            </a:r>
          </a:p>
          <a:p xmlns:a="http://schemas.openxmlformats.org/drawingml/2006/main">
            <a:r>
              <a:t>Fuentes: Síntesis de objetivos declarados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FP32 binary32 tiene representación finita: 1 bit de signo, 8 exponente y 23 fracción. INT8 representa enteros en complemento a dos; el rango real se reconstruye con escala y punto cero. Como respaldo oral: UINT8 no tiene signo y representa códigos de 0 a 255. FP32 utiliza cuatro bytes por valor e INT8 uno. La reducción del archivo completo depende de los componentes que conserva el modelo. No equiparar reducción por peso con reducción de todo el archivo ni convertir todos los tensores a enteros.</a:t>
            </a:r>
          </a:p>
          <a:p xmlns:a="http://schemas.openxmlformats.org/drawingml/2006/main">
            <a:r>
              <a:t>Fuentes: Fuentes: IEEE 754 [2]; cuantización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L=2^B son códigos posibles, 256 para 8 bits. S separa niveles reales consecutivos. La fórmula con L−1 supone que los extremos son niveles. Figura extraída del reporte TT1 para ejemplificar visualmente la cuantización, con rango reducido y sin representar parámetros del modelo. x_int es el código entero; qmin y qmax son sus límites. Se utiliza x_int para distinguirlo de la posición articular q que se presenta después. clip limita el código al rango admitido. El símbolo x̂ representa el valor reconstruido. Una distribución normal de pesos no transforma el cuantizador uniforme en no uniforme.</a:t>
            </a:r>
          </a:p>
          <a:p xmlns:a="http://schemas.openxmlformats.org/drawingml/2006/main">
            <a:r>
              <a:t>Fuentes: Fuentes: cuantización lineal [3]; ilustración conceptual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El esquema conceptual no es el número real de neuronas. Las capas densas transforman entradas y las activaciones aportan no linealidad. Cuantizar cambia la representación, no elimina neuronas. La topología real se muestra después.</a:t>
            </a:r>
          </a:p>
          <a:p xmlns:a="http://schemas.openxmlformats.org/drawingml/2006/main">
            <a:r>
              <a:t>Fuentes: Fuentes: capas densas PyTorch [4]; implementación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ONNX describe el modelo mediante un grafo de operadores y tensores; ONNX Runtime es la herramienta utilizada para ejecutarlo. Interoperabilidad requiere soporte del backend; no garantiza cualquier FPGA o embebido. En TT1 exportación PyTorch y ejecución ONNX Runtime C++.</a:t>
            </a:r>
          </a:p>
          <a:p xmlns:a="http://schemas.openxmlformats.org/drawingml/2006/main">
            <a:r>
              <a:t>Fuentes: Fuente: ONNX Concepts [5]</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La captura sólo acredita el entorno ilustrado; sus valores de consola son instantáneos y no son las estadísticas agregadas. La evaluación física no se realizó. Frecuencias nominales diferenciadas.</a:t>
            </a:r>
          </a:p>
          <a:p xmlns:a="http://schemas.openxmlformats.org/drawingml/2006/main">
            <a:r>
              <a:t>Fuentes: Fuente: captura del avance y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El PD se suma en torque. RNEA utiliza posición y velocidad actuales, junto con aceleración deseada. El torque total se utiliza como objetivo de entrenamiento. El error de posición es referencia menos posición actual; el error de velocidad es velocidad deseada menos velocidad actual. Los 151.2 µs corresponden al control RNEA + PD integrado.</a:t>
            </a:r>
          </a:p>
          <a:p xmlns:a="http://schemas.openxmlformats.org/drawingml/2006/main">
            <a:r>
              <a:t>Fuentes: Fuentes: dinámica de manipuladores [6]; controlador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Cinco capas Linear con sesgo, cuatro activaciones ReLU. Dropout 0.05 después de segunda capa en entrenamiento. 306432 pesos + 1158 sesgos = 307590 parámetros. Se mantienen 42 entradas y seis salidas estandarizadas.</a:t>
            </a:r>
          </a:p>
          <a:p xmlns:a="http://schemas.openxmlformats.org/drawingml/2006/main">
            <a:r>
              <a:t>Fuentes: Fuente: figura corregida y código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RNEA aporta una característica de entrada. La red produce el torque total, seguido de desnormalización y saturación provisional. La posición y velocidad medidas en simulación se realimentan a la preparación de entradas y al cálculo RNEA. La aceleración actual se fija a cero durante el despliegue, como se explica en la siguiente lámina. No se vuelve a sumar RNEA a la salida.</a:t>
            </a:r>
          </a:p>
          <a:p xmlns:a="http://schemas.openxmlformats.org/drawingml/2006/main">
            <a:r>
              <a:t>Fuentes: Fuente: arquitectura funcional corregida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1:15.</a:t>
            </a:r>
          </a:p>
          <a:p xmlns:a="http://schemas.openxmlformats.org/drawingml/2006/main">
            <a:r>
              <a:t>La red recibe siete grupos de seis variables: posición, velocidad y aceleración actuales; posición, velocidad y aceleración deseadas; y torque RNEA. Produce seis valores de torque objetivo. Durante el entrenamiento se utilizó aceleración actual obtenida mediante procesamiento y filtrado; en el despliegue se fijó a cero como simplificación. La aceleración deseada se conserva. Se reconoce la diferencia como limitación. Queda pendiente investigar un estimador de aceleración de bajo costo computacional, evaluar el seguimiento y medir el costo añadido a la preparación de entradas y al tiempo total del control. Ese costo no debe confundirse con la inferencia aislada. No se demuestra todavía una solución ni una garantía temporal.</a:t>
            </a:r>
          </a:p>
          <a:p xmlns:a="http://schemas.openxmlformats.org/drawingml/2006/main">
            <a:r>
              <a:t>Fuentes: Fuente: pipeline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Los pesos se cuantizan después del entrenamiento, fuera de línea. La escala y el punto cero de las activaciones se calculan durante la inferencia. Se recorre la ruta de PTQ dinámica aplicada en TT1; QAT permanece como propuesta y no se evaluó. La figura se conserva como extracto del reporte. No se atribuye la mejora a instrucciones SIMD específicas no verificadas.</a:t>
            </a:r>
          </a:p>
          <a:p xmlns:a="http://schemas.openxmlformats.org/drawingml/2006/main">
            <a:r>
              <a:t>Fuentes: Fuentes: flujo PTQ corregido [1];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curva es un perfil quíntico ilustrativo extraído del reporte, no un registro del ensayo. Se comparan control RNEA + PD, control con red FP32 y control con red INT8. Ejecución en CPU y simulación. La adquisición se realizó a 100 Hz. La duración de 600 s se conserva como respaldo en el reporte, sin añadirla a la lámina. No confundir actualizaciones nominales del control con mensajes efectivos recopilados.</a:t>
            </a:r>
          </a:p>
          <a:p xmlns:a="http://schemas.openxmlformats.org/drawingml/2006/main">
            <a:r>
              <a:t>Fuentes: Fuente: condiciones experimentales y perfil quíntico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1232→315KB. Reducción1-315/1232=74.4318%. Tamaño serializado,noRAMni huella energética. MantenerKBsinconvertirMBni inventarbytes. Ambos modelos conservan topología.</a:t>
            </a:r>
          </a:p>
          <a:p xmlns:a="http://schemas.openxmlformats.org/drawingml/2006/main">
            <a:r>
              <a:t>Fuentes: Fuente: tamaños de campaña confirmados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media de inferencia pasó de 37.1 a 29.2 µs: reducción de 21.29 %. Son medidas de inferencia aislada en CPU. RNEA, preparación de entradas, procesamiento de salidas y comunicación requieren una medición conjunta. No implican garantías de tiempo real. Se omiten percentiles FP32 hasta confirmar registros. Los 151.2 µs corresponden a RNEA + PD integrado.</a:t>
            </a:r>
          </a:p>
          <a:p xmlns:a="http://schemas.openxmlformats.org/drawingml/2006/main">
            <a:r>
              <a:t>Fuentes: Fuente: medias de inferencia reportadas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RMSE: 0.063 rad analítico, 0.092 rad FP32 y 0.138 rad INT8. Ninguno alcanzó RF-01 (&lt;0.05 rad). La cuantización no se considera la única causa demostrada de la diferencia. Estos son resultados agregados de la campaña, no valores instantáneos de consola. La línea horizontal representa el criterio RF-01 de 0.05 rad, aproximadamente 2.86 grados. El documento declara el umbral, pero no se encontró una justificación específica de su elección; no atribuirlo a una norma, al fabricante ni a una tolerancia cartesiana sin evidencia. El autor indicó que Gemini propuso originalmente el valor durante la redacción. Se conserva como meta exploratoria adoptada en el documento, sin inventar un estudio de selección previo ni un respaldo normativo. La fundamentación del valor según una tarea específica permanece pendiente. Si se pregunta por qué 0.05 y no otro número, reconocer que no se realizó un estudio para seleccionar ese límite.</a:t>
            </a:r>
          </a:p>
          <a:p xmlns:a="http://schemas.openxmlformats.org/drawingml/2006/main">
            <a:r>
              <a:t>Fuentes: Fuente: RMSE reportados y criterio RF-01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Explicar el cumplimiento por criterio, sin declarar cumplimiento global. No se midió consumo eléctrico. El ciclo total y el jitter requieren registros trazables. La saturación uniforme de ±55 N·m es provisional en simulación. El requisito de ausencia de asignación dinámica no se acredita con el código actual. Comparar FP32 e INT8 no acredita dos precisiones cuantizadas.</a:t>
            </a:r>
          </a:p>
          <a:p xmlns:a="http://schemas.openxmlformats.org/drawingml/2006/main">
            <a:r>
              <a:t>Fuentes: Fuente: matriz consolidada de verificación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Relacionar las conclusiones con la integración y la comparación en CPU. Destacar la reducción del archivo y de la latencia media de inferencia, junto con el incumplimiento de RF-01. No atribuir ahorro energético sin medición directa. Dejar las referencias disponibles para preguntas.</a:t>
            </a:r>
          </a:p>
          <a:p xmlns:a="http://schemas.openxmlformats.org/drawingml/2006/main">
            <a:r>
              <a:t>Fuentes: Fuente: resultados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0:10.</a:t>
            </a:r>
          </a:p>
          <a:p xmlns:a="http://schemas.openxmlformats.org/drawingml/2006/main">
            <a:r>
              <a:t>No leer la bibliografía completa. Agradecer y abrir la sesión de preguntas. Las figuras proceden del reporte corregido; las fuentes externas fundamentan los conceptos, mientras que las mediciones corresponden al proyecto.</a:t>
            </a:r>
          </a:p>
          <a:p xmlns:a="http://schemas.openxmlformats.org/drawingml/2006/main">
            <a:r>
              <a:t>Fuentes: Consulta de documentación: 7 de octubre de 2026</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6ad2468bb94b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f2d198049c44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0da8b1ad934b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7619826fc946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2f81f7027243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343e11a49c40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4924B5-97ED-44E8-8B6A-247DBA25A8C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6A777D1-0F13-40E5-812F-D64DDCC483B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8E84EBA-D535-4EE5-9A67-A65C6A0BA9F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68AE52-2CE9-420C-828D-C240810753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CCD08B-6F33-4A52-AE7C-4DE3680C5A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169613-E694-46FA-871B-1F59DFA42F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D3D2BA-9214-4B6A-9E7A-1ABA7FE4FD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9E5120C-30D3-42F5-9B9E-407567F0E6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23EBDC-B62F-419B-A6D1-956363A6DF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478578-A004-4272-9C01-07768FD3D1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83d6c4acb6408c" /><Relationship Type="http://schemas.openxmlformats.org/officeDocument/2006/relationships/slideLayout" Target="/ppt/slideLayouts/slideLayout1.xml" Id="Re8157fa4cc0f49d8" /><Relationship Type="http://schemas.openxmlformats.org/officeDocument/2006/relationships/slideLayout" Target="/ppt/slideLayouts/slideLayout2.xml" Id="Reacefcf648db4072" /><Relationship Type="http://schemas.openxmlformats.org/officeDocument/2006/relationships/slideLayout" Target="/ppt/slideLayouts/slideLayout3.xml" Id="Rca3c187999ac41fc" /><Relationship Type="http://schemas.openxmlformats.org/officeDocument/2006/relationships/slideLayout" Target="/ppt/slideLayouts/slideLayout4.xml" Id="Rca87546c07924f86" /><Relationship Type="http://schemas.openxmlformats.org/officeDocument/2006/relationships/slideLayout" Target="/ppt/slideLayouts/slideLayout5.xml" Id="R5a0f3a5869764bbe" /><Relationship Type="http://schemas.openxmlformats.org/officeDocument/2006/relationships/slideLayout" Target="/ppt/slideLayouts/slideLayout6.xml" Id="Raafa724d48d946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157fa4cc0f49d8"/>
    <p:sldLayoutId xmlns:r="http://schemas.openxmlformats.org/officeDocument/2006/relationships" id="2147483650" r:id="Reacefcf648db4072"/>
    <p:sldLayoutId xmlns:r="http://schemas.openxmlformats.org/officeDocument/2006/relationships" id="2147483651" r:id="Rca3c187999ac41fc"/>
    <p:sldLayoutId xmlns:r="http://schemas.openxmlformats.org/officeDocument/2006/relationships" id="2147483652" r:id="Rca87546c07924f86"/>
    <p:sldLayoutId xmlns:r="http://schemas.openxmlformats.org/officeDocument/2006/relationships" id="2147483653" r:id="R5a0f3a5869764bbe"/>
    <p:sldLayoutId xmlns:r="http://schemas.openxmlformats.org/officeDocument/2006/relationships" id="2147483654" r:id="Raafa724d48d946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1e3702bafc84c11" /><Relationship Type="http://schemas.openxmlformats.org/officeDocument/2006/relationships/notesSlide" Target="/ppt/notesSlides/notesSlide1.xml" Id="R23ad4e05d83f48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bedf36381b6485f" /><Relationship Type="http://schemas.openxmlformats.org/officeDocument/2006/relationships/notesSlide" Target="/ppt/notesSlides/notesSlide2.xml" Id="R999d60902b8a4a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eaff43287e4f16" /><Relationship Type="http://schemas.openxmlformats.org/officeDocument/2006/relationships/notesSlide" Target="/ppt/notesSlides/notesSlide3.xml" Id="R31b9842e3dd94d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b10821d236d4c61" /><Relationship Type="http://schemas.openxmlformats.org/officeDocument/2006/relationships/notesSlide" Target="/ppt/notesSlides/notesSlide4.xml" Id="R9e784be072e944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74813747fb46f6" /><Relationship Type="http://schemas.openxmlformats.org/officeDocument/2006/relationships/notesSlide" Target="/ppt/notesSlides/notesSlide5.xml" Id="R669d8ed0c5974b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fd3d04d680a461d" /><Relationship Type="http://schemas.openxmlformats.org/officeDocument/2006/relationships/notesSlide" Target="/ppt/notesSlides/notesSlide6.xml" Id="R8aa0028ed2ca46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3f045c6a4df4360" /><Relationship Type="http://schemas.openxmlformats.org/officeDocument/2006/relationships/image" Target="/ppt/media/image.png" Id="R5a2d535014054aad" /><Relationship Type="http://schemas.openxmlformats.org/officeDocument/2006/relationships/notesSlide" Target="/ppt/notesSlides/notesSlide7.xml" Id="Rf4c16a3e740f40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b5e97bc5cb94a01" /><Relationship Type="http://schemas.openxmlformats.org/officeDocument/2006/relationships/notesSlide" Target="/ppt/notesSlides/notesSlide8.xml" Id="Rdb1fe447fba14c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878b5a445e94deb" /><Relationship Type="http://schemas.openxmlformats.org/officeDocument/2006/relationships/notesSlide" Target="/ppt/notesSlides/notesSlide9.xml" Id="Rb4bd756884a442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64693f83677497f" /><Relationship Type="http://schemas.openxmlformats.org/officeDocument/2006/relationships/image" Target="/ppt/media/image2.png" Id="R7b98863c59b14715" /><Relationship Type="http://schemas.openxmlformats.org/officeDocument/2006/relationships/notesSlide" Target="/ppt/notesSlides/notesSlide10.xml" Id="R87839df67ee84c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ee71125f99c4c58" /><Relationship Type="http://schemas.openxmlformats.org/officeDocument/2006/relationships/notesSlide" Target="/ppt/notesSlides/notesSlide11.xml" Id="R6c372800f70c49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488c26f0969493b" /><Relationship Type="http://schemas.openxmlformats.org/officeDocument/2006/relationships/image" Target="/ppt/media/image3.png" Id="Ra089cebe89a54398" /><Relationship Type="http://schemas.openxmlformats.org/officeDocument/2006/relationships/notesSlide" Target="/ppt/notesSlides/notesSlide12.xml" Id="R70c9b86a9ae34d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2792561e6e74bde" /><Relationship Type="http://schemas.openxmlformats.org/officeDocument/2006/relationships/notesSlide" Target="/ppt/notesSlides/notesSlide13.xml" Id="R721e05ca30c04a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8ed78d5a71b4e40" /><Relationship Type="http://schemas.openxmlformats.org/officeDocument/2006/relationships/notesSlide" Target="/ppt/notesSlides/notesSlide14.xml" Id="R06d10d5851354d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339977ac21e4157" /><Relationship Type="http://schemas.openxmlformats.org/officeDocument/2006/relationships/image" Target="/ppt/media/image4.png" Id="Raf738f1f0fe04a37" /><Relationship Type="http://schemas.openxmlformats.org/officeDocument/2006/relationships/notesSlide" Target="/ppt/notesSlides/notesSlide15.xml" Id="Rddfed4666bff4ec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ff7d590db04f4c" /><Relationship Type="http://schemas.openxmlformats.org/officeDocument/2006/relationships/image" Target="/ppt/media/image5.png" Id="R405aea1b2bae4fe3" /><Relationship Type="http://schemas.openxmlformats.org/officeDocument/2006/relationships/notesSlide" Target="/ppt/notesSlides/notesSlide16.xml" Id="Rd3109cbb8e0d4d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871895670d74364" /><Relationship Type="http://schemas.openxmlformats.org/officeDocument/2006/relationships/chart" Target="/ppt/slides/charts/chart1.xml" Id="Ra7da31785d9542ee" /><Relationship Type="http://schemas.openxmlformats.org/officeDocument/2006/relationships/notesSlide" Target="/ppt/notesSlides/notesSlide17.xml" Id="Rd00cad8fab8e4f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4291927ea364cb7" /><Relationship Type="http://schemas.openxmlformats.org/officeDocument/2006/relationships/chart" Target="/ppt/slides/charts/chart2.xml" Id="Rf34683837b3c4189" /><Relationship Type="http://schemas.openxmlformats.org/officeDocument/2006/relationships/notesSlide" Target="/ppt/notesSlides/notesSlide18.xml" Id="R41c04432b5e54a1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c3e0d88c3904d6c" /><Relationship Type="http://schemas.openxmlformats.org/officeDocument/2006/relationships/chart" Target="/ppt/slides/charts/chart3.xml" Id="Rdafd2a8de4ba4f28" /><Relationship Type="http://schemas.openxmlformats.org/officeDocument/2006/relationships/notesSlide" Target="/ppt/notesSlides/notesSlide19.xml" Id="R091237d1f9b8420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191f28c59f94429" /><Relationship Type="http://schemas.openxmlformats.org/officeDocument/2006/relationships/notesSlide" Target="/ppt/notesSlides/notesSlide20.xml" Id="R9e76120b4cf64b9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63b14df578d4ae2" /><Relationship Type="http://schemas.openxmlformats.org/officeDocument/2006/relationships/notesSlide" Target="/ppt/notesSlides/notesSlide21.xml" Id="Rcc84862d8d0f4fc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fa08f4e8ca8401a" /><Relationship Type="http://schemas.openxmlformats.org/officeDocument/2006/relationships/notesSlide" Target="/ppt/notesSlides/notesSlide22.xml" Id="R817f313b6fa8427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KB</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c:formatCode>
                <c:ptCount val="2"/>
                <c:pt idx="0">
                  <c:v>1232</c:v>
                </c:pt>
                <c:pt idx="1">
                  <c:v>315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1400"/>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KB</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µs</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0.0</c:formatCode>
                <c:ptCount val="2"/>
                <c:pt idx="0">
                  <c:v>37.1</c:v>
                </c:pt>
                <c:pt idx="1">
                  <c:v>29.2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45"/>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µs</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RMSE (rad)</c:v>
          </c:tx>
          <c:spPr>
            <a:solidFill xmlns:a="http://schemas.openxmlformats.org/drawingml/2006/main">
              <a:srgbClr val="0F766E"/>
            </a:solidFill>
          </c:spPr>
          <c:dPt>
            <c:idx val="0"/>
            <c:invertIfNegative val="0"/>
            <c:spPr>
              <a:solidFill xmlns:a="http://schemas.openxmlformats.org/drawingml/2006/main">
                <a:srgbClr val="1D4ED8"/>
              </a:solidFill>
            </c:spPr>
          </c:dPt>
          <c:dPt>
            <c:idx val="1"/>
            <c:invertIfNegative val="0"/>
            <c:spPr>
              <a:solidFill xmlns:a="http://schemas.openxmlformats.org/drawingml/2006/main">
                <a:srgbClr val="0F766E"/>
              </a:solidFill>
            </c:spPr>
          </c:dPt>
          <c:dPt>
            <c:idx val="2"/>
            <c:invertIfNegative val="0"/>
            <c:spPr>
              <a:solidFill xmlns:a="http://schemas.openxmlformats.org/drawingml/2006/main">
                <a:srgbClr val="B45309"/>
              </a:solidFill>
            </c:spPr>
          </c:dPt>
          <c:cat>
            <c:strRef>
              <c:f>'Chart Data'!$A$2:$A$4</c:f>
              <c:strCache>
                <c:ptCount val="3"/>
                <c:pt idx="0">
                  <c:v>RNEA + PD</c:v>
                </c:pt>
                <c:pt idx="1">
                  <c:v>FP32</c:v>
                </c:pt>
                <c:pt idx="2">
                  <c:v>INT8</c:v>
                </c:pt>
              </c:strCache>
            </c:strRef>
          </c:cat>
          <c:val>
            <c:numRef>
              <c:f>'Chart Data'!$B$2:$B$4</c:f>
              <c:numCache>
                <c:formatCode>0.000</c:formatCode>
                <c:ptCount val="3"/>
                <c:pt idx="0">
                  <c:v>0.063</c:v>
                </c:pt>
                <c:pt idx="1">
                  <c:v>0.092</c:v>
                </c:pt>
                <c:pt idx="2">
                  <c:v>0.138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lineChart>
        <c:grouping val="standard"/>
        <c:ser>
          <c:idx val="1"/>
          <c:order val="1"/>
          <c:tx>
            <c:v>Criterio RF-01: 0.05 rad</c:v>
          </c:tx>
          <c:spPr>
            <ns1:ln xmlns:ns1="http://schemas.openxmlformats.org/drawingml/2006/main" w="25400">
              <ns1:solidFill>
                <ns1:srgbClr val="B45309"/>
              </ns1:solidFill>
              <ns1:prstDash val="dash"/>
            </ns1:ln>
          </c:spPr>
          <c:marker>
            <c:symbol val="none"/>
          </c:marker>
          <c:cat>
            <c:strRef>
              <c:f>'Chart Data'!$C$2:$C$4</c:f>
              <c:strCache>
                <c:ptCount val="3"/>
                <c:pt idx="0">
                  <c:v>RNEA + PD</c:v>
                </c:pt>
                <c:pt idx="1">
                  <c:v>FP32</c:v>
                </c:pt>
                <c:pt idx="2">
                  <c:v>INT8</c:v>
                </c:pt>
              </c:strCache>
            </c:strRef>
          </c:cat>
          <c:val>
            <c:numRef>
              <c:f>'Chart Data'!$D$2:$D$4</c:f>
              <c:numCache>
                <c:formatCode>0.000</c:formatCode>
                <c:ptCount val="3"/>
                <c:pt idx="0">
                  <c:v>0.05</c:v>
                </c:pt>
                <c:pt idx="1">
                  <c:v>0.05</c:v>
                </c:pt>
                <c:pt idx="2">
                  <c:v>0.05</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0.16"/>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RMSE (rad)</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6344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4A2AF6-F565-46AE-B92E-1CA9FFEF2A0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40A70CF-63CB-4358-8809-8A877B4675A9}"/>
              </a:ext>
            </a:extLst>
          </p:cNvPr>
          <p:cNvSpPr>
            <a:spLocks xmlns:a="http://schemas.openxmlformats.org/drawingml/2006/main" noGrp="1"/>
          </p:cNvSpPr>
          <p:nvPr/>
        </p:nvSpPr>
        <p:spPr>
          <a:xfrm xmlns:a="http://schemas.openxmlformats.org/drawingml/2006/main">
            <a:off x="609600" y="447675"/>
            <a:ext cx="1095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B9D8D3"/>
                </a:solidFill>
                <a:latin typeface="Lato"/>
                <a:ea typeface="Lato"/>
                <a:cs typeface="Lato"/>
              </a:defRPr>
            </a:defPPr>
          </a:lstStyle>
          <a:p xmlns:a="http://schemas.openxmlformats.org/drawingml/2006/main">
            <a:pPr algn="l">
              <a:defRPr sz="1725" b="1">
                <a:solidFill>
                  <a:srgbClr val="B9D8D3"/>
                </a:solidFill>
                <a:latin typeface="Lato"/>
                <a:ea typeface="Lato"/>
                <a:cs typeface="Lato"/>
              </a:defRPr>
            </a:pPr>
            <a:r>
              <a:rPr sz="1725" b="1">
                <a:solidFill>
                  <a:srgbClr val="B9D8D3"/>
                </a:solidFill>
                <a:latin typeface="Lato"/>
                <a:ea typeface="Lato"/>
                <a:cs typeface="Lato"/>
              </a:rPr>
              <a:t>TRABAJO TERMINAL I · MECATRÓNICA · UPIITA–IPN</a:t>
            </a:r>
          </a:p>
        </p:txBody>
      </p:sp>
      <p:sp>
        <p:nvSpPr>
          <p:cNvPr id="3" name="">
            <a:extLst xmlns:a="http://schemas.openxmlformats.org/drawingml/2006/main">
              <a:ext uri="{FF2B5EF4-FFF2-40B4-BE49-F238E27FC236}">
                <a16:creationId xmlns:a16="http://schemas.microsoft.com/office/drawing/2014/main" id="{5D42D1E3-B73A-44F7-B457-DAE049618EB0}"/>
              </a:ext>
            </a:extLst>
          </p:cNvPr>
          <p:cNvSpPr>
            <a:spLocks xmlns:a="http://schemas.openxmlformats.org/drawingml/2006/main" noGrp="1"/>
          </p:cNvSpPr>
          <p:nvPr/>
        </p:nvSpPr>
        <p:spPr>
          <a:xfrm xmlns:a="http://schemas.openxmlformats.org/drawingml/2006/main">
            <a:off x="609600" y="1133475"/>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525" b="1">
                <a:solidFill>
                  <a:srgbClr val="FFFFFF"/>
                </a:solidFill>
                <a:latin typeface="Lato"/>
                <a:ea typeface="Lato"/>
                <a:cs typeface="Lato"/>
              </a:defRPr>
            </a:defPPr>
          </a:lstStyle>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Control de posición de robot manipulador</a:t>
            </a:r>
          </a:p>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usando redes neuronales cuantizadas</a:t>
            </a:r>
          </a:p>
        </p:txBody>
      </p:sp>
      <p:sp>
        <p:nvSpPr>
          <p:cNvPr id="4" name="">
            <a:extLst xmlns:a="http://schemas.openxmlformats.org/drawingml/2006/main">
              <a:ext uri="{FF2B5EF4-FFF2-40B4-BE49-F238E27FC236}">
                <a16:creationId xmlns:a16="http://schemas.microsoft.com/office/drawing/2014/main" id="{6DD60F47-60D1-4E10-AA01-2D4799AA0331}"/>
              </a:ext>
            </a:extLst>
          </p:cNvPr>
          <p:cNvSpPr>
            <a:spLocks xmlns:a="http://schemas.openxmlformats.org/drawingml/2006/main" noGrp="1"/>
          </p:cNvSpPr>
          <p:nvPr/>
        </p:nvSpPr>
        <p:spPr>
          <a:xfrm xmlns:a="http://schemas.openxmlformats.org/drawingml/2006/main">
            <a:off x="609600" y="29146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9D8D3"/>
                </a:solidFill>
                <a:latin typeface="Lato"/>
                <a:ea typeface="Lato"/>
                <a:cs typeface="Lato"/>
              </a:defRPr>
            </a:defPPr>
          </a:lstStyle>
          <a:p xmlns:a="http://schemas.openxmlformats.org/drawingml/2006/main">
            <a:pPr algn="l">
              <a:defRPr sz="2175" b="1">
                <a:solidFill>
                  <a:srgbClr val="B9D8D3"/>
                </a:solidFill>
                <a:latin typeface="Lato"/>
                <a:ea typeface="Lato"/>
                <a:cs typeface="Lato"/>
              </a:defRPr>
            </a:pPr>
            <a:r>
              <a:rPr sz="2175" b="1">
                <a:solidFill>
                  <a:srgbClr val="B9D8D3"/>
                </a:solidFill>
                <a:latin typeface="Lato"/>
                <a:ea typeface="Lato"/>
                <a:cs typeface="Lato"/>
              </a:rPr>
              <a:t>TTM-2025/2-56</a:t>
            </a:r>
          </a:p>
        </p:txBody>
      </p:sp>
      <p:sp>
        <p:nvSpPr>
          <p:cNvPr id="5" name="">
            <a:extLst xmlns:a="http://schemas.openxmlformats.org/drawingml/2006/main">
              <a:ext uri="{FF2B5EF4-FFF2-40B4-BE49-F238E27FC236}">
                <a16:creationId xmlns:a16="http://schemas.microsoft.com/office/drawing/2014/main" id="{963D512D-50B3-4F7B-BCAD-C216614EFCB8}"/>
              </a:ext>
            </a:extLst>
          </p:cNvPr>
          <p:cNvSpPr>
            <a:spLocks xmlns:a="http://schemas.openxmlformats.org/drawingml/2006/main" noGrp="1"/>
          </p:cNvSpPr>
          <p:nvPr/>
        </p:nvSpPr>
        <p:spPr>
          <a:xfrm xmlns:a="http://schemas.openxmlformats.org/drawingml/2006/main">
            <a:off x="609600" y="38481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Presenta: Ramiro Mendoza Díaz</a:t>
            </a:r>
          </a:p>
        </p:txBody>
      </p:sp>
      <p:sp>
        <p:nvSpPr>
          <p:cNvPr id="6" name="">
            <a:extLst xmlns:a="http://schemas.openxmlformats.org/drawingml/2006/main">
              <a:ext uri="{FF2B5EF4-FFF2-40B4-BE49-F238E27FC236}">
                <a16:creationId xmlns:a16="http://schemas.microsoft.com/office/drawing/2014/main" id="{A491FC3D-FC29-4DF0-ADA4-AA10A2A6E9DC}"/>
              </a:ext>
            </a:extLst>
          </p:cNvPr>
          <p:cNvSpPr>
            <a:spLocks xmlns:a="http://schemas.openxmlformats.org/drawingml/2006/main" noGrp="1"/>
          </p:cNvSpPr>
          <p:nvPr/>
        </p:nvSpPr>
        <p:spPr>
          <a:xfrm xmlns:a="http://schemas.openxmlformats.org/drawingml/2006/main">
            <a:off x="609600" y="43053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Asesor: Dr. Jorge Alejandro Juárez Lora</a:t>
            </a:r>
          </a:p>
        </p:txBody>
      </p:sp>
      <p:sp>
        <p:nvSpPr>
          <p:cNvPr id="7" name="">
            <a:extLst xmlns:a="http://schemas.openxmlformats.org/drawingml/2006/main">
              <a:ext uri="{FF2B5EF4-FFF2-40B4-BE49-F238E27FC236}">
                <a16:creationId xmlns:a16="http://schemas.microsoft.com/office/drawing/2014/main" id="{482D3969-0F67-464D-81EC-AB0B63552017}"/>
              </a:ext>
            </a:extLst>
          </p:cNvPr>
          <p:cNvSpPr>
            <a:spLocks xmlns:a="http://schemas.openxmlformats.org/drawingml/2006/main" noGrp="1"/>
          </p:cNvSpPr>
          <p:nvPr/>
        </p:nvSpPr>
        <p:spPr>
          <a:xfrm xmlns:a="http://schemas.openxmlformats.org/drawingml/2006/main">
            <a:off x="609600" y="47625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Presidenta: Dra. Blanca Rosa Briseño Tepepa</a:t>
            </a:r>
          </a:p>
        </p:txBody>
      </p:sp>
      <p:sp>
        <p:nvSpPr>
          <p:cNvPr id="8" name="">
            <a:extLst xmlns:a="http://schemas.openxmlformats.org/drawingml/2006/main">
              <a:ext uri="{FF2B5EF4-FFF2-40B4-BE49-F238E27FC236}">
                <a16:creationId xmlns:a16="http://schemas.microsoft.com/office/drawing/2014/main" id="{4BF9A016-EB70-4F45-9EE2-2031D8D15C96}"/>
              </a:ext>
            </a:extLst>
          </p:cNvPr>
          <p:cNvSpPr>
            <a:spLocks xmlns:a="http://schemas.openxmlformats.org/drawingml/2006/main" noGrp="1"/>
          </p:cNvSpPr>
          <p:nvPr/>
        </p:nvSpPr>
        <p:spPr>
          <a:xfrm xmlns:a="http://schemas.openxmlformats.org/drawingml/2006/main">
            <a:off x="609600" y="52197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Secretaria: M. en C. Cecilia Fernández Nava</a:t>
            </a:r>
          </a:p>
        </p:txBody>
      </p:sp>
      <p:sp>
        <p:nvSpPr>
          <p:cNvPr id="9" name="">
            <a:extLst xmlns:a="http://schemas.openxmlformats.org/drawingml/2006/main">
              <a:ext uri="{FF2B5EF4-FFF2-40B4-BE49-F238E27FC236}">
                <a16:creationId xmlns:a16="http://schemas.microsoft.com/office/drawing/2014/main" id="{1F455B19-A28A-4514-B92B-BD552123FEBF}"/>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B9D8D3"/>
                </a:solidFill>
                <a:latin typeface="Lato"/>
                <a:ea typeface="Lato"/>
                <a:cs typeface="Lato"/>
              </a:defRPr>
            </a:defPPr>
          </a:lstStyle>
          <a:p xmlns:a="http://schemas.openxmlformats.org/drawingml/2006/main">
            <a:pPr algn="r">
              <a:defRPr sz="1350" b="0">
                <a:solidFill>
                  <a:srgbClr val="B9D8D3"/>
                </a:solidFill>
                <a:latin typeface="Lato"/>
                <a:ea typeface="Lato"/>
                <a:cs typeface="Lato"/>
              </a:defRPr>
            </a:pPr>
            <a:r>
              <a:rPr sz="1350" b="0">
                <a:solidFill>
                  <a:srgbClr val="B9D8D3"/>
                </a:solidFill>
                <a:latin typeface="Lato"/>
                <a:ea typeface="Lato"/>
                <a:cs typeface="Lato"/>
              </a:rPr>
              <a:t>01</a:t>
            </a:r>
          </a:p>
        </p:txBody>
      </p:sp>
    </p:spTree>
    <p:extLst>
      <p:ext uri="{BB962C8B-B14F-4D97-AF65-F5344CB8AC3E}">
        <p14:creationId xmlns:p14="http://schemas.microsoft.com/office/powerpoint/2010/main" val="18171465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B62907C-D0FB-445D-9FE9-BF2E8AC5416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ED3337-883A-4C6D-98AD-A14AF5943272}"/>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CONTENIDO</a:t>
            </a:r>
          </a:p>
        </p:txBody>
      </p:sp>
      <p:sp>
        <p:nvSpPr>
          <p:cNvPr id="3" name="">
            <a:extLst xmlns:a="http://schemas.openxmlformats.org/drawingml/2006/main">
              <a:ext uri="{FF2B5EF4-FFF2-40B4-BE49-F238E27FC236}">
                <a16:creationId xmlns:a16="http://schemas.microsoft.com/office/drawing/2014/main" id="{8D6F8717-3AC2-468A-8DFE-391F0D55DA4C}"/>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Índice</a:t>
            </a:r>
          </a:p>
        </p:txBody>
      </p:sp>
      <p:sp>
        <p:nvSpPr>
          <p:cNvPr id="4" name="">
            <a:extLst xmlns:a="http://schemas.openxmlformats.org/drawingml/2006/main">
              <a:ext uri="{FF2B5EF4-FFF2-40B4-BE49-F238E27FC236}">
                <a16:creationId xmlns:a16="http://schemas.microsoft.com/office/drawing/2014/main" id="{17F18775-E487-4C35-BDC8-B7DAA0B8307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1DB15AA-BB9E-49C6-BAEE-52FC12C3A4E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E4A84B9F-E34C-499C-90B4-0773AD5EAB9E}"/>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02</a:t>
            </a:r>
          </a:p>
        </p:txBody>
      </p:sp>
      <p:sp>
        <p:nvSpPr>
          <p:cNvPr id="7" name="">
            <a:extLst xmlns:a="http://schemas.openxmlformats.org/drawingml/2006/main">
              <a:ext uri="{FF2B5EF4-FFF2-40B4-BE49-F238E27FC236}">
                <a16:creationId xmlns:a16="http://schemas.microsoft.com/office/drawing/2014/main" id="{D44689A8-20AD-4009-8AD0-50CFF182FBCC}"/>
              </a:ext>
            </a:extLst>
          </p:cNvPr>
          <p:cNvSpPr>
            <a:spLocks xmlns:a="http://schemas.openxmlformats.org/drawingml/2006/main" noGrp="1"/>
          </p:cNvSpPr>
          <p:nvPr/>
        </p:nvSpPr>
        <p:spPr>
          <a:xfrm xmlns:a="http://schemas.openxmlformats.org/drawingml/2006/main">
            <a:off x="762000" y="18288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36975C7D-9236-407B-8EF1-3CD909046717}"/>
              </a:ext>
            </a:extLst>
          </p:cNvPr>
          <p:cNvSpPr>
            <a:spLocks xmlns:a="http://schemas.openxmlformats.org/drawingml/2006/main" noGrp="1"/>
          </p:cNvSpPr>
          <p:nvPr/>
        </p:nvSpPr>
        <p:spPr>
          <a:xfrm xmlns:a="http://schemas.openxmlformats.org/drawingml/2006/main">
            <a:off x="1581150" y="18288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Descripción del problema y objetivos</a:t>
            </a:r>
          </a:p>
        </p:txBody>
      </p:sp>
      <p:sp>
        <p:nvSpPr>
          <p:cNvPr id="9" name="">
            <a:extLst xmlns:a="http://schemas.openxmlformats.org/drawingml/2006/main">
              <a:ext uri="{FF2B5EF4-FFF2-40B4-BE49-F238E27FC236}">
                <a16:creationId xmlns:a16="http://schemas.microsoft.com/office/drawing/2014/main" id="{C31257FB-E6FA-468E-A879-88978AD20708}"/>
              </a:ext>
            </a:extLst>
          </p:cNvPr>
          <p:cNvSpPr>
            <a:spLocks xmlns:a="http://schemas.openxmlformats.org/drawingml/2006/main" noGrp="1"/>
          </p:cNvSpPr>
          <p:nvPr/>
        </p:nvSpPr>
        <p:spPr>
          <a:xfrm xmlns:a="http://schemas.openxmlformats.org/drawingml/2006/main">
            <a:off x="762000" y="26670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4B8DF7F9-040A-44FD-89FC-B4F784DFAACD}"/>
              </a:ext>
            </a:extLst>
          </p:cNvPr>
          <p:cNvSpPr>
            <a:spLocks xmlns:a="http://schemas.openxmlformats.org/drawingml/2006/main" noGrp="1"/>
          </p:cNvSpPr>
          <p:nvPr/>
        </p:nvSpPr>
        <p:spPr>
          <a:xfrm xmlns:a="http://schemas.openxmlformats.org/drawingml/2006/main">
            <a:off x="1581150" y="26670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Marco teórico</a:t>
            </a:r>
          </a:p>
        </p:txBody>
      </p:sp>
      <p:sp>
        <p:nvSpPr>
          <p:cNvPr id="11" name="">
            <a:extLst xmlns:a="http://schemas.openxmlformats.org/drawingml/2006/main">
              <a:ext uri="{FF2B5EF4-FFF2-40B4-BE49-F238E27FC236}">
                <a16:creationId xmlns:a16="http://schemas.microsoft.com/office/drawing/2014/main" id="{8DC3AF92-EBFC-46A4-8CA7-EF5BA7D3E248}"/>
              </a:ext>
            </a:extLst>
          </p:cNvPr>
          <p:cNvSpPr>
            <a:spLocks xmlns:a="http://schemas.openxmlformats.org/drawingml/2006/main" noGrp="1"/>
          </p:cNvSpPr>
          <p:nvPr/>
        </p:nvSpPr>
        <p:spPr>
          <a:xfrm xmlns:a="http://schemas.openxmlformats.org/drawingml/2006/main">
            <a:off x="762000" y="35052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1239E032-AB31-4705-9D26-1B532F561E64}"/>
              </a:ext>
            </a:extLst>
          </p:cNvPr>
          <p:cNvSpPr>
            <a:spLocks xmlns:a="http://schemas.openxmlformats.org/drawingml/2006/main" noGrp="1"/>
          </p:cNvSpPr>
          <p:nvPr/>
        </p:nvSpPr>
        <p:spPr>
          <a:xfrm xmlns:a="http://schemas.openxmlformats.org/drawingml/2006/main">
            <a:off x="1581150" y="35052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Diseño e implementación</a:t>
            </a:r>
          </a:p>
        </p:txBody>
      </p:sp>
      <p:sp>
        <p:nvSpPr>
          <p:cNvPr id="13" name="">
            <a:extLst xmlns:a="http://schemas.openxmlformats.org/drawingml/2006/main">
              <a:ext uri="{FF2B5EF4-FFF2-40B4-BE49-F238E27FC236}">
                <a16:creationId xmlns:a16="http://schemas.microsoft.com/office/drawing/2014/main" id="{779EA233-B8A3-4BC4-A1A9-7F40FEF1886B}"/>
              </a:ext>
            </a:extLst>
          </p:cNvPr>
          <p:cNvSpPr>
            <a:spLocks xmlns:a="http://schemas.openxmlformats.org/drawingml/2006/main" noGrp="1"/>
          </p:cNvSpPr>
          <p:nvPr/>
        </p:nvSpPr>
        <p:spPr>
          <a:xfrm xmlns:a="http://schemas.openxmlformats.org/drawingml/2006/main">
            <a:off x="762000" y="4343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5F96CF12-2E51-454C-81C4-6F20F472CA0D}"/>
              </a:ext>
            </a:extLst>
          </p:cNvPr>
          <p:cNvSpPr>
            <a:spLocks xmlns:a="http://schemas.openxmlformats.org/drawingml/2006/main" noGrp="1"/>
          </p:cNvSpPr>
          <p:nvPr/>
        </p:nvSpPr>
        <p:spPr>
          <a:xfrm xmlns:a="http://schemas.openxmlformats.org/drawingml/2006/main">
            <a:off x="1581150" y="43434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Evaluación y resultados</a:t>
            </a:r>
          </a:p>
        </p:txBody>
      </p:sp>
      <p:sp>
        <p:nvSpPr>
          <p:cNvPr id="15" name="">
            <a:extLst xmlns:a="http://schemas.openxmlformats.org/drawingml/2006/main">
              <a:ext uri="{FF2B5EF4-FFF2-40B4-BE49-F238E27FC236}">
                <a16:creationId xmlns:a16="http://schemas.microsoft.com/office/drawing/2014/main" id="{9B17096E-58E8-4872-B0E1-F3041BAA5903}"/>
              </a:ext>
            </a:extLst>
          </p:cNvPr>
          <p:cNvSpPr>
            <a:spLocks xmlns:a="http://schemas.openxmlformats.org/drawingml/2006/main" noGrp="1"/>
          </p:cNvSpPr>
          <p:nvPr/>
        </p:nvSpPr>
        <p:spPr>
          <a:xfrm xmlns:a="http://schemas.openxmlformats.org/drawingml/2006/main">
            <a:off x="762000" y="5181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05</a:t>
            </a:r>
          </a:p>
        </p:txBody>
      </p:sp>
      <p:sp>
        <p:nvSpPr>
          <p:cNvPr id="16" name="">
            <a:extLst xmlns:a="http://schemas.openxmlformats.org/drawingml/2006/main">
              <a:ext uri="{FF2B5EF4-FFF2-40B4-BE49-F238E27FC236}">
                <a16:creationId xmlns:a16="http://schemas.microsoft.com/office/drawing/2014/main" id="{467046EC-AD3C-486C-81BD-A493C635B4B1}"/>
              </a:ext>
            </a:extLst>
          </p:cNvPr>
          <p:cNvSpPr>
            <a:spLocks xmlns:a="http://schemas.openxmlformats.org/drawingml/2006/main" noGrp="1"/>
          </p:cNvSpPr>
          <p:nvPr/>
        </p:nvSpPr>
        <p:spPr>
          <a:xfrm xmlns:a="http://schemas.openxmlformats.org/drawingml/2006/main">
            <a:off x="1581150" y="51816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Conclusiones y referencias</a:t>
            </a:r>
          </a:p>
        </p:txBody>
      </p:sp>
    </p:spTree>
    <p:extLst>
      <p:ext uri="{BB962C8B-B14F-4D97-AF65-F5344CB8AC3E}">
        <p14:creationId xmlns:p14="http://schemas.microsoft.com/office/powerpoint/2010/main" val="2180485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54B1455-ED7F-4DC1-8A4E-6D8448A8612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483F0E0-2E39-42D7-B611-BA3BD33A291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PROBLEMA Y ALCANCE</a:t>
            </a:r>
          </a:p>
        </p:txBody>
      </p:sp>
      <p:sp>
        <p:nvSpPr>
          <p:cNvPr id="3" name="">
            <a:extLst xmlns:a="http://schemas.openxmlformats.org/drawingml/2006/main">
              <a:ext uri="{FF2B5EF4-FFF2-40B4-BE49-F238E27FC236}">
                <a16:creationId xmlns:a16="http://schemas.microsoft.com/office/drawing/2014/main" id="{15355FF9-707A-4035-AF5F-EA18773B4E2F}"/>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Descripción del problema</a:t>
            </a:r>
          </a:p>
        </p:txBody>
      </p:sp>
      <p:sp>
        <p:nvSpPr>
          <p:cNvPr id="4" name="">
            <a:extLst xmlns:a="http://schemas.openxmlformats.org/drawingml/2006/main">
              <a:ext uri="{FF2B5EF4-FFF2-40B4-BE49-F238E27FC236}">
                <a16:creationId xmlns:a16="http://schemas.microsoft.com/office/drawing/2014/main" id="{8ACAFE34-F2F6-4B16-8700-44146DCC19A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FBFFD10-1F14-4D50-AF34-47BF3ACE05AF}"/>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motivación y alcance del reporte TT1 [1]</a:t>
            </a:r>
          </a:p>
        </p:txBody>
      </p:sp>
      <p:sp>
        <p:nvSpPr>
          <p:cNvPr id="6" name="">
            <a:extLst xmlns:a="http://schemas.openxmlformats.org/drawingml/2006/main">
              <a:ext uri="{FF2B5EF4-FFF2-40B4-BE49-F238E27FC236}">
                <a16:creationId xmlns:a16="http://schemas.microsoft.com/office/drawing/2014/main" id="{B4570D5B-50DD-4D48-A13B-2C221B09C194}"/>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03</a:t>
            </a:r>
          </a:p>
        </p:txBody>
      </p:sp>
      <p:sp>
        <p:nvSpPr>
          <p:cNvPr id="7" name="">
            <a:extLst xmlns:a="http://schemas.openxmlformats.org/drawingml/2006/main">
              <a:ext uri="{FF2B5EF4-FFF2-40B4-BE49-F238E27FC236}">
                <a16:creationId xmlns:a16="http://schemas.microsoft.com/office/drawing/2014/main" id="{BAEA70DD-F465-448F-BEED-9D87AEE39F7C}"/>
              </a:ext>
            </a:extLst>
          </p:cNvPr>
          <p:cNvSpPr>
            <a:spLocks xmlns:a="http://schemas.openxmlformats.org/drawingml/2006/main" noGrp="1"/>
          </p:cNvSpPr>
          <p:nvPr/>
        </p:nvSpPr>
        <p:spPr>
          <a:xfrm xmlns:a="http://schemas.openxmlformats.org/drawingml/2006/main">
            <a:off x="762000" y="1847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FCFACB58-9A5E-4743-87D8-E746B523528D}"/>
              </a:ext>
            </a:extLst>
          </p:cNvPr>
          <p:cNvSpPr>
            <a:spLocks xmlns:a="http://schemas.openxmlformats.org/drawingml/2006/main" noGrp="1"/>
          </p:cNvSpPr>
          <p:nvPr/>
        </p:nvSpPr>
        <p:spPr>
          <a:xfrm xmlns:a="http://schemas.openxmlformats.org/drawingml/2006/main">
            <a:off x="1581150" y="184785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creciente complejidad de las tareas robóticas motiva investigar diferentes métodos de control.</a:t>
            </a:r>
          </a:p>
        </p:txBody>
      </p:sp>
      <p:sp>
        <p:nvSpPr>
          <p:cNvPr id="9" name="">
            <a:extLst xmlns:a="http://schemas.openxmlformats.org/drawingml/2006/main">
              <a:ext uri="{FF2B5EF4-FFF2-40B4-BE49-F238E27FC236}">
                <a16:creationId xmlns:a16="http://schemas.microsoft.com/office/drawing/2014/main" id="{91A9659A-4FFB-459E-ADFF-DDCDF9EA7ADB}"/>
              </a:ext>
            </a:extLst>
          </p:cNvPr>
          <p:cNvSpPr>
            <a:spLocks xmlns:a="http://schemas.openxmlformats.org/drawingml/2006/main" noGrp="1"/>
          </p:cNvSpPr>
          <p:nvPr/>
        </p:nvSpPr>
        <p:spPr>
          <a:xfrm xmlns:a="http://schemas.openxmlformats.org/drawingml/2006/main">
            <a:off x="762000" y="29432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9F64FA09-A8ED-43A0-BEA7-C28F716FF391}"/>
              </a:ext>
            </a:extLst>
          </p:cNvPr>
          <p:cNvSpPr>
            <a:spLocks xmlns:a="http://schemas.openxmlformats.org/drawingml/2006/main" noGrp="1"/>
          </p:cNvSpPr>
          <p:nvPr/>
        </p:nvSpPr>
        <p:spPr>
          <a:xfrm xmlns:a="http://schemas.openxmlformats.org/drawingml/2006/main">
            <a:off x="1581150" y="294322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inferencia neuronal requiere cómputo y transferencias entre memoria y procesador, asociadas al cuello de botella de Von Neumann.</a:t>
            </a:r>
          </a:p>
        </p:txBody>
      </p:sp>
      <p:sp>
        <p:nvSpPr>
          <p:cNvPr id="11" name="">
            <a:extLst xmlns:a="http://schemas.openxmlformats.org/drawingml/2006/main">
              <a:ext uri="{FF2B5EF4-FFF2-40B4-BE49-F238E27FC236}">
                <a16:creationId xmlns:a16="http://schemas.microsoft.com/office/drawing/2014/main" id="{38FA1B41-DF18-4DC2-971D-C56B5E97CFCC}"/>
              </a:ext>
            </a:extLst>
          </p:cNvPr>
          <p:cNvSpPr>
            <a:spLocks xmlns:a="http://schemas.openxmlformats.org/drawingml/2006/main" noGrp="1"/>
          </p:cNvSpPr>
          <p:nvPr/>
        </p:nvSpPr>
        <p:spPr>
          <a:xfrm xmlns:a="http://schemas.openxmlformats.org/drawingml/2006/main">
            <a:off x="762000" y="4038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7D4EF503-B720-41B9-B2F0-D44AE88B6883}"/>
              </a:ext>
            </a:extLst>
          </p:cNvPr>
          <p:cNvSpPr>
            <a:spLocks xmlns:a="http://schemas.openxmlformats.org/drawingml/2006/main" noGrp="1"/>
          </p:cNvSpPr>
          <p:nvPr/>
        </p:nvSpPr>
        <p:spPr>
          <a:xfrm xmlns:a="http://schemas.openxmlformats.org/drawingml/2006/main">
            <a:off x="1581150" y="403860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En plataformas con recursos restringidos, especialmente sistemas móviles alimentados por baterías, el presupuesto de cómputo y energía es limitado.</a:t>
            </a:r>
          </a:p>
        </p:txBody>
      </p:sp>
      <p:sp>
        <p:nvSpPr>
          <p:cNvPr id="13" name="">
            <a:extLst xmlns:a="http://schemas.openxmlformats.org/drawingml/2006/main">
              <a:ext uri="{FF2B5EF4-FFF2-40B4-BE49-F238E27FC236}">
                <a16:creationId xmlns:a16="http://schemas.microsoft.com/office/drawing/2014/main" id="{97B78E12-E4C9-4D16-83AA-1F9210B385D4}"/>
              </a:ext>
            </a:extLst>
          </p:cNvPr>
          <p:cNvSpPr>
            <a:spLocks xmlns:a="http://schemas.openxmlformats.org/drawingml/2006/main" noGrp="1"/>
          </p:cNvSpPr>
          <p:nvPr/>
        </p:nvSpPr>
        <p:spPr>
          <a:xfrm xmlns:a="http://schemas.openxmlformats.org/drawingml/2006/main">
            <a:off x="762000" y="51339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9062EB91-C975-4266-9694-D06F26F3470B}"/>
              </a:ext>
            </a:extLst>
          </p:cNvPr>
          <p:cNvSpPr>
            <a:spLocks xmlns:a="http://schemas.openxmlformats.org/drawingml/2006/main" noGrp="1"/>
          </p:cNvSpPr>
          <p:nvPr/>
        </p:nvSpPr>
        <p:spPr>
          <a:xfrm xmlns:a="http://schemas.openxmlformats.org/drawingml/2006/main">
            <a:off x="1581150" y="513397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Se estudia la cuantización para reducir los recursos utilizados y evaluar su efecto sobre la precisión del control.</a:t>
            </a:r>
          </a:p>
        </p:txBody>
      </p:sp>
    </p:spTree>
    <p:extLst>
      <p:ext uri="{BB962C8B-B14F-4D97-AF65-F5344CB8AC3E}">
        <p14:creationId xmlns:p14="http://schemas.microsoft.com/office/powerpoint/2010/main" val="17975099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2854EA3-33C0-46D7-8894-5E2346F4A20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413E81-A479-481C-AEAC-0C1C505790E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2B7F0A51-00A0-4B35-AD49-9FC14CE8C538}"/>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 general</a:t>
            </a:r>
          </a:p>
        </p:txBody>
      </p:sp>
      <p:sp>
        <p:nvSpPr>
          <p:cNvPr id="4" name="">
            <a:extLst xmlns:a="http://schemas.openxmlformats.org/drawingml/2006/main">
              <a:ext uri="{FF2B5EF4-FFF2-40B4-BE49-F238E27FC236}">
                <a16:creationId xmlns:a16="http://schemas.microsoft.com/office/drawing/2014/main" id="{7BD26CC7-CAA1-4CE8-AE84-8676B24E1C1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791FB67-2CCC-4E72-86B1-FB138EA5910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objetivo declarado en TT1 [1]</a:t>
            </a:r>
          </a:p>
        </p:txBody>
      </p:sp>
      <p:sp>
        <p:nvSpPr>
          <p:cNvPr id="6" name="">
            <a:extLst xmlns:a="http://schemas.openxmlformats.org/drawingml/2006/main">
              <a:ext uri="{FF2B5EF4-FFF2-40B4-BE49-F238E27FC236}">
                <a16:creationId xmlns:a16="http://schemas.microsoft.com/office/drawing/2014/main" id="{B34D0FC0-23A6-450E-ADFA-F2443DDAB8FC}"/>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04</a:t>
            </a:r>
          </a:p>
        </p:txBody>
      </p:sp>
      <p:sp>
        <p:nvSpPr>
          <p:cNvPr id="7" name="">
            <a:extLst xmlns:a="http://schemas.openxmlformats.org/drawingml/2006/main">
              <a:ext uri="{FF2B5EF4-FFF2-40B4-BE49-F238E27FC236}">
                <a16:creationId xmlns:a16="http://schemas.microsoft.com/office/drawing/2014/main" id="{16327E39-8977-4191-A35B-5D7E54CAE538}"/>
              </a:ext>
            </a:extLst>
          </p:cNvPr>
          <p:cNvSpPr>
            <a:spLocks xmlns:a="http://schemas.openxmlformats.org/drawingml/2006/main" noGrp="1"/>
          </p:cNvSpPr>
          <p:nvPr/>
        </p:nvSpPr>
        <p:spPr>
          <a:xfrm xmlns:a="http://schemas.openxmlformats.org/drawingml/2006/main">
            <a:off x="809625" y="2124075"/>
            <a:ext cx="1047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0">
                <a:solidFill>
                  <a:srgbClr val="263445"/>
                </a:solidFill>
                <a:latin typeface="Lato"/>
                <a:ea typeface="Lato"/>
                <a:cs typeface="Lato"/>
              </a:defRPr>
            </a:defPPr>
          </a:lstStyle>
          <a:p xmlns:a="http://schemas.openxmlformats.org/drawingml/2006/main">
            <a:pPr algn="l">
              <a:defRPr sz="2700" b="0">
                <a:solidFill>
                  <a:srgbClr val="263445"/>
                </a:solidFill>
                <a:latin typeface="Lato"/>
                <a:ea typeface="Lato"/>
                <a:cs typeface="Lato"/>
              </a:defRPr>
            </a:pPr>
            <a:r>
              <a:rPr sz="2700" b="0">
                <a:solidFill>
                  <a:srgbClr val="263445"/>
                </a:solidFill>
                <a:latin typeface="Lato"/>
                <a:ea typeface="Lato"/>
                <a:cs typeface="Lato"/>
              </a:rPr>
              <a:t>Evaluar el desempeño energético, de precisión y de recursos utilizados en la implementación de un control de lazo cerrado con una planta robótica con control tradicional y con una red neuronal cuantizada.</a:t>
            </a:r>
          </a:p>
        </p:txBody>
      </p:sp>
      <p:sp>
        <p:nvSpPr>
          <p:cNvPr id="8" name="">
            <a:extLst xmlns:a="http://schemas.openxmlformats.org/drawingml/2006/main">
              <a:ext uri="{FF2B5EF4-FFF2-40B4-BE49-F238E27FC236}">
                <a16:creationId xmlns:a16="http://schemas.microsoft.com/office/drawing/2014/main" id="{7408B971-4CFF-4491-B586-C654C3428EB4}"/>
              </a:ext>
            </a:extLst>
          </p:cNvPr>
          <p:cNvSpPr>
            <a:spLocks xmlns:a="http://schemas.openxmlformats.org/drawingml/2006/main" noGrp="1"/>
          </p:cNvSpPr>
          <p:nvPr/>
        </p:nvSpPr>
        <p:spPr>
          <a:xfrm xmlns:a="http://schemas.openxmlformats.org/drawingml/2006/main">
            <a:off x="819150" y="5124450"/>
            <a:ext cx="10477500" cy="28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52F7859-8FED-4B88-AC19-51B5BFAD523A}"/>
              </a:ext>
            </a:extLst>
          </p:cNvPr>
          <p:cNvSpPr>
            <a:spLocks xmlns:a="http://schemas.openxmlformats.org/drawingml/2006/main" noGrp="1"/>
          </p:cNvSpPr>
          <p:nvPr/>
        </p:nvSpPr>
        <p:spPr>
          <a:xfrm xmlns:a="http://schemas.openxmlformats.org/drawingml/2006/main">
            <a:off x="819150" y="5353050"/>
            <a:ext cx="1047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526173"/>
                </a:solidFill>
                <a:latin typeface="Lato"/>
                <a:ea typeface="Lato"/>
                <a:cs typeface="Lato"/>
              </a:defRPr>
            </a:defPPr>
          </a:lstStyle>
          <a:p xmlns:a="http://schemas.openxmlformats.org/drawingml/2006/main">
            <a:pPr algn="l">
              <a:defRPr sz="1875" b="0">
                <a:solidFill>
                  <a:srgbClr val="526173"/>
                </a:solidFill>
                <a:latin typeface="Lato"/>
                <a:ea typeface="Lato"/>
                <a:cs typeface="Lato"/>
              </a:defRPr>
            </a:pPr>
            <a:r>
              <a:rPr sz="1875" b="0">
                <a:solidFill>
                  <a:srgbClr val="526173"/>
                </a:solidFill>
                <a:latin typeface="Lato"/>
                <a:ea typeface="Lato"/>
                <a:cs typeface="Lato"/>
              </a:rPr>
              <a:t>Alcance evaluado en TT1: seguimiento, tamaño del archivo y latencia de inferencia en simulación.</a:t>
            </a:r>
          </a:p>
        </p:txBody>
      </p:sp>
    </p:spTree>
    <p:extLst>
      <p:ext uri="{BB962C8B-B14F-4D97-AF65-F5344CB8AC3E}">
        <p14:creationId xmlns:p14="http://schemas.microsoft.com/office/powerpoint/2010/main" val="21238656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EA38A93-55BD-4CDF-AD40-53C1761D264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267CBA-90F5-43D6-8E6E-7296C5E0B45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BA09BE2C-F6AD-440A-AB38-FC16E955B35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Objetivos específicos a cumplir en TT1</a:t>
            </a:r>
          </a:p>
        </p:txBody>
      </p:sp>
      <p:sp>
        <p:nvSpPr>
          <p:cNvPr id="4" name="">
            <a:extLst xmlns:a="http://schemas.openxmlformats.org/drawingml/2006/main">
              <a:ext uri="{FF2B5EF4-FFF2-40B4-BE49-F238E27FC236}">
                <a16:creationId xmlns:a16="http://schemas.microsoft.com/office/drawing/2014/main" id="{30189EC5-45A9-4508-934F-29B8A351781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90DFBDC-2C99-4EC9-864C-09EF9739E6D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Síntesis de objetivos declarados en TT1 [1]</a:t>
            </a:r>
          </a:p>
        </p:txBody>
      </p:sp>
      <p:sp>
        <p:nvSpPr>
          <p:cNvPr id="6" name="">
            <a:extLst xmlns:a="http://schemas.openxmlformats.org/drawingml/2006/main">
              <a:ext uri="{FF2B5EF4-FFF2-40B4-BE49-F238E27FC236}">
                <a16:creationId xmlns:a16="http://schemas.microsoft.com/office/drawing/2014/main" id="{E5A06816-01C3-4881-B830-D7E8054DF61C}"/>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05</a:t>
            </a:r>
          </a:p>
        </p:txBody>
      </p:sp>
      <p:sp>
        <p:nvSpPr>
          <p:cNvPr id="7" name="">
            <a:extLst xmlns:a="http://schemas.openxmlformats.org/drawingml/2006/main">
              <a:ext uri="{FF2B5EF4-FFF2-40B4-BE49-F238E27FC236}">
                <a16:creationId xmlns:a16="http://schemas.microsoft.com/office/drawing/2014/main" id="{AC5C5DF9-5967-422F-851C-40A475AB966F}"/>
              </a:ext>
            </a:extLst>
          </p:cNvPr>
          <p:cNvSpPr>
            <a:spLocks xmlns:a="http://schemas.openxmlformats.org/drawingml/2006/main" noGrp="1"/>
          </p:cNvSpPr>
          <p:nvPr/>
        </p:nvSpPr>
        <p:spPr>
          <a:xfrm xmlns:a="http://schemas.openxmlformats.org/drawingml/2006/main">
            <a:off x="762000" y="19240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EA7FD821-B68D-4760-BB4A-7F97E9452C2A}"/>
              </a:ext>
            </a:extLst>
          </p:cNvPr>
          <p:cNvSpPr>
            <a:spLocks xmlns:a="http://schemas.openxmlformats.org/drawingml/2006/main" noGrp="1"/>
          </p:cNvSpPr>
          <p:nvPr/>
        </p:nvSpPr>
        <p:spPr>
          <a:xfrm xmlns:a="http://schemas.openxmlformats.org/drawingml/2006/main">
            <a:off x="1581150" y="19240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Investigar redes cuantizadas y metodologías de evaluación.</a:t>
            </a:r>
          </a:p>
        </p:txBody>
      </p:sp>
      <p:sp>
        <p:nvSpPr>
          <p:cNvPr id="9" name="">
            <a:extLst xmlns:a="http://schemas.openxmlformats.org/drawingml/2006/main">
              <a:ext uri="{FF2B5EF4-FFF2-40B4-BE49-F238E27FC236}">
                <a16:creationId xmlns:a16="http://schemas.microsoft.com/office/drawing/2014/main" id="{2586F7C9-C1C1-4E06-99FB-FDD0F583F74A}"/>
              </a:ext>
            </a:extLst>
          </p:cNvPr>
          <p:cNvSpPr>
            <a:spLocks xmlns:a="http://schemas.openxmlformats.org/drawingml/2006/main" noGrp="1"/>
          </p:cNvSpPr>
          <p:nvPr/>
        </p:nvSpPr>
        <p:spPr>
          <a:xfrm xmlns:a="http://schemas.openxmlformats.org/drawingml/2006/main">
            <a:off x="762000" y="29146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E3B09D16-3902-4F05-BFBD-38DB3519952A}"/>
              </a:ext>
            </a:extLst>
          </p:cNvPr>
          <p:cNvSpPr>
            <a:spLocks xmlns:a="http://schemas.openxmlformats.org/drawingml/2006/main" noGrp="1"/>
          </p:cNvSpPr>
          <p:nvPr/>
        </p:nvSpPr>
        <p:spPr>
          <a:xfrm xmlns:a="http://schemas.openxmlformats.org/drawingml/2006/main">
            <a:off x="1581150" y="29146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Definir la arquitectura y diseñar el controlador neuronal base.</a:t>
            </a:r>
          </a:p>
        </p:txBody>
      </p:sp>
      <p:sp>
        <p:nvSpPr>
          <p:cNvPr id="11" name="">
            <a:extLst xmlns:a="http://schemas.openxmlformats.org/drawingml/2006/main">
              <a:ext uri="{FF2B5EF4-FFF2-40B4-BE49-F238E27FC236}">
                <a16:creationId xmlns:a16="http://schemas.microsoft.com/office/drawing/2014/main" id="{BF0088C1-90A0-4CDD-9A37-9E553DA402E5}"/>
              </a:ext>
            </a:extLst>
          </p:cNvPr>
          <p:cNvSpPr>
            <a:spLocks xmlns:a="http://schemas.openxmlformats.org/drawingml/2006/main" noGrp="1"/>
          </p:cNvSpPr>
          <p:nvPr/>
        </p:nvSpPr>
        <p:spPr>
          <a:xfrm xmlns:a="http://schemas.openxmlformats.org/drawingml/2006/main">
            <a:off x="762000" y="39052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A33A28E3-0E07-4EE8-AB07-36E5CCC0F973}"/>
              </a:ext>
            </a:extLst>
          </p:cNvPr>
          <p:cNvSpPr>
            <a:spLocks xmlns:a="http://schemas.openxmlformats.org/drawingml/2006/main" noGrp="1"/>
          </p:cNvSpPr>
          <p:nvPr/>
        </p:nvSpPr>
        <p:spPr>
          <a:xfrm xmlns:a="http://schemas.openxmlformats.org/drawingml/2006/main">
            <a:off x="1581150" y="39052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Establecer la metodología de cuantización y comparación.</a:t>
            </a:r>
          </a:p>
        </p:txBody>
      </p:sp>
      <p:sp>
        <p:nvSpPr>
          <p:cNvPr id="13" name="">
            <a:extLst xmlns:a="http://schemas.openxmlformats.org/drawingml/2006/main">
              <a:ext uri="{FF2B5EF4-FFF2-40B4-BE49-F238E27FC236}">
                <a16:creationId xmlns:a16="http://schemas.microsoft.com/office/drawing/2014/main" id="{50DBD36B-FA4F-4A24-ABDB-EEA8E154F03B}"/>
              </a:ext>
            </a:extLst>
          </p:cNvPr>
          <p:cNvSpPr>
            <a:spLocks xmlns:a="http://schemas.openxmlformats.org/drawingml/2006/main" noGrp="1"/>
          </p:cNvSpPr>
          <p:nvPr/>
        </p:nvSpPr>
        <p:spPr>
          <a:xfrm xmlns:a="http://schemas.openxmlformats.org/drawingml/2006/main">
            <a:off x="762000" y="4895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30374464-D23A-41BA-928C-8DBE22AB463C}"/>
              </a:ext>
            </a:extLst>
          </p:cNvPr>
          <p:cNvSpPr>
            <a:spLocks xmlns:a="http://schemas.openxmlformats.org/drawingml/2006/main" noGrp="1"/>
          </p:cNvSpPr>
          <p:nvPr/>
        </p:nvSpPr>
        <p:spPr>
          <a:xfrm xmlns:a="http://schemas.openxmlformats.org/drawingml/2006/main">
            <a:off x="1581150" y="48958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Diseñar el plan experimental y poner en marcha la plataforma.</a:t>
            </a:r>
          </a:p>
        </p:txBody>
      </p:sp>
    </p:spTree>
    <p:extLst>
      <p:ext uri="{BB962C8B-B14F-4D97-AF65-F5344CB8AC3E}">
        <p14:creationId xmlns:p14="http://schemas.microsoft.com/office/powerpoint/2010/main" val="7189886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FB3CC45-0EAF-4C5F-8704-DD3BA50B612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C705E2-D301-4C54-9DBD-10C97FB6EE87}"/>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2CE33D8E-8258-4821-B7D1-E7E9B9AD8EC7}"/>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FP32 e INT8</a:t>
            </a:r>
          </a:p>
        </p:txBody>
      </p:sp>
      <p:sp>
        <p:nvSpPr>
          <p:cNvPr id="4" name="">
            <a:extLst xmlns:a="http://schemas.openxmlformats.org/drawingml/2006/main">
              <a:ext uri="{FF2B5EF4-FFF2-40B4-BE49-F238E27FC236}">
                <a16:creationId xmlns:a16="http://schemas.microsoft.com/office/drawing/2014/main" id="{1506B1E7-2288-4A03-850E-F83320922BB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ACB3C44-EF82-46D1-BB05-85B8BD4111AC}"/>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IEEE 754 [2]; cuantización ONNX Runtime [3]</a:t>
            </a:r>
          </a:p>
        </p:txBody>
      </p:sp>
      <p:sp>
        <p:nvSpPr>
          <p:cNvPr id="6" name="">
            <a:extLst xmlns:a="http://schemas.openxmlformats.org/drawingml/2006/main">
              <a:ext uri="{FF2B5EF4-FFF2-40B4-BE49-F238E27FC236}">
                <a16:creationId xmlns:a16="http://schemas.microsoft.com/office/drawing/2014/main" id="{CCC93E5C-3F4B-4A6B-B63E-B827503E0E47}"/>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06</a:t>
            </a:r>
          </a:p>
        </p:txBody>
      </p:sp>
      <p:sp>
        <p:nvSpPr>
          <p:cNvPr id="7" name="">
            <a:extLst xmlns:a="http://schemas.openxmlformats.org/drawingml/2006/main">
              <a:ext uri="{FF2B5EF4-FFF2-40B4-BE49-F238E27FC236}">
                <a16:creationId xmlns:a16="http://schemas.microsoft.com/office/drawing/2014/main" id="{9A2EFB11-BCFF-4F35-B7CD-C5383445264E}"/>
              </a:ext>
            </a:extLst>
          </p:cNvPr>
          <p:cNvSpPr>
            <a:spLocks xmlns:a="http://schemas.openxmlformats.org/drawingml/2006/main" noGrp="1"/>
          </p:cNvSpPr>
          <p:nvPr/>
        </p:nvSpPr>
        <p:spPr>
          <a:xfrm xmlns:a="http://schemas.openxmlformats.org/drawingml/2006/main">
            <a:off x="762000" y="19431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FP32 · 32 bits por valor</a:t>
            </a:r>
          </a:p>
        </p:txBody>
      </p:sp>
      <p:sp>
        <p:nvSpPr>
          <p:cNvPr id="8" name="">
            <a:extLst xmlns:a="http://schemas.openxmlformats.org/drawingml/2006/main">
              <a:ext uri="{FF2B5EF4-FFF2-40B4-BE49-F238E27FC236}">
                <a16:creationId xmlns:a16="http://schemas.microsoft.com/office/drawing/2014/main" id="{F05DC6E8-BDD6-44EB-B669-4A9CE2A5E161}"/>
              </a:ext>
            </a:extLst>
          </p:cNvPr>
          <p:cNvSpPr>
            <a:spLocks xmlns:a="http://schemas.openxmlformats.org/drawingml/2006/main" noGrp="1"/>
          </p:cNvSpPr>
          <p:nvPr/>
        </p:nvSpPr>
        <p:spPr>
          <a:xfrm xmlns:a="http://schemas.openxmlformats.org/drawingml/2006/main">
            <a:off x="762000" y="2628900"/>
            <a:ext cx="1238250" cy="10668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5752C1-8D4F-4813-A5B8-C2E9C7A3B85B}"/>
              </a:ext>
            </a:extLst>
          </p:cNvPr>
          <p:cNvSpPr>
            <a:spLocks xmlns:a="http://schemas.openxmlformats.org/drawingml/2006/main" noGrp="1"/>
          </p:cNvSpPr>
          <p:nvPr/>
        </p:nvSpPr>
        <p:spPr>
          <a:xfrm xmlns:a="http://schemas.openxmlformats.org/drawingml/2006/main">
            <a:off x="838200" y="2790825"/>
            <a:ext cx="1085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Signo</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1 bit</a:t>
            </a:r>
          </a:p>
        </p:txBody>
      </p:sp>
      <p:sp>
        <p:nvSpPr>
          <p:cNvPr id="10" name="">
            <a:extLst xmlns:a="http://schemas.openxmlformats.org/drawingml/2006/main">
              <a:ext uri="{FF2B5EF4-FFF2-40B4-BE49-F238E27FC236}">
                <a16:creationId xmlns:a16="http://schemas.microsoft.com/office/drawing/2014/main" id="{C4F7575A-6546-4CE3-9DD0-A9A25FB9C9F9}"/>
              </a:ext>
            </a:extLst>
          </p:cNvPr>
          <p:cNvSpPr>
            <a:spLocks xmlns:a="http://schemas.openxmlformats.org/drawingml/2006/main" noGrp="1"/>
          </p:cNvSpPr>
          <p:nvPr/>
        </p:nvSpPr>
        <p:spPr>
          <a:xfrm xmlns:a="http://schemas.openxmlformats.org/drawingml/2006/main">
            <a:off x="2047875" y="2628900"/>
            <a:ext cx="1809750" cy="10668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135FF96-87C1-4221-8EBE-F607BE66F6F9}"/>
              </a:ext>
            </a:extLst>
          </p:cNvPr>
          <p:cNvSpPr>
            <a:spLocks xmlns:a="http://schemas.openxmlformats.org/drawingml/2006/main" noGrp="1"/>
          </p:cNvSpPr>
          <p:nvPr/>
        </p:nvSpPr>
        <p:spPr>
          <a:xfrm xmlns:a="http://schemas.openxmlformats.org/drawingml/2006/main">
            <a:off x="2124075" y="2790825"/>
            <a:ext cx="165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Exponente</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8 bits</a:t>
            </a:r>
          </a:p>
        </p:txBody>
      </p:sp>
      <p:sp>
        <p:nvSpPr>
          <p:cNvPr id="12" name="">
            <a:extLst xmlns:a="http://schemas.openxmlformats.org/drawingml/2006/main">
              <a:ext uri="{FF2B5EF4-FFF2-40B4-BE49-F238E27FC236}">
                <a16:creationId xmlns:a16="http://schemas.microsoft.com/office/drawing/2014/main" id="{3C9B30A4-14B3-4B22-948A-6EC91949FB7F}"/>
              </a:ext>
            </a:extLst>
          </p:cNvPr>
          <p:cNvSpPr>
            <a:spLocks xmlns:a="http://schemas.openxmlformats.org/drawingml/2006/main" noGrp="1"/>
          </p:cNvSpPr>
          <p:nvPr/>
        </p:nvSpPr>
        <p:spPr>
          <a:xfrm xmlns:a="http://schemas.openxmlformats.org/drawingml/2006/main">
            <a:off x="3905250" y="2628900"/>
            <a:ext cx="2190750" cy="1066800"/>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E6C6235-C527-4FF5-94B2-89771210FC47}"/>
              </a:ext>
            </a:extLst>
          </p:cNvPr>
          <p:cNvSpPr>
            <a:spLocks xmlns:a="http://schemas.openxmlformats.org/drawingml/2006/main" noGrp="1"/>
          </p:cNvSpPr>
          <p:nvPr/>
        </p:nvSpPr>
        <p:spPr>
          <a:xfrm xmlns:a="http://schemas.openxmlformats.org/drawingml/2006/main">
            <a:off x="3981450" y="2790825"/>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Fracción</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23 bits</a:t>
            </a:r>
          </a:p>
        </p:txBody>
      </p:sp>
      <p:sp>
        <p:nvSpPr>
          <p:cNvPr id="14" name="">
            <a:extLst xmlns:a="http://schemas.openxmlformats.org/drawingml/2006/main">
              <a:ext uri="{FF2B5EF4-FFF2-40B4-BE49-F238E27FC236}">
                <a16:creationId xmlns:a16="http://schemas.microsoft.com/office/drawing/2014/main" id="{6EEB5651-306D-4F62-9479-92B99A161EC7}"/>
              </a:ext>
            </a:extLst>
          </p:cNvPr>
          <p:cNvSpPr>
            <a:spLocks xmlns:a="http://schemas.openxmlformats.org/drawingml/2006/main" noGrp="1"/>
          </p:cNvSpPr>
          <p:nvPr/>
        </p:nvSpPr>
        <p:spPr>
          <a:xfrm xmlns:a="http://schemas.openxmlformats.org/drawingml/2006/main">
            <a:off x="6953250" y="19431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B45309"/>
                </a:solidFill>
                <a:latin typeface="Lato"/>
                <a:ea typeface="Lato"/>
                <a:cs typeface="Lato"/>
              </a:defRPr>
            </a:defPPr>
          </a:lstStyle>
          <a:p xmlns:a="http://schemas.openxmlformats.org/drawingml/2006/main">
            <a:pPr algn="l">
              <a:defRPr sz="2325" b="1">
                <a:solidFill>
                  <a:srgbClr val="B45309"/>
                </a:solidFill>
                <a:latin typeface="Lato"/>
                <a:ea typeface="Lato"/>
                <a:cs typeface="Lato"/>
              </a:defRPr>
            </a:pPr>
            <a:r>
              <a:rPr sz="2325" b="1">
                <a:solidFill>
                  <a:srgbClr val="B45309"/>
                </a:solidFill>
                <a:latin typeface="Lato"/>
                <a:ea typeface="Lato"/>
                <a:cs typeface="Lato"/>
              </a:rPr>
              <a:t>INT8 · 8 bits por valor</a:t>
            </a:r>
          </a:p>
        </p:txBody>
      </p:sp>
      <p:sp>
        <p:nvSpPr>
          <p:cNvPr id="15" name="">
            <a:extLst xmlns:a="http://schemas.openxmlformats.org/drawingml/2006/main">
              <a:ext uri="{FF2B5EF4-FFF2-40B4-BE49-F238E27FC236}">
                <a16:creationId xmlns:a16="http://schemas.microsoft.com/office/drawing/2014/main" id="{9A4341B2-310D-4D33-9BEF-A8865BCA47C2}"/>
              </a:ext>
            </a:extLst>
          </p:cNvPr>
          <p:cNvSpPr>
            <a:spLocks xmlns:a="http://schemas.openxmlformats.org/drawingml/2006/main" noGrp="1"/>
          </p:cNvSpPr>
          <p:nvPr/>
        </p:nvSpPr>
        <p:spPr>
          <a:xfrm xmlns:a="http://schemas.openxmlformats.org/drawingml/2006/main">
            <a:off x="7000875" y="2686050"/>
            <a:ext cx="457200" cy="6667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3C23E7C-74A3-4F1C-9588-41AF9FC4136F}"/>
              </a:ext>
            </a:extLst>
          </p:cNvPr>
          <p:cNvSpPr>
            <a:spLocks xmlns:a="http://schemas.openxmlformats.org/drawingml/2006/main" noGrp="1"/>
          </p:cNvSpPr>
          <p:nvPr/>
        </p:nvSpPr>
        <p:spPr>
          <a:xfrm xmlns:a="http://schemas.openxmlformats.org/drawingml/2006/main">
            <a:off x="70294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b7</a:t>
            </a:r>
          </a:p>
        </p:txBody>
      </p:sp>
      <p:sp>
        <p:nvSpPr>
          <p:cNvPr id="17" name="">
            <a:extLst xmlns:a="http://schemas.openxmlformats.org/drawingml/2006/main">
              <a:ext uri="{FF2B5EF4-FFF2-40B4-BE49-F238E27FC236}">
                <a16:creationId xmlns:a16="http://schemas.microsoft.com/office/drawing/2014/main" id="{5EC66C40-773E-426A-872D-552E943C1CF4}"/>
              </a:ext>
            </a:extLst>
          </p:cNvPr>
          <p:cNvSpPr>
            <a:spLocks xmlns:a="http://schemas.openxmlformats.org/drawingml/2006/main" noGrp="1"/>
          </p:cNvSpPr>
          <p:nvPr/>
        </p:nvSpPr>
        <p:spPr>
          <a:xfrm xmlns:a="http://schemas.openxmlformats.org/drawingml/2006/main">
            <a:off x="75057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21B0031-381A-440D-96ED-52246445EA6F}"/>
              </a:ext>
            </a:extLst>
          </p:cNvPr>
          <p:cNvSpPr>
            <a:spLocks xmlns:a="http://schemas.openxmlformats.org/drawingml/2006/main" noGrp="1"/>
          </p:cNvSpPr>
          <p:nvPr/>
        </p:nvSpPr>
        <p:spPr>
          <a:xfrm xmlns:a="http://schemas.openxmlformats.org/drawingml/2006/main">
            <a:off x="75342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b6</a:t>
            </a:r>
          </a:p>
        </p:txBody>
      </p:sp>
      <p:sp>
        <p:nvSpPr>
          <p:cNvPr id="19" name="">
            <a:extLst xmlns:a="http://schemas.openxmlformats.org/drawingml/2006/main">
              <a:ext uri="{FF2B5EF4-FFF2-40B4-BE49-F238E27FC236}">
                <a16:creationId xmlns:a16="http://schemas.microsoft.com/office/drawing/2014/main" id="{E2E697E2-97E3-467B-84E8-879B046B767E}"/>
              </a:ext>
            </a:extLst>
          </p:cNvPr>
          <p:cNvSpPr>
            <a:spLocks xmlns:a="http://schemas.openxmlformats.org/drawingml/2006/main" noGrp="1"/>
          </p:cNvSpPr>
          <p:nvPr/>
        </p:nvSpPr>
        <p:spPr>
          <a:xfrm xmlns:a="http://schemas.openxmlformats.org/drawingml/2006/main">
            <a:off x="80105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DB41012-E794-4F41-B836-935798584DE0}"/>
              </a:ext>
            </a:extLst>
          </p:cNvPr>
          <p:cNvSpPr>
            <a:spLocks xmlns:a="http://schemas.openxmlformats.org/drawingml/2006/main" noGrp="1"/>
          </p:cNvSpPr>
          <p:nvPr/>
        </p:nvSpPr>
        <p:spPr>
          <a:xfrm xmlns:a="http://schemas.openxmlformats.org/drawingml/2006/main">
            <a:off x="80391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b5</a:t>
            </a:r>
          </a:p>
        </p:txBody>
      </p:sp>
      <p:sp>
        <p:nvSpPr>
          <p:cNvPr id="21" name="">
            <a:extLst xmlns:a="http://schemas.openxmlformats.org/drawingml/2006/main">
              <a:ext uri="{FF2B5EF4-FFF2-40B4-BE49-F238E27FC236}">
                <a16:creationId xmlns:a16="http://schemas.microsoft.com/office/drawing/2014/main" id="{B8E51AE5-80DA-4849-9126-4821B681C8DF}"/>
              </a:ext>
            </a:extLst>
          </p:cNvPr>
          <p:cNvSpPr>
            <a:spLocks xmlns:a="http://schemas.openxmlformats.org/drawingml/2006/main" noGrp="1"/>
          </p:cNvSpPr>
          <p:nvPr/>
        </p:nvSpPr>
        <p:spPr>
          <a:xfrm xmlns:a="http://schemas.openxmlformats.org/drawingml/2006/main">
            <a:off x="85153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89C84D8-68B1-4DE7-B5FB-D1D0DBFCC9A4}"/>
              </a:ext>
            </a:extLst>
          </p:cNvPr>
          <p:cNvSpPr>
            <a:spLocks xmlns:a="http://schemas.openxmlformats.org/drawingml/2006/main" noGrp="1"/>
          </p:cNvSpPr>
          <p:nvPr/>
        </p:nvSpPr>
        <p:spPr>
          <a:xfrm xmlns:a="http://schemas.openxmlformats.org/drawingml/2006/main">
            <a:off x="85439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b4</a:t>
            </a:r>
          </a:p>
        </p:txBody>
      </p:sp>
      <p:sp>
        <p:nvSpPr>
          <p:cNvPr id="23" name="">
            <a:extLst xmlns:a="http://schemas.openxmlformats.org/drawingml/2006/main">
              <a:ext uri="{FF2B5EF4-FFF2-40B4-BE49-F238E27FC236}">
                <a16:creationId xmlns:a16="http://schemas.microsoft.com/office/drawing/2014/main" id="{EDB9705F-FB22-478B-AF45-2D02C317E914}"/>
              </a:ext>
            </a:extLst>
          </p:cNvPr>
          <p:cNvSpPr>
            <a:spLocks xmlns:a="http://schemas.openxmlformats.org/drawingml/2006/main" noGrp="1"/>
          </p:cNvSpPr>
          <p:nvPr/>
        </p:nvSpPr>
        <p:spPr>
          <a:xfrm xmlns:a="http://schemas.openxmlformats.org/drawingml/2006/main">
            <a:off x="902017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46A90C5-C9F6-44AF-A0FE-0A90F0A38B4E}"/>
              </a:ext>
            </a:extLst>
          </p:cNvPr>
          <p:cNvSpPr>
            <a:spLocks xmlns:a="http://schemas.openxmlformats.org/drawingml/2006/main" noGrp="1"/>
          </p:cNvSpPr>
          <p:nvPr/>
        </p:nvSpPr>
        <p:spPr>
          <a:xfrm xmlns:a="http://schemas.openxmlformats.org/drawingml/2006/main">
            <a:off x="90487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b3</a:t>
            </a:r>
          </a:p>
        </p:txBody>
      </p:sp>
      <p:sp>
        <p:nvSpPr>
          <p:cNvPr id="25" name="">
            <a:extLst xmlns:a="http://schemas.openxmlformats.org/drawingml/2006/main">
              <a:ext uri="{FF2B5EF4-FFF2-40B4-BE49-F238E27FC236}">
                <a16:creationId xmlns:a16="http://schemas.microsoft.com/office/drawing/2014/main" id="{4DC98561-C5E6-4556-9395-34DA168736FE}"/>
              </a:ext>
            </a:extLst>
          </p:cNvPr>
          <p:cNvSpPr>
            <a:spLocks xmlns:a="http://schemas.openxmlformats.org/drawingml/2006/main" noGrp="1"/>
          </p:cNvSpPr>
          <p:nvPr/>
        </p:nvSpPr>
        <p:spPr>
          <a:xfrm xmlns:a="http://schemas.openxmlformats.org/drawingml/2006/main">
            <a:off x="95250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DE69730-283B-4328-8903-BC37DDF42A7E}"/>
              </a:ext>
            </a:extLst>
          </p:cNvPr>
          <p:cNvSpPr>
            <a:spLocks xmlns:a="http://schemas.openxmlformats.org/drawingml/2006/main" noGrp="1"/>
          </p:cNvSpPr>
          <p:nvPr/>
        </p:nvSpPr>
        <p:spPr>
          <a:xfrm xmlns:a="http://schemas.openxmlformats.org/drawingml/2006/main">
            <a:off x="95535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b2</a:t>
            </a:r>
          </a:p>
        </p:txBody>
      </p:sp>
      <p:sp>
        <p:nvSpPr>
          <p:cNvPr id="27" name="">
            <a:extLst xmlns:a="http://schemas.openxmlformats.org/drawingml/2006/main">
              <a:ext uri="{FF2B5EF4-FFF2-40B4-BE49-F238E27FC236}">
                <a16:creationId xmlns:a16="http://schemas.microsoft.com/office/drawing/2014/main" id="{41B306FE-C559-4A2A-A7ED-D425BE2F88FA}"/>
              </a:ext>
            </a:extLst>
          </p:cNvPr>
          <p:cNvSpPr>
            <a:spLocks xmlns:a="http://schemas.openxmlformats.org/drawingml/2006/main" noGrp="1"/>
          </p:cNvSpPr>
          <p:nvPr/>
        </p:nvSpPr>
        <p:spPr>
          <a:xfrm xmlns:a="http://schemas.openxmlformats.org/drawingml/2006/main">
            <a:off x="100298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EDDEA13-A8C3-43C0-8852-AFB284535650}"/>
              </a:ext>
            </a:extLst>
          </p:cNvPr>
          <p:cNvSpPr>
            <a:spLocks xmlns:a="http://schemas.openxmlformats.org/drawingml/2006/main" noGrp="1"/>
          </p:cNvSpPr>
          <p:nvPr/>
        </p:nvSpPr>
        <p:spPr>
          <a:xfrm xmlns:a="http://schemas.openxmlformats.org/drawingml/2006/main">
            <a:off x="100584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b1</a:t>
            </a:r>
          </a:p>
        </p:txBody>
      </p:sp>
      <p:sp>
        <p:nvSpPr>
          <p:cNvPr id="29" name="">
            <a:extLst xmlns:a="http://schemas.openxmlformats.org/drawingml/2006/main">
              <a:ext uri="{FF2B5EF4-FFF2-40B4-BE49-F238E27FC236}">
                <a16:creationId xmlns:a16="http://schemas.microsoft.com/office/drawing/2014/main" id="{29C939E6-B35B-40DB-9C00-1301B323E75D}"/>
              </a:ext>
            </a:extLst>
          </p:cNvPr>
          <p:cNvSpPr>
            <a:spLocks xmlns:a="http://schemas.openxmlformats.org/drawingml/2006/main" noGrp="1"/>
          </p:cNvSpPr>
          <p:nvPr/>
        </p:nvSpPr>
        <p:spPr>
          <a:xfrm xmlns:a="http://schemas.openxmlformats.org/drawingml/2006/main">
            <a:off x="105346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2EDF73A-0003-4811-9C1D-A6CC7197E46F}"/>
              </a:ext>
            </a:extLst>
          </p:cNvPr>
          <p:cNvSpPr>
            <a:spLocks xmlns:a="http://schemas.openxmlformats.org/drawingml/2006/main" noGrp="1"/>
          </p:cNvSpPr>
          <p:nvPr/>
        </p:nvSpPr>
        <p:spPr>
          <a:xfrm xmlns:a="http://schemas.openxmlformats.org/drawingml/2006/main">
            <a:off x="105632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b0</a:t>
            </a:r>
          </a:p>
        </p:txBody>
      </p:sp>
      <p:sp>
        <p:nvSpPr>
          <p:cNvPr id="31" name="">
            <a:extLst xmlns:a="http://schemas.openxmlformats.org/drawingml/2006/main">
              <a:ext uri="{FF2B5EF4-FFF2-40B4-BE49-F238E27FC236}">
                <a16:creationId xmlns:a16="http://schemas.microsoft.com/office/drawing/2014/main" id="{02B71DD9-7855-4AA1-9032-19A5359AC83B}"/>
              </a:ext>
            </a:extLst>
          </p:cNvPr>
          <p:cNvSpPr>
            <a:spLocks xmlns:a="http://schemas.openxmlformats.org/drawingml/2006/main" noGrp="1"/>
          </p:cNvSpPr>
          <p:nvPr/>
        </p:nvSpPr>
        <p:spPr>
          <a:xfrm xmlns:a="http://schemas.openxmlformats.org/drawingml/2006/main">
            <a:off x="7048500" y="37052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B45309"/>
                </a:solidFill>
                <a:latin typeface="Lato"/>
                <a:ea typeface="Lato"/>
                <a:cs typeface="Lato"/>
              </a:defRPr>
            </a:defPPr>
          </a:lstStyle>
          <a:p xmlns:a="http://schemas.openxmlformats.org/drawingml/2006/main">
            <a:pPr algn="ctr">
              <a:defRPr sz="2625" b="1">
                <a:solidFill>
                  <a:srgbClr val="B45309"/>
                </a:solidFill>
                <a:latin typeface="Lato"/>
                <a:ea typeface="Lato"/>
                <a:cs typeface="Lato"/>
              </a:defRPr>
            </a:pPr>
            <a:r>
              <a:rPr sz="2625" b="1">
                <a:solidFill>
                  <a:srgbClr val="B45309"/>
                </a:solidFill>
                <a:latin typeface="Lato"/>
                <a:ea typeface="Lato"/>
                <a:cs typeface="Lato"/>
              </a:rPr>
              <a:t>−128 … 127</a:t>
            </a:r>
          </a:p>
        </p:txBody>
      </p:sp>
      <p:sp>
        <p:nvSpPr>
          <p:cNvPr id="32" name="">
            <a:extLst xmlns:a="http://schemas.openxmlformats.org/drawingml/2006/main">
              <a:ext uri="{FF2B5EF4-FFF2-40B4-BE49-F238E27FC236}">
                <a16:creationId xmlns:a16="http://schemas.microsoft.com/office/drawing/2014/main" id="{9C3E05CA-F467-4BBF-829D-FBD7A87F0F55}"/>
              </a:ext>
            </a:extLst>
          </p:cNvPr>
          <p:cNvSpPr>
            <a:spLocks xmlns:a="http://schemas.openxmlformats.org/drawingml/2006/main" noGrp="1"/>
          </p:cNvSpPr>
          <p:nvPr/>
        </p:nvSpPr>
        <p:spPr>
          <a:xfrm xmlns:a="http://schemas.openxmlformats.org/drawingml/2006/main">
            <a:off x="857250" y="4467225"/>
            <a:ext cx="5334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FP32: 4 bytes por valor</a:t>
            </a:r>
          </a:p>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1 byte por valor</a:t>
            </a:r>
          </a:p>
        </p:txBody>
      </p:sp>
      <p:sp>
        <p:nvSpPr>
          <p:cNvPr id="33" name="">
            <a:extLst xmlns:a="http://schemas.openxmlformats.org/drawingml/2006/main">
              <a:ext uri="{FF2B5EF4-FFF2-40B4-BE49-F238E27FC236}">
                <a16:creationId xmlns:a16="http://schemas.microsoft.com/office/drawing/2014/main" id="{7400F97D-B729-4A8C-A131-E7E4FAF404FD}"/>
              </a:ext>
            </a:extLst>
          </p:cNvPr>
          <p:cNvSpPr>
            <a:spLocks xmlns:a="http://schemas.openxmlformats.org/drawingml/2006/main" noGrp="1"/>
          </p:cNvSpPr>
          <p:nvPr/>
        </p:nvSpPr>
        <p:spPr>
          <a:xfrm xmlns:a="http://schemas.openxmlformats.org/drawingml/2006/main">
            <a:off x="762000" y="57626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526173"/>
                </a:solidFill>
                <a:latin typeface="Lato"/>
                <a:ea typeface="Lato"/>
                <a:cs typeface="Lato"/>
              </a:defRPr>
            </a:defPPr>
          </a:lstStyle>
          <a:p xmlns:a="http://schemas.openxmlformats.org/drawingml/2006/main">
            <a:pPr algn="l">
              <a:defRPr sz="1800" b="0">
                <a:solidFill>
                  <a:srgbClr val="526173"/>
                </a:solidFill>
                <a:latin typeface="Lato"/>
                <a:ea typeface="Lato"/>
                <a:cs typeface="Lato"/>
              </a:defRPr>
            </a:pPr>
            <a:r>
              <a:rPr sz="1800" b="0">
                <a:solidFill>
                  <a:srgbClr val="526173"/>
                </a:solidFill>
                <a:latin typeface="Lato"/>
                <a:ea typeface="Lato"/>
                <a:cs typeface="Lato"/>
              </a:rPr>
              <a:t>La cuantización conserva la topología; algunos tensores permanecen flotantes.</a:t>
            </a:r>
          </a:p>
        </p:txBody>
      </p:sp>
    </p:spTree>
    <p:extLst>
      <p:ext uri="{BB962C8B-B14F-4D97-AF65-F5344CB8AC3E}">
        <p14:creationId xmlns:p14="http://schemas.microsoft.com/office/powerpoint/2010/main" val="512331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3809256-9559-4962-A2CA-67ED811802E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8FC9885-02F2-4A87-B291-CB8E7B9ABAA0}"/>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9743583C-A3A6-400C-95E1-AB6DD6D1674F}"/>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cuantización</a:t>
            </a:r>
          </a:p>
        </p:txBody>
      </p:sp>
      <p:sp>
        <p:nvSpPr>
          <p:cNvPr id="4" name="">
            <a:extLst xmlns:a="http://schemas.openxmlformats.org/drawingml/2006/main">
              <a:ext uri="{FF2B5EF4-FFF2-40B4-BE49-F238E27FC236}">
                <a16:creationId xmlns:a16="http://schemas.microsoft.com/office/drawing/2014/main" id="{5AA0ECFF-82F8-4C3B-BF78-4A85F7D6C91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44FDAAF-CC44-44A9-8D47-85708BDCC3D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cuantización lineal [3]; ilustración conceptual de TT1 [1]</a:t>
            </a:r>
          </a:p>
        </p:txBody>
      </p:sp>
      <p:sp>
        <p:nvSpPr>
          <p:cNvPr id="6" name="">
            <a:extLst xmlns:a="http://schemas.openxmlformats.org/drawingml/2006/main">
              <a:ext uri="{FF2B5EF4-FFF2-40B4-BE49-F238E27FC236}">
                <a16:creationId xmlns:a16="http://schemas.microsoft.com/office/drawing/2014/main" id="{1B3BAAE7-76C2-4ACC-AEB2-62BD6C220718}"/>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07</a:t>
            </a:r>
          </a:p>
        </p:txBody>
      </p:sp>
      <p:sp>
        <p:nvSpPr>
          <p:cNvPr id="7" name="">
            <a:extLst xmlns:a="http://schemas.openxmlformats.org/drawingml/2006/main">
              <a:ext uri="{FF2B5EF4-FFF2-40B4-BE49-F238E27FC236}">
                <a16:creationId xmlns:a16="http://schemas.microsoft.com/office/drawing/2014/main" id="{CC4434F2-8049-4481-A827-0C64642619CA}"/>
              </a:ext>
            </a:extLst>
          </p:cNvPr>
          <p:cNvSpPr>
            <a:spLocks xmlns:a="http://schemas.openxmlformats.org/drawingml/2006/main" noGrp="1"/>
          </p:cNvSpPr>
          <p:nvPr/>
        </p:nvSpPr>
        <p:spPr>
          <a:xfrm xmlns:a="http://schemas.openxmlformats.org/drawingml/2006/main">
            <a:off x="685800" y="2057400"/>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L = 2ᴮ  →  256 códigos para B = 8</a:t>
            </a:r>
          </a:p>
        </p:txBody>
      </p:sp>
      <p:sp>
        <p:nvSpPr>
          <p:cNvPr id="8" name="">
            <a:extLst xmlns:a="http://schemas.openxmlformats.org/drawingml/2006/main">
              <a:ext uri="{FF2B5EF4-FFF2-40B4-BE49-F238E27FC236}">
                <a16:creationId xmlns:a16="http://schemas.microsoft.com/office/drawing/2014/main" id="{B8138ADF-2110-409F-A3C7-1A5286856A59}"/>
              </a:ext>
            </a:extLst>
          </p:cNvPr>
          <p:cNvSpPr>
            <a:spLocks xmlns:a="http://schemas.openxmlformats.org/drawingml/2006/main" noGrp="1"/>
          </p:cNvSpPr>
          <p:nvPr/>
        </p:nvSpPr>
        <p:spPr>
          <a:xfrm xmlns:a="http://schemas.openxmlformats.org/drawingml/2006/main">
            <a:off x="714375" y="2933700"/>
            <a:ext cx="5381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S = (xmax − xmin) / (qmax − qmin)</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x_int = clip(round(x/S) + Z,</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                    qmin, qmax)</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 = S(x_int − Z)</a:t>
            </a:r>
          </a:p>
        </p:txBody>
      </p:sp>
      <p:sp>
        <p:nvSpPr>
          <p:cNvPr id="9" name="">
            <a:extLst xmlns:a="http://schemas.openxmlformats.org/drawingml/2006/main">
              <a:ext uri="{FF2B5EF4-FFF2-40B4-BE49-F238E27FC236}">
                <a16:creationId xmlns:a16="http://schemas.microsoft.com/office/drawing/2014/main" id="{5F8B1237-C602-46D5-B32B-57EB55AA9F81}"/>
              </a:ext>
            </a:extLst>
          </p:cNvPr>
          <p:cNvSpPr>
            <a:spLocks xmlns:a="http://schemas.openxmlformats.org/drawingml/2006/main" noGrp="1"/>
          </p:cNvSpPr>
          <p:nvPr/>
        </p:nvSpPr>
        <p:spPr>
          <a:xfrm xmlns:a="http://schemas.openxmlformats.org/drawingml/2006/main">
            <a:off x="714375" y="4943475"/>
            <a:ext cx="538162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S: separación entre niveles</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Z: código que representa el cero real</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 valor reconstruido</a:t>
            </a:r>
          </a:p>
        </p:txBody>
      </p:sp>
      <p:pic>
        <p:nvPicPr>
          <p:cNvPr id="10" name="">
            <a:extLst xmlns:a="http://schemas.openxmlformats.org/drawingml/2006/main">
              <a:ext uri="{FF2B5EF4-FFF2-40B4-BE49-F238E27FC236}">
                <a16:creationId xmlns:a16="http://schemas.microsoft.com/office/drawing/2014/main" id="{5DF45A12-25E4-4BCD-8E4D-84590ADFECF6}"/>
              </a:ext>
            </a:extLst>
          </p:cNvPr>
          <p:cNvPicPr>
            <a:picLocks xmlns:a="http://schemas.openxmlformats.org/drawingml/2006/main" noChangeAspect="1"/>
          </p:cNvPicPr>
          <p:nvPr/>
        </p:nvPicPr>
        <p:blipFill>
          <a:blip xmlns:r="http://schemas.openxmlformats.org/officeDocument/2006/relationships" xmlns:a="http://schemas.openxmlformats.org/drawingml/2006/main" r:embed="R5a2d535014054aad"/>
          <a:srcRect xmlns:a="http://schemas.openxmlformats.org/drawingml/2006/main" l="0" t="0" r="0" b="49000"/>
          <a:stretch xmlns:a="http://schemas.openxmlformats.org/drawingml/2006/main"/>
        </p:blipFill>
        <p:spPr>
          <a:xfrm xmlns:a="http://schemas.openxmlformats.org/drawingml/2006/main">
            <a:off x="6286500" y="1933575"/>
            <a:ext cx="5219700" cy="3857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351670F-712F-4069-BF2A-CBD7DA1D6F48}"/>
              </a:ext>
            </a:extLst>
          </p:cNvPr>
          <p:cNvSpPr>
            <a:spLocks xmlns:a="http://schemas.openxmlformats.org/drawingml/2006/main" noGrp="1"/>
          </p:cNvSpPr>
          <p:nvPr/>
        </p:nvSpPr>
        <p:spPr>
          <a:xfrm xmlns:a="http://schemas.openxmlformats.org/drawingml/2006/main">
            <a:off x="6457950" y="5724525"/>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173"/>
                </a:solidFill>
                <a:latin typeface="Lato"/>
                <a:ea typeface="Lato"/>
                <a:cs typeface="Lato"/>
              </a:defRPr>
            </a:defPPr>
          </a:lstStyle>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Figura extraída del reporte TT1; ejemplo visual.</a:t>
            </a:r>
          </a:p>
        </p:txBody>
      </p:sp>
    </p:spTree>
    <p:extLst>
      <p:ext uri="{BB962C8B-B14F-4D97-AF65-F5344CB8AC3E}">
        <p14:creationId xmlns:p14="http://schemas.microsoft.com/office/powerpoint/2010/main" val="17156476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9B29193-D5B3-481D-A3D4-6DFA550A253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6A1B60-D028-4DD4-A716-C681DB5B84D3}"/>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APROXIMACIÓN Y CUANTIZACIÓN</a:t>
            </a:r>
          </a:p>
        </p:txBody>
      </p:sp>
      <p:sp>
        <p:nvSpPr>
          <p:cNvPr id="3" name="">
            <a:extLst xmlns:a="http://schemas.openxmlformats.org/drawingml/2006/main">
              <a:ext uri="{FF2B5EF4-FFF2-40B4-BE49-F238E27FC236}">
                <a16:creationId xmlns:a16="http://schemas.microsoft.com/office/drawing/2014/main" id="{33EEB473-E482-4761-986F-FEC5676C1633}"/>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redes neuronales</a:t>
            </a:r>
          </a:p>
        </p:txBody>
      </p:sp>
      <p:sp>
        <p:nvSpPr>
          <p:cNvPr id="4" name="">
            <a:extLst xmlns:a="http://schemas.openxmlformats.org/drawingml/2006/main">
              <a:ext uri="{FF2B5EF4-FFF2-40B4-BE49-F238E27FC236}">
                <a16:creationId xmlns:a16="http://schemas.microsoft.com/office/drawing/2014/main" id="{84F4535D-54FA-46DD-9871-7DC54B5FB0E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BF4F176-7C36-4FD3-A4F6-2AF93F365D0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capas densas PyTorch [4]; implementación TT1 [1]</a:t>
            </a:r>
          </a:p>
        </p:txBody>
      </p:sp>
      <p:sp>
        <p:nvSpPr>
          <p:cNvPr id="6" name="">
            <a:extLst xmlns:a="http://schemas.openxmlformats.org/drawingml/2006/main">
              <a:ext uri="{FF2B5EF4-FFF2-40B4-BE49-F238E27FC236}">
                <a16:creationId xmlns:a16="http://schemas.microsoft.com/office/drawing/2014/main" id="{44062F38-E962-4BA4-A7A9-8BB360020FC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08</a:t>
            </a:r>
          </a:p>
        </p:txBody>
      </p:sp>
      <p:sp>
        <p:nvSpPr>
          <p:cNvPr id="7" name="">
            <a:extLst xmlns:a="http://schemas.openxmlformats.org/drawingml/2006/main">
              <a:ext uri="{FF2B5EF4-FFF2-40B4-BE49-F238E27FC236}">
                <a16:creationId xmlns:a16="http://schemas.microsoft.com/office/drawing/2014/main" id="{835CDA95-DD67-4DEC-A20E-DFD159B82BD3}"/>
              </a:ext>
            </a:extLst>
          </p:cNvPr>
          <p:cNvSpPr>
            <a:spLocks xmlns:a="http://schemas.openxmlformats.org/drawingml/2006/main" noGrp="1"/>
          </p:cNvSpPr>
          <p:nvPr/>
        </p:nvSpPr>
        <p:spPr>
          <a:xfrm xmlns:a="http://schemas.openxmlformats.org/drawingml/2006/main">
            <a:off x="762000" y="2466975"/>
            <a:ext cx="2571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E3F20B0A-664D-402C-BDED-F8F313387C3A}"/>
              </a:ext>
            </a:extLst>
          </p:cNvPr>
          <p:cNvSpPr>
            <a:spLocks xmlns:a="http://schemas.openxmlformats.org/drawingml/2006/main" noGrp="1"/>
          </p:cNvSpPr>
          <p:nvPr/>
        </p:nvSpPr>
        <p:spPr>
          <a:xfrm xmlns:a="http://schemas.openxmlformats.org/drawingml/2006/main">
            <a:off x="762000" y="2466975"/>
            <a:ext cx="47625" cy="13144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757471-6037-4479-91FD-AD90EFBB153D}"/>
              </a:ext>
            </a:extLst>
          </p:cNvPr>
          <p:cNvSpPr>
            <a:spLocks xmlns:a="http://schemas.openxmlformats.org/drawingml/2006/main" noGrp="1"/>
          </p:cNvSpPr>
          <p:nvPr/>
        </p:nvSpPr>
        <p:spPr>
          <a:xfrm xmlns:a="http://schemas.openxmlformats.org/drawingml/2006/main">
            <a:off x="904875" y="2609850"/>
            <a:ext cx="2305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Entradas</a:t>
            </a:r>
          </a:p>
        </p:txBody>
      </p:sp>
      <p:sp>
        <p:nvSpPr>
          <p:cNvPr id="10" name="">
            <a:extLst xmlns:a="http://schemas.openxmlformats.org/drawingml/2006/main">
              <a:ext uri="{FF2B5EF4-FFF2-40B4-BE49-F238E27FC236}">
                <a16:creationId xmlns:a16="http://schemas.microsoft.com/office/drawing/2014/main" id="{984740DF-E03C-4065-89A1-1DD8197FFF91}"/>
              </a:ext>
            </a:extLst>
          </p:cNvPr>
          <p:cNvSpPr>
            <a:spLocks xmlns:a="http://schemas.openxmlformats.org/drawingml/2006/main" noGrp="1"/>
          </p:cNvSpPr>
          <p:nvPr/>
        </p:nvSpPr>
        <p:spPr>
          <a:xfrm xmlns:a="http://schemas.openxmlformats.org/drawingml/2006/main">
            <a:off x="3571875"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7F68D8B-E5C4-4A50-83C4-896F57D8B1BA}"/>
              </a:ext>
            </a:extLst>
          </p:cNvPr>
          <p:cNvSpPr>
            <a:spLocks xmlns:a="http://schemas.openxmlformats.org/drawingml/2006/main" noGrp="1"/>
          </p:cNvSpPr>
          <p:nvPr/>
        </p:nvSpPr>
        <p:spPr>
          <a:xfrm xmlns:a="http://schemas.openxmlformats.org/drawingml/2006/main">
            <a:off x="4333875" y="2466975"/>
            <a:ext cx="3333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3F9DC4D6-BB9B-4F1E-975F-763977C55D71}"/>
              </a:ext>
            </a:extLst>
          </p:cNvPr>
          <p:cNvSpPr>
            <a:spLocks xmlns:a="http://schemas.openxmlformats.org/drawingml/2006/main" noGrp="1"/>
          </p:cNvSpPr>
          <p:nvPr/>
        </p:nvSpPr>
        <p:spPr>
          <a:xfrm xmlns:a="http://schemas.openxmlformats.org/drawingml/2006/main">
            <a:off x="4333875" y="2466975"/>
            <a:ext cx="47625" cy="13144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F60D0FD-15CD-4684-8584-054C1B96950B}"/>
              </a:ext>
            </a:extLst>
          </p:cNvPr>
          <p:cNvSpPr>
            <a:spLocks xmlns:a="http://schemas.openxmlformats.org/drawingml/2006/main" noGrp="1"/>
          </p:cNvSpPr>
          <p:nvPr/>
        </p:nvSpPr>
        <p:spPr>
          <a:xfrm xmlns:a="http://schemas.openxmlformats.org/drawingml/2006/main">
            <a:off x="4476750" y="2609850"/>
            <a:ext cx="3067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325" b="1">
                <a:solidFill>
                  <a:srgbClr val="263445"/>
                </a:solidFill>
                <a:latin typeface="Lato"/>
                <a:ea typeface="Lato"/>
                <a:cs typeface="Lato"/>
              </a:defRPr>
            </a:defPPr>
          </a:lstStyle>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Capas densas</a:t>
            </a:r>
          </a:p>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y activaciones</a:t>
            </a:r>
          </a:p>
        </p:txBody>
      </p:sp>
      <p:sp>
        <p:nvSpPr>
          <p:cNvPr id="14" name="">
            <a:extLst xmlns:a="http://schemas.openxmlformats.org/drawingml/2006/main">
              <a:ext uri="{FF2B5EF4-FFF2-40B4-BE49-F238E27FC236}">
                <a16:creationId xmlns:a16="http://schemas.microsoft.com/office/drawing/2014/main" id="{E8621ACB-0674-452A-91B0-0CB60336B457}"/>
              </a:ext>
            </a:extLst>
          </p:cNvPr>
          <p:cNvSpPr>
            <a:spLocks xmlns:a="http://schemas.openxmlformats.org/drawingml/2006/main" noGrp="1"/>
          </p:cNvSpPr>
          <p:nvPr/>
        </p:nvSpPr>
        <p:spPr>
          <a:xfrm xmlns:a="http://schemas.openxmlformats.org/drawingml/2006/main">
            <a:off x="7905750"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6AE965C-D536-4414-9163-4CECF458ECE7}"/>
              </a:ext>
            </a:extLst>
          </p:cNvPr>
          <p:cNvSpPr>
            <a:spLocks xmlns:a="http://schemas.openxmlformats.org/drawingml/2006/main" noGrp="1"/>
          </p:cNvSpPr>
          <p:nvPr/>
        </p:nvSpPr>
        <p:spPr>
          <a:xfrm xmlns:a="http://schemas.openxmlformats.org/drawingml/2006/main">
            <a:off x="8667750" y="2466975"/>
            <a:ext cx="2619375"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6" name="">
            <a:extLst xmlns:a="http://schemas.openxmlformats.org/drawingml/2006/main">
              <a:ext uri="{FF2B5EF4-FFF2-40B4-BE49-F238E27FC236}">
                <a16:creationId xmlns:a16="http://schemas.microsoft.com/office/drawing/2014/main" id="{5F723D6F-8F3D-43DC-8A9D-061AD4E760D4}"/>
              </a:ext>
            </a:extLst>
          </p:cNvPr>
          <p:cNvSpPr>
            <a:spLocks xmlns:a="http://schemas.openxmlformats.org/drawingml/2006/main" noGrp="1"/>
          </p:cNvSpPr>
          <p:nvPr/>
        </p:nvSpPr>
        <p:spPr>
          <a:xfrm xmlns:a="http://schemas.openxmlformats.org/drawingml/2006/main">
            <a:off x="8667750" y="2466975"/>
            <a:ext cx="47625" cy="13144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D992A74-2B15-43FC-BAE8-46A39CA656D8}"/>
              </a:ext>
            </a:extLst>
          </p:cNvPr>
          <p:cNvSpPr>
            <a:spLocks xmlns:a="http://schemas.openxmlformats.org/drawingml/2006/main" noGrp="1"/>
          </p:cNvSpPr>
          <p:nvPr/>
        </p:nvSpPr>
        <p:spPr>
          <a:xfrm xmlns:a="http://schemas.openxmlformats.org/drawingml/2006/main">
            <a:off x="8810625" y="2609850"/>
            <a:ext cx="23526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Salidas</a:t>
            </a:r>
          </a:p>
        </p:txBody>
      </p:sp>
      <p:sp>
        <p:nvSpPr>
          <p:cNvPr id="18" name="">
            <a:extLst xmlns:a="http://schemas.openxmlformats.org/drawingml/2006/main">
              <a:ext uri="{FF2B5EF4-FFF2-40B4-BE49-F238E27FC236}">
                <a16:creationId xmlns:a16="http://schemas.microsoft.com/office/drawing/2014/main" id="{A22DE0CF-0A8F-49BA-BCC6-3BB6B8369A37}"/>
              </a:ext>
            </a:extLst>
          </p:cNvPr>
          <p:cNvSpPr>
            <a:spLocks xmlns:a="http://schemas.openxmlformats.org/drawingml/2006/main" noGrp="1"/>
          </p:cNvSpPr>
          <p:nvPr/>
        </p:nvSpPr>
        <p:spPr>
          <a:xfrm xmlns:a="http://schemas.openxmlformats.org/drawingml/2006/main">
            <a:off x="800100" y="4324350"/>
            <a:ext cx="10477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Las capas densas combinan las entradas mediante pesos y sesgos.</a:t>
            </a:r>
          </a:p>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Las activaciones permiten representar relaciones no lineales.</a:t>
            </a:r>
          </a:p>
        </p:txBody>
      </p:sp>
      <p:sp>
        <p:nvSpPr>
          <p:cNvPr id="19" name="">
            <a:extLst xmlns:a="http://schemas.openxmlformats.org/drawingml/2006/main">
              <a:ext uri="{FF2B5EF4-FFF2-40B4-BE49-F238E27FC236}">
                <a16:creationId xmlns:a16="http://schemas.microsoft.com/office/drawing/2014/main" id="{87FD8335-A932-4506-98FC-95F07FE3E89E}"/>
              </a:ext>
            </a:extLst>
          </p:cNvPr>
          <p:cNvSpPr>
            <a:spLocks xmlns:a="http://schemas.openxmlformats.org/drawingml/2006/main" noGrp="1"/>
          </p:cNvSpPr>
          <p:nvPr/>
        </p:nvSpPr>
        <p:spPr>
          <a:xfrm xmlns:a="http://schemas.openxmlformats.org/drawingml/2006/main">
            <a:off x="800100" y="5381625"/>
            <a:ext cx="10477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La cuantización modifica la representación numérica, no el número de neuronas.</a:t>
            </a:r>
          </a:p>
        </p:txBody>
      </p:sp>
    </p:spTree>
    <p:extLst>
      <p:ext uri="{BB962C8B-B14F-4D97-AF65-F5344CB8AC3E}">
        <p14:creationId xmlns:p14="http://schemas.microsoft.com/office/powerpoint/2010/main" val="7574258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D0F762A-D32B-4A32-B96C-03F3B5D75ED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EECF2B8-56FF-4F74-9CEA-0DB8648BD9CC}"/>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INTERCAMBIO Y EJECUCIÓN</a:t>
            </a:r>
          </a:p>
        </p:txBody>
      </p:sp>
      <p:sp>
        <p:nvSpPr>
          <p:cNvPr id="3" name="">
            <a:extLst xmlns:a="http://schemas.openxmlformats.org/drawingml/2006/main">
              <a:ext uri="{FF2B5EF4-FFF2-40B4-BE49-F238E27FC236}">
                <a16:creationId xmlns:a16="http://schemas.microsoft.com/office/drawing/2014/main" id="{6E8FA18F-9AC7-4D5E-9084-59C2A12B0EA0}"/>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ONNX</a:t>
            </a:r>
          </a:p>
        </p:txBody>
      </p:sp>
      <p:sp>
        <p:nvSpPr>
          <p:cNvPr id="4" name="">
            <a:extLst xmlns:a="http://schemas.openxmlformats.org/drawingml/2006/main">
              <a:ext uri="{FF2B5EF4-FFF2-40B4-BE49-F238E27FC236}">
                <a16:creationId xmlns:a16="http://schemas.microsoft.com/office/drawing/2014/main" id="{67E37ACB-677F-4C2D-839D-13C2205B5F9E}"/>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0371920-A149-482E-A721-1A1F03221E70}"/>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ONNX Concepts [5]</a:t>
            </a:r>
          </a:p>
        </p:txBody>
      </p:sp>
      <p:sp>
        <p:nvSpPr>
          <p:cNvPr id="6" name="">
            <a:extLst xmlns:a="http://schemas.openxmlformats.org/drawingml/2006/main">
              <a:ext uri="{FF2B5EF4-FFF2-40B4-BE49-F238E27FC236}">
                <a16:creationId xmlns:a16="http://schemas.microsoft.com/office/drawing/2014/main" id="{4713E605-29DB-4AFF-9416-8CB8BA86C37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09</a:t>
            </a:r>
          </a:p>
        </p:txBody>
      </p:sp>
      <p:sp>
        <p:nvSpPr>
          <p:cNvPr id="7" name="">
            <a:extLst xmlns:a="http://schemas.openxmlformats.org/drawingml/2006/main">
              <a:ext uri="{FF2B5EF4-FFF2-40B4-BE49-F238E27FC236}">
                <a16:creationId xmlns:a16="http://schemas.microsoft.com/office/drawing/2014/main" id="{A046F31C-5804-49CC-BFFD-6D7299C20002}"/>
              </a:ext>
            </a:extLst>
          </p:cNvPr>
          <p:cNvSpPr>
            <a:spLocks xmlns:a="http://schemas.openxmlformats.org/drawingml/2006/main" noGrp="1"/>
          </p:cNvSpPr>
          <p:nvPr/>
        </p:nvSpPr>
        <p:spPr>
          <a:xfrm xmlns:a="http://schemas.openxmlformats.org/drawingml/2006/main">
            <a:off x="762000" y="19145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71BDB3A9-A4F8-4658-BA5F-086F51FF6C0E}"/>
              </a:ext>
            </a:extLst>
          </p:cNvPr>
          <p:cNvSpPr>
            <a:spLocks xmlns:a="http://schemas.openxmlformats.org/drawingml/2006/main" noGrp="1"/>
          </p:cNvSpPr>
          <p:nvPr/>
        </p:nvSpPr>
        <p:spPr>
          <a:xfrm xmlns:a="http://schemas.openxmlformats.org/drawingml/2006/main">
            <a:off x="1581150" y="1914525"/>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Modelo descrito mediante un grafo de operadores y tensores.</a:t>
            </a:r>
          </a:p>
        </p:txBody>
      </p:sp>
      <p:sp>
        <p:nvSpPr>
          <p:cNvPr id="9" name="">
            <a:extLst xmlns:a="http://schemas.openxmlformats.org/drawingml/2006/main">
              <a:ext uri="{FF2B5EF4-FFF2-40B4-BE49-F238E27FC236}">
                <a16:creationId xmlns:a16="http://schemas.microsoft.com/office/drawing/2014/main" id="{53682120-F67B-4915-B583-E35C1F096357}"/>
              </a:ext>
            </a:extLst>
          </p:cNvPr>
          <p:cNvSpPr>
            <a:spLocks xmlns:a="http://schemas.openxmlformats.org/drawingml/2006/main" noGrp="1"/>
          </p:cNvSpPr>
          <p:nvPr/>
        </p:nvSpPr>
        <p:spPr>
          <a:xfrm xmlns:a="http://schemas.openxmlformats.org/drawingml/2006/main">
            <a:off x="762000" y="2819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A3948162-6822-425D-A16B-D0D8C98FDFA8}"/>
              </a:ext>
            </a:extLst>
          </p:cNvPr>
          <p:cNvSpPr>
            <a:spLocks xmlns:a="http://schemas.openxmlformats.org/drawingml/2006/main" noGrp="1"/>
          </p:cNvSpPr>
          <p:nvPr/>
        </p:nvSpPr>
        <p:spPr>
          <a:xfrm xmlns:a="http://schemas.openxmlformats.org/drawingml/2006/main">
            <a:off x="1581150" y="2819400"/>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Representación abierta para herramientas compatibles.</a:t>
            </a:r>
          </a:p>
        </p:txBody>
      </p:sp>
      <p:sp>
        <p:nvSpPr>
          <p:cNvPr id="11" name="">
            <a:extLst xmlns:a="http://schemas.openxmlformats.org/drawingml/2006/main">
              <a:ext uri="{FF2B5EF4-FFF2-40B4-BE49-F238E27FC236}">
                <a16:creationId xmlns:a16="http://schemas.microsoft.com/office/drawing/2014/main" id="{0B4C3C8C-3EA5-4AC8-AE49-527E4F6C104F}"/>
              </a:ext>
            </a:extLst>
          </p:cNvPr>
          <p:cNvSpPr>
            <a:spLocks xmlns:a="http://schemas.openxmlformats.org/drawingml/2006/main" noGrp="1"/>
          </p:cNvSpPr>
          <p:nvPr/>
        </p:nvSpPr>
        <p:spPr>
          <a:xfrm xmlns:a="http://schemas.openxmlformats.org/drawingml/2006/main">
            <a:off x="762000" y="37242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F74669CE-297E-480D-B48B-1F4404B0D845}"/>
              </a:ext>
            </a:extLst>
          </p:cNvPr>
          <p:cNvSpPr>
            <a:spLocks xmlns:a="http://schemas.openxmlformats.org/drawingml/2006/main" noGrp="1"/>
          </p:cNvSpPr>
          <p:nvPr/>
        </p:nvSpPr>
        <p:spPr>
          <a:xfrm xmlns:a="http://schemas.openxmlformats.org/drawingml/2006/main">
            <a:off x="1581150" y="3724275"/>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En TT1: exportación desde PyTorch e inferencia C++.</a:t>
            </a:r>
          </a:p>
        </p:txBody>
      </p:sp>
      <p:sp>
        <p:nvSpPr>
          <p:cNvPr id="13" name="">
            <a:extLst xmlns:a="http://schemas.openxmlformats.org/drawingml/2006/main">
              <a:ext uri="{FF2B5EF4-FFF2-40B4-BE49-F238E27FC236}">
                <a16:creationId xmlns:a16="http://schemas.microsoft.com/office/drawing/2014/main" id="{32E8479D-743C-4026-B158-A7080A6704E9}"/>
              </a:ext>
            </a:extLst>
          </p:cNvPr>
          <p:cNvSpPr>
            <a:spLocks xmlns:a="http://schemas.openxmlformats.org/drawingml/2006/main" noGrp="1"/>
          </p:cNvSpPr>
          <p:nvPr/>
        </p:nvSpPr>
        <p:spPr>
          <a:xfrm xmlns:a="http://schemas.openxmlformats.org/drawingml/2006/main">
            <a:off x="762000" y="4848225"/>
            <a:ext cx="10668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ONNX describe el modelo; ONNX Runtime lo ejecuta.</a:t>
            </a:r>
          </a:p>
        </p:txBody>
      </p:sp>
      <p:sp>
        <p:nvSpPr>
          <p:cNvPr id="14" name="">
            <a:extLst xmlns:a="http://schemas.openxmlformats.org/drawingml/2006/main">
              <a:ext uri="{FF2B5EF4-FFF2-40B4-BE49-F238E27FC236}">
                <a16:creationId xmlns:a16="http://schemas.microsoft.com/office/drawing/2014/main" id="{0F0BBA99-FA99-4993-A671-C3B33D710C04}"/>
              </a:ext>
            </a:extLst>
          </p:cNvPr>
          <p:cNvSpPr>
            <a:spLocks xmlns:a="http://schemas.openxmlformats.org/drawingml/2006/main" noGrp="1"/>
          </p:cNvSpPr>
          <p:nvPr/>
        </p:nvSpPr>
        <p:spPr>
          <a:xfrm xmlns:a="http://schemas.openxmlformats.org/drawingml/2006/main">
            <a:off x="762000" y="55054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0F766E"/>
                </a:solidFill>
                <a:latin typeface="Lato"/>
                <a:ea typeface="Lato"/>
                <a:cs typeface="Lato"/>
              </a:defRPr>
            </a:defPPr>
          </a:lstStyle>
          <a:p xmlns:a="http://schemas.openxmlformats.org/drawingml/2006/main">
            <a:pPr algn="ctr">
              <a:defRPr sz="2625" b="1">
                <a:solidFill>
                  <a:srgbClr val="0F766E"/>
                </a:solidFill>
                <a:latin typeface="Lato"/>
                <a:ea typeface="Lato"/>
                <a:cs typeface="Lato"/>
              </a:defRPr>
            </a:pPr>
            <a:r>
              <a:rPr sz="2625" b="1">
                <a:solidFill>
                  <a:srgbClr val="0F766E"/>
                </a:solidFill>
                <a:latin typeface="Lato"/>
                <a:ea typeface="Lato"/>
                <a:cs typeface="Lato"/>
              </a:rPr>
              <a:t>PyTorch  →  archivo ONNX  →  ONNX Runtime</a:t>
            </a:r>
          </a:p>
        </p:txBody>
      </p:sp>
    </p:spTree>
    <p:extLst>
      <p:ext uri="{BB962C8B-B14F-4D97-AF65-F5344CB8AC3E}">
        <p14:creationId xmlns:p14="http://schemas.microsoft.com/office/powerpoint/2010/main" val="13048184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23E4A74-2EB7-4E19-AAC0-0E9BC0BF16B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2948D04-0A0A-47EB-9C77-773FCA25372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IMPLEMENTACIÓN</a:t>
            </a:r>
          </a:p>
        </p:txBody>
      </p:sp>
      <p:sp>
        <p:nvSpPr>
          <p:cNvPr id="3" name="">
            <a:extLst xmlns:a="http://schemas.openxmlformats.org/drawingml/2006/main">
              <a:ext uri="{FF2B5EF4-FFF2-40B4-BE49-F238E27FC236}">
                <a16:creationId xmlns:a16="http://schemas.microsoft.com/office/drawing/2014/main" id="{E90B7227-AF4F-47C9-9559-45E7C5CAFA19}"/>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Entorno de simulación</a:t>
            </a:r>
          </a:p>
        </p:txBody>
      </p:sp>
      <p:sp>
        <p:nvSpPr>
          <p:cNvPr id="4" name="">
            <a:extLst xmlns:a="http://schemas.openxmlformats.org/drawingml/2006/main">
              <a:ext uri="{FF2B5EF4-FFF2-40B4-BE49-F238E27FC236}">
                <a16:creationId xmlns:a16="http://schemas.microsoft.com/office/drawing/2014/main" id="{DFF6ACB4-80CF-4CE4-A8A2-84D0675D9D6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F689C9E-EE98-4911-82C5-6F1402C01B4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captura del avance y reporte TT1 [1]</a:t>
            </a:r>
          </a:p>
        </p:txBody>
      </p:sp>
      <p:sp>
        <p:nvSpPr>
          <p:cNvPr id="6" name="">
            <a:extLst xmlns:a="http://schemas.openxmlformats.org/drawingml/2006/main">
              <a:ext uri="{FF2B5EF4-FFF2-40B4-BE49-F238E27FC236}">
                <a16:creationId xmlns:a16="http://schemas.microsoft.com/office/drawing/2014/main" id="{F2CCB6DD-D5D2-4F5F-B6D0-135C2760B821}"/>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10</a:t>
            </a:r>
          </a:p>
        </p:txBody>
      </p:sp>
      <p:pic>
        <p:nvPicPr>
          <p:cNvPr id="7" name="">
            <a:extLst xmlns:a="http://schemas.openxmlformats.org/drawingml/2006/main">
              <a:ext uri="{FF2B5EF4-FFF2-40B4-BE49-F238E27FC236}">
                <a16:creationId xmlns:a16="http://schemas.microsoft.com/office/drawing/2014/main" id="{ADCAE15F-F90A-4037-97E8-F5F5A41319AF}"/>
              </a:ext>
            </a:extLst>
          </p:cNvPr>
          <p:cNvPicPr>
            <a:picLocks xmlns:a="http://schemas.openxmlformats.org/drawingml/2006/main" noChangeAspect="1"/>
          </p:cNvPicPr>
          <p:nvPr/>
        </p:nvPicPr>
        <p:blipFill>
          <a:blip xmlns:r="http://schemas.openxmlformats.org/officeDocument/2006/relationships" xmlns:a="http://schemas.openxmlformats.org/drawingml/2006/main" r:embed="R7b98863c59b14715"/>
          <a:srcRect xmlns:a="http://schemas.openxmlformats.org/drawingml/2006/main" l="4500" t="6000" r="65000" b="15000"/>
          <a:stretch xmlns:a="http://schemas.openxmlformats.org/drawingml/2006/main"/>
        </p:blipFill>
        <p:spPr>
          <a:xfrm xmlns:a="http://schemas.openxmlformats.org/drawingml/2006/main">
            <a:off x="666750" y="1885950"/>
            <a:ext cx="4572000"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A1356DD-D866-4AC9-8BEE-2765A8FB5922}"/>
              </a:ext>
            </a:extLst>
          </p:cNvPr>
          <p:cNvSpPr>
            <a:spLocks xmlns:a="http://schemas.openxmlformats.org/drawingml/2006/main" noGrp="1"/>
          </p:cNvSpPr>
          <p:nvPr/>
        </p:nvSpPr>
        <p:spPr>
          <a:xfrm xmlns:a="http://schemas.openxmlformats.org/drawingml/2006/main">
            <a:off x="5715000" y="2228850"/>
            <a:ext cx="56197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0">
                <a:solidFill>
                  <a:srgbClr val="263445"/>
                </a:solidFill>
                <a:latin typeface="Lato"/>
                <a:ea typeface="Lato"/>
                <a:cs typeface="Lato"/>
              </a:defRPr>
            </a:defPPr>
          </a:lstStyle>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UR3e · 6 grados de libertad</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Gazebo Harmonic</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ROS 2 Jazzy y ros2_control</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Inferencia en CPU</a:t>
            </a:r>
          </a:p>
        </p:txBody>
      </p:sp>
      <p:sp>
        <p:nvSpPr>
          <p:cNvPr id="9" name="">
            <a:extLst xmlns:a="http://schemas.openxmlformats.org/drawingml/2006/main">
              <a:ext uri="{FF2B5EF4-FFF2-40B4-BE49-F238E27FC236}">
                <a16:creationId xmlns:a16="http://schemas.microsoft.com/office/drawing/2014/main" id="{F9BC3781-3992-4213-BE2B-50F84E5CEC03}"/>
              </a:ext>
            </a:extLst>
          </p:cNvPr>
          <p:cNvSpPr>
            <a:spLocks xmlns:a="http://schemas.openxmlformats.org/drawingml/2006/main" noGrp="1"/>
          </p:cNvSpPr>
          <p:nvPr/>
        </p:nvSpPr>
        <p:spPr>
          <a:xfrm xmlns:a="http://schemas.openxmlformats.org/drawingml/2006/main">
            <a:off x="5715000" y="4991100"/>
            <a:ext cx="56197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500 Hz: control nominal</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100 Hz: referencias y datos</a:t>
            </a:r>
          </a:p>
        </p:txBody>
      </p:sp>
    </p:spTree>
    <p:extLst>
      <p:ext uri="{BB962C8B-B14F-4D97-AF65-F5344CB8AC3E}">
        <p14:creationId xmlns:p14="http://schemas.microsoft.com/office/powerpoint/2010/main" val="7333728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86D1759-DE1B-4B95-86C4-E0EEF42D7C3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ABB36E-12A7-4799-B8E7-2C93819249DB}"/>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8BE8F6DE-E81C-4F34-B437-5202875D740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 RNEA + PD</a:t>
            </a:r>
          </a:p>
        </p:txBody>
      </p:sp>
      <p:sp>
        <p:nvSpPr>
          <p:cNvPr id="4" name="">
            <a:extLst xmlns:a="http://schemas.openxmlformats.org/drawingml/2006/main">
              <a:ext uri="{FF2B5EF4-FFF2-40B4-BE49-F238E27FC236}">
                <a16:creationId xmlns:a16="http://schemas.microsoft.com/office/drawing/2014/main" id="{0D7C7C53-D095-4521-B510-05ADFEDB636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8B4B943-5D35-4CA7-BCD3-CEA79DD5FBC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dinámica de manipuladores [6]; controlador TT1 [1]</a:t>
            </a:r>
          </a:p>
        </p:txBody>
      </p:sp>
      <p:sp>
        <p:nvSpPr>
          <p:cNvPr id="6" name="">
            <a:extLst xmlns:a="http://schemas.openxmlformats.org/drawingml/2006/main">
              <a:ext uri="{FF2B5EF4-FFF2-40B4-BE49-F238E27FC236}">
                <a16:creationId xmlns:a16="http://schemas.microsoft.com/office/drawing/2014/main" id="{4A717B79-3DB5-40F0-9CE5-FAF893F8BC9B}"/>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11</a:t>
            </a:r>
          </a:p>
        </p:txBody>
      </p:sp>
      <p:sp>
        <p:nvSpPr>
          <p:cNvPr id="7" name="">
            <a:extLst xmlns:a="http://schemas.openxmlformats.org/drawingml/2006/main">
              <a:ext uri="{FF2B5EF4-FFF2-40B4-BE49-F238E27FC236}">
                <a16:creationId xmlns:a16="http://schemas.microsoft.com/office/drawing/2014/main" id="{08E1BD61-D0CA-4CDE-A3F2-C66D75B8318B}"/>
              </a:ext>
            </a:extLst>
          </p:cNvPr>
          <p:cNvSpPr>
            <a:spLocks xmlns:a="http://schemas.openxmlformats.org/drawingml/2006/main" noGrp="1"/>
          </p:cNvSpPr>
          <p:nvPr/>
        </p:nvSpPr>
        <p:spPr>
          <a:xfrm xmlns:a="http://schemas.openxmlformats.org/drawingml/2006/main">
            <a:off x="762000" y="1819275"/>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263445"/>
                </a:solidFill>
                <a:latin typeface="Lato"/>
                <a:ea typeface="Lato"/>
                <a:cs typeface="Lato"/>
              </a:defRPr>
            </a:defPPr>
          </a:lstStyle>
          <a:p xmlns:a="http://schemas.openxmlformats.org/drawingml/2006/main">
            <a:pPr algn="ctr">
              <a:defRPr sz="2625" b="1">
                <a:solidFill>
                  <a:srgbClr val="263445"/>
                </a:solidFill>
                <a:latin typeface="Lato"/>
                <a:ea typeface="Lato"/>
                <a:cs typeface="Lato"/>
              </a:defRPr>
            </a:pPr>
            <a:r>
              <a:rPr sz="2625" b="1">
                <a:solidFill>
                  <a:srgbClr val="263445"/>
                </a:solidFill>
                <a:latin typeface="Lato"/>
                <a:ea typeface="Lato"/>
                <a:cs typeface="Lato"/>
              </a:rPr>
              <a:t>τ_total = RNEA(q, q̇, q̈d) + Kp e + Kd ė</a:t>
            </a:r>
          </a:p>
        </p:txBody>
      </p:sp>
      <p:sp>
        <p:nvSpPr>
          <p:cNvPr id="8" name="">
            <a:extLst xmlns:a="http://schemas.openxmlformats.org/drawingml/2006/main">
              <a:ext uri="{FF2B5EF4-FFF2-40B4-BE49-F238E27FC236}">
                <a16:creationId xmlns:a16="http://schemas.microsoft.com/office/drawing/2014/main" id="{342F03EE-5DB9-497E-88CB-B90F318C8006}"/>
              </a:ext>
            </a:extLst>
          </p:cNvPr>
          <p:cNvSpPr>
            <a:spLocks xmlns:a="http://schemas.openxmlformats.org/drawingml/2006/main" noGrp="1"/>
          </p:cNvSpPr>
          <p:nvPr/>
        </p:nvSpPr>
        <p:spPr>
          <a:xfrm xmlns:a="http://schemas.openxmlformats.org/drawingml/2006/main">
            <a:off x="6572250" y="2571750"/>
            <a:ext cx="2095500" cy="6953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40E410BA-6EE7-472C-A250-7338CAAC8F95}"/>
              </a:ext>
            </a:extLst>
          </p:cNvPr>
          <p:cNvSpPr>
            <a:spLocks xmlns:a="http://schemas.openxmlformats.org/drawingml/2006/main" noGrp="1"/>
          </p:cNvSpPr>
          <p:nvPr/>
        </p:nvSpPr>
        <p:spPr>
          <a:xfrm xmlns:a="http://schemas.openxmlformats.org/drawingml/2006/main">
            <a:off x="6572250" y="2571750"/>
            <a:ext cx="47625" cy="69532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F1BE162-8FC1-4F01-B661-D6EBC3634871}"/>
              </a:ext>
            </a:extLst>
          </p:cNvPr>
          <p:cNvSpPr>
            <a:spLocks xmlns:a="http://schemas.openxmlformats.org/drawingml/2006/main" noGrp="1"/>
          </p:cNvSpPr>
          <p:nvPr/>
        </p:nvSpPr>
        <p:spPr>
          <a:xfrm xmlns:a="http://schemas.openxmlformats.org/drawingml/2006/main">
            <a:off x="6715125" y="2714625"/>
            <a:ext cx="1828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RNEA</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(q, q̇, q̈d)</a:t>
            </a:r>
          </a:p>
        </p:txBody>
      </p:sp>
      <p:sp>
        <p:nvSpPr>
          <p:cNvPr id="11" name="">
            <a:extLst xmlns:a="http://schemas.openxmlformats.org/drawingml/2006/main">
              <a:ext uri="{FF2B5EF4-FFF2-40B4-BE49-F238E27FC236}">
                <a16:creationId xmlns:a16="http://schemas.microsoft.com/office/drawing/2014/main" id="{4569A18C-A7F9-4EAA-9BF3-1F66C247BB16}"/>
              </a:ext>
            </a:extLst>
          </p:cNvPr>
          <p:cNvSpPr>
            <a:spLocks xmlns:a="http://schemas.openxmlformats.org/drawingml/2006/main" noGrp="1"/>
          </p:cNvSpPr>
          <p:nvPr/>
        </p:nvSpPr>
        <p:spPr>
          <a:xfrm xmlns:a="http://schemas.openxmlformats.org/drawingml/2006/main">
            <a:off x="7591425" y="3267075"/>
            <a:ext cx="57150" cy="2476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9CFE3FE-126F-466D-9AB8-2C9FDEEBBA4C}"/>
              </a:ext>
            </a:extLst>
          </p:cNvPr>
          <p:cNvSpPr>
            <a:spLocks xmlns:a="http://schemas.openxmlformats.org/drawingml/2006/main" noGrp="1"/>
          </p:cNvSpPr>
          <p:nvPr/>
        </p:nvSpPr>
        <p:spPr>
          <a:xfrm xmlns:a="http://schemas.openxmlformats.org/drawingml/2006/main">
            <a:off x="7515225" y="3486150"/>
            <a:ext cx="209550" cy="200025"/>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0333BF0-9A43-427E-BB80-EA5829ECF59E}"/>
              </a:ext>
            </a:extLst>
          </p:cNvPr>
          <p:cNvSpPr>
            <a:spLocks xmlns:a="http://schemas.openxmlformats.org/drawingml/2006/main" noGrp="1"/>
          </p:cNvSpPr>
          <p:nvPr/>
        </p:nvSpPr>
        <p:spPr>
          <a:xfrm xmlns:a="http://schemas.openxmlformats.org/drawingml/2006/main">
            <a:off x="619125" y="3686175"/>
            <a:ext cx="2524125"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4" name="">
            <a:extLst xmlns:a="http://schemas.openxmlformats.org/drawingml/2006/main">
              <a:ext uri="{FF2B5EF4-FFF2-40B4-BE49-F238E27FC236}">
                <a16:creationId xmlns:a16="http://schemas.microsoft.com/office/drawing/2014/main" id="{12D1F2A5-498F-463F-B5C3-0AE6EECAF826}"/>
              </a:ext>
            </a:extLst>
          </p:cNvPr>
          <p:cNvSpPr>
            <a:spLocks xmlns:a="http://schemas.openxmlformats.org/drawingml/2006/main" noGrp="1"/>
          </p:cNvSpPr>
          <p:nvPr/>
        </p:nvSpPr>
        <p:spPr>
          <a:xfrm xmlns:a="http://schemas.openxmlformats.org/drawingml/2006/main">
            <a:off x="619125" y="3686175"/>
            <a:ext cx="47625" cy="8382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488DB1E-4EA8-444B-9E0D-E747428819BC}"/>
              </a:ext>
            </a:extLst>
          </p:cNvPr>
          <p:cNvSpPr>
            <a:spLocks xmlns:a="http://schemas.openxmlformats.org/drawingml/2006/main" noGrp="1"/>
          </p:cNvSpPr>
          <p:nvPr/>
        </p:nvSpPr>
        <p:spPr>
          <a:xfrm xmlns:a="http://schemas.openxmlformats.org/drawingml/2006/main">
            <a:off x="762000" y="3829050"/>
            <a:ext cx="22574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Errores de posición</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y velocidad</a:t>
            </a:r>
          </a:p>
        </p:txBody>
      </p:sp>
      <p:sp>
        <p:nvSpPr>
          <p:cNvPr id="16" name="">
            <a:extLst xmlns:a="http://schemas.openxmlformats.org/drawingml/2006/main">
              <a:ext uri="{FF2B5EF4-FFF2-40B4-BE49-F238E27FC236}">
                <a16:creationId xmlns:a16="http://schemas.microsoft.com/office/drawing/2014/main" id="{C2910FDF-2971-4FC8-B56D-5F794C654178}"/>
              </a:ext>
            </a:extLst>
          </p:cNvPr>
          <p:cNvSpPr>
            <a:spLocks xmlns:a="http://schemas.openxmlformats.org/drawingml/2006/main" noGrp="1"/>
          </p:cNvSpPr>
          <p:nvPr/>
        </p:nvSpPr>
        <p:spPr>
          <a:xfrm xmlns:a="http://schemas.openxmlformats.org/drawingml/2006/main">
            <a:off x="3219450" y="3990975"/>
            <a:ext cx="2857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AC0EC71-5834-4BA1-B80C-497506BE571C}"/>
              </a:ext>
            </a:extLst>
          </p:cNvPr>
          <p:cNvSpPr>
            <a:spLocks xmlns:a="http://schemas.openxmlformats.org/drawingml/2006/main" noGrp="1"/>
          </p:cNvSpPr>
          <p:nvPr/>
        </p:nvSpPr>
        <p:spPr>
          <a:xfrm xmlns:a="http://schemas.openxmlformats.org/drawingml/2006/main">
            <a:off x="3619500" y="3686175"/>
            <a:ext cx="2524125"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8" name="">
            <a:extLst xmlns:a="http://schemas.openxmlformats.org/drawingml/2006/main">
              <a:ext uri="{FF2B5EF4-FFF2-40B4-BE49-F238E27FC236}">
                <a16:creationId xmlns:a16="http://schemas.microsoft.com/office/drawing/2014/main" id="{FF81BCD8-96D5-436E-9902-0E4B9AFADD7B}"/>
              </a:ext>
            </a:extLst>
          </p:cNvPr>
          <p:cNvSpPr>
            <a:spLocks xmlns:a="http://schemas.openxmlformats.org/drawingml/2006/main" noGrp="1"/>
          </p:cNvSpPr>
          <p:nvPr/>
        </p:nvSpPr>
        <p:spPr>
          <a:xfrm xmlns:a="http://schemas.openxmlformats.org/drawingml/2006/main">
            <a:off x="3619500" y="3686175"/>
            <a:ext cx="47625" cy="838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870B7AD-C154-403B-A97E-4FCC4FF1DF06}"/>
              </a:ext>
            </a:extLst>
          </p:cNvPr>
          <p:cNvSpPr>
            <a:spLocks xmlns:a="http://schemas.openxmlformats.org/drawingml/2006/main" noGrp="1"/>
          </p:cNvSpPr>
          <p:nvPr/>
        </p:nvSpPr>
        <p:spPr>
          <a:xfrm xmlns:a="http://schemas.openxmlformats.org/drawingml/2006/main">
            <a:off x="3762375" y="3829050"/>
            <a:ext cx="22574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263445"/>
                </a:solidFill>
                <a:latin typeface="Lato"/>
                <a:ea typeface="Lato"/>
                <a:cs typeface="Lato"/>
              </a:defRPr>
            </a:defPPr>
          </a:lstStyle>
          <a:p xmlns:a="http://schemas.openxmlformats.org/drawingml/2006/main">
            <a:pPr algn="ctr">
              <a:defRPr sz="1950" b="1">
                <a:solidFill>
                  <a:srgbClr val="263445"/>
                </a:solidFill>
                <a:latin typeface="Lato"/>
                <a:ea typeface="Lato"/>
                <a:cs typeface="Lato"/>
              </a:defRPr>
            </a:pPr>
            <a:r>
              <a:rPr sz="1950" b="1">
                <a:solidFill>
                  <a:srgbClr val="263445"/>
                </a:solidFill>
                <a:latin typeface="Lato"/>
                <a:ea typeface="Lato"/>
                <a:cs typeface="Lato"/>
              </a:rPr>
              <a:t>PD en torque</a:t>
            </a:r>
          </a:p>
        </p:txBody>
      </p:sp>
      <p:sp>
        <p:nvSpPr>
          <p:cNvPr id="20" name="">
            <a:extLst xmlns:a="http://schemas.openxmlformats.org/drawingml/2006/main">
              <a:ext uri="{FF2B5EF4-FFF2-40B4-BE49-F238E27FC236}">
                <a16:creationId xmlns:a16="http://schemas.microsoft.com/office/drawing/2014/main" id="{FBDC6E19-6254-49D3-B480-B58D39BBD6D4}"/>
              </a:ext>
            </a:extLst>
          </p:cNvPr>
          <p:cNvSpPr>
            <a:spLocks xmlns:a="http://schemas.openxmlformats.org/drawingml/2006/main" noGrp="1"/>
          </p:cNvSpPr>
          <p:nvPr/>
        </p:nvSpPr>
        <p:spPr>
          <a:xfrm xmlns:a="http://schemas.openxmlformats.org/drawingml/2006/main">
            <a:off x="6219825" y="3990975"/>
            <a:ext cx="27622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3BFB24F-8190-4831-89A2-EE97D37A94AD}"/>
              </a:ext>
            </a:extLst>
          </p:cNvPr>
          <p:cNvSpPr>
            <a:spLocks xmlns:a="http://schemas.openxmlformats.org/drawingml/2006/main" noGrp="1"/>
          </p:cNvSpPr>
          <p:nvPr/>
        </p:nvSpPr>
        <p:spPr>
          <a:xfrm xmlns:a="http://schemas.openxmlformats.org/drawingml/2006/main">
            <a:off x="6572250" y="3686175"/>
            <a:ext cx="209550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2" name="">
            <a:extLst xmlns:a="http://schemas.openxmlformats.org/drawingml/2006/main">
              <a:ext uri="{FF2B5EF4-FFF2-40B4-BE49-F238E27FC236}">
                <a16:creationId xmlns:a16="http://schemas.microsoft.com/office/drawing/2014/main" id="{B75F2728-F797-454D-BA90-438643B3A1B0}"/>
              </a:ext>
            </a:extLst>
          </p:cNvPr>
          <p:cNvSpPr>
            <a:spLocks xmlns:a="http://schemas.openxmlformats.org/drawingml/2006/main" noGrp="1"/>
          </p:cNvSpPr>
          <p:nvPr/>
        </p:nvSpPr>
        <p:spPr>
          <a:xfrm xmlns:a="http://schemas.openxmlformats.org/drawingml/2006/main">
            <a:off x="6572250" y="3686175"/>
            <a:ext cx="47625" cy="8382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890DC85-3874-48DA-811D-7886D4DD85E2}"/>
              </a:ext>
            </a:extLst>
          </p:cNvPr>
          <p:cNvSpPr>
            <a:spLocks xmlns:a="http://schemas.openxmlformats.org/drawingml/2006/main" noGrp="1"/>
          </p:cNvSpPr>
          <p:nvPr/>
        </p:nvSpPr>
        <p:spPr>
          <a:xfrm xmlns:a="http://schemas.openxmlformats.org/drawingml/2006/main">
            <a:off x="6715125" y="3829050"/>
            <a:ext cx="1828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a:solidFill>
                  <a:srgbClr val="263445"/>
                </a:solidFill>
                <a:latin typeface="Lato"/>
                <a:ea typeface="Lato"/>
                <a:cs typeface="Lato"/>
              </a:defRPr>
            </a:defPPr>
          </a:lstStyle>
          <a:p xmlns:a="http://schemas.openxmlformats.org/drawingml/2006/main">
            <a:pPr algn="ctr">
              <a:defRPr sz="2025" b="1">
                <a:solidFill>
                  <a:srgbClr val="263445"/>
                </a:solidFill>
                <a:latin typeface="Lato"/>
                <a:ea typeface="Lato"/>
                <a:cs typeface="Lato"/>
              </a:defRPr>
            </a:pPr>
            <a:r>
              <a:rPr sz="2025" b="1">
                <a:solidFill>
                  <a:srgbClr val="263445"/>
                </a:solidFill>
                <a:latin typeface="Lato"/>
                <a:ea typeface="Lato"/>
                <a:cs typeface="Lato"/>
              </a:rPr>
              <a:t>Suma</a:t>
            </a:r>
          </a:p>
        </p:txBody>
      </p:sp>
      <p:sp>
        <p:nvSpPr>
          <p:cNvPr id="24" name="">
            <a:extLst xmlns:a="http://schemas.openxmlformats.org/drawingml/2006/main">
              <a:ext uri="{FF2B5EF4-FFF2-40B4-BE49-F238E27FC236}">
                <a16:creationId xmlns:a16="http://schemas.microsoft.com/office/drawing/2014/main" id="{6C915114-28F3-479B-955B-9243097AB7AD}"/>
              </a:ext>
            </a:extLst>
          </p:cNvPr>
          <p:cNvSpPr>
            <a:spLocks xmlns:a="http://schemas.openxmlformats.org/drawingml/2006/main" noGrp="1"/>
          </p:cNvSpPr>
          <p:nvPr/>
        </p:nvSpPr>
        <p:spPr>
          <a:xfrm xmlns:a="http://schemas.openxmlformats.org/drawingml/2006/main">
            <a:off x="8763000" y="3990975"/>
            <a:ext cx="2857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6C6E364-D697-485E-B311-25809427569B}"/>
              </a:ext>
            </a:extLst>
          </p:cNvPr>
          <p:cNvSpPr>
            <a:spLocks xmlns:a="http://schemas.openxmlformats.org/drawingml/2006/main" noGrp="1"/>
          </p:cNvSpPr>
          <p:nvPr/>
        </p:nvSpPr>
        <p:spPr>
          <a:xfrm xmlns:a="http://schemas.openxmlformats.org/drawingml/2006/main">
            <a:off x="9144000" y="3686175"/>
            <a:ext cx="23812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6" name="">
            <a:extLst xmlns:a="http://schemas.openxmlformats.org/drawingml/2006/main">
              <a:ext uri="{FF2B5EF4-FFF2-40B4-BE49-F238E27FC236}">
                <a16:creationId xmlns:a16="http://schemas.microsoft.com/office/drawing/2014/main" id="{76D74701-89A9-49FB-AA95-8FA77D83B2B6}"/>
              </a:ext>
            </a:extLst>
          </p:cNvPr>
          <p:cNvSpPr>
            <a:spLocks xmlns:a="http://schemas.openxmlformats.org/drawingml/2006/main" noGrp="1"/>
          </p:cNvSpPr>
          <p:nvPr/>
        </p:nvSpPr>
        <p:spPr>
          <a:xfrm xmlns:a="http://schemas.openxmlformats.org/drawingml/2006/main">
            <a:off x="9144000" y="3686175"/>
            <a:ext cx="47625" cy="8382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AC9ABA9-1E27-4FBE-A46E-B8BD36036581}"/>
              </a:ext>
            </a:extLst>
          </p:cNvPr>
          <p:cNvSpPr>
            <a:spLocks xmlns:a="http://schemas.openxmlformats.org/drawingml/2006/main" noGrp="1"/>
          </p:cNvSpPr>
          <p:nvPr/>
        </p:nvSpPr>
        <p:spPr>
          <a:xfrm xmlns:a="http://schemas.openxmlformats.org/drawingml/2006/main">
            <a:off x="9286875" y="3829050"/>
            <a:ext cx="2114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a:solidFill>
                  <a:srgbClr val="263445"/>
                </a:solidFill>
                <a:latin typeface="Lato"/>
                <a:ea typeface="Lato"/>
                <a:cs typeface="Lato"/>
              </a:defRPr>
            </a:defPPr>
          </a:lstStyle>
          <a:p xmlns:a="http://schemas.openxmlformats.org/drawingml/2006/main">
            <a:pPr algn="ctr">
              <a:defRPr sz="2025" b="1">
                <a:solidFill>
                  <a:srgbClr val="263445"/>
                </a:solidFill>
                <a:latin typeface="Lato"/>
                <a:ea typeface="Lato"/>
                <a:cs typeface="Lato"/>
              </a:defRPr>
            </a:pPr>
            <a:r>
              <a:rPr sz="2025" b="1">
                <a:solidFill>
                  <a:srgbClr val="263445"/>
                </a:solidFill>
                <a:latin typeface="Lato"/>
                <a:ea typeface="Lato"/>
                <a:cs typeface="Lato"/>
              </a:rPr>
              <a:t>Torque total</a:t>
            </a:r>
          </a:p>
        </p:txBody>
      </p:sp>
      <p:sp>
        <p:nvSpPr>
          <p:cNvPr id="28" name="">
            <a:extLst xmlns:a="http://schemas.openxmlformats.org/drawingml/2006/main">
              <a:ext uri="{FF2B5EF4-FFF2-40B4-BE49-F238E27FC236}">
                <a16:creationId xmlns:a16="http://schemas.microsoft.com/office/drawing/2014/main" id="{C8625BC4-8350-4B56-BE37-361ECCA7A711}"/>
              </a:ext>
            </a:extLst>
          </p:cNvPr>
          <p:cNvSpPr>
            <a:spLocks xmlns:a="http://schemas.openxmlformats.org/drawingml/2006/main" noGrp="1"/>
          </p:cNvSpPr>
          <p:nvPr/>
        </p:nvSpPr>
        <p:spPr>
          <a:xfrm xmlns:a="http://schemas.openxmlformats.org/drawingml/2006/main">
            <a:off x="714375" y="4791075"/>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Error de posición: referencia − posición actual.</a:t>
            </a:r>
          </a:p>
        </p:txBody>
      </p:sp>
      <p:sp>
        <p:nvSpPr>
          <p:cNvPr id="29" name="">
            <a:extLst xmlns:a="http://schemas.openxmlformats.org/drawingml/2006/main">
              <a:ext uri="{FF2B5EF4-FFF2-40B4-BE49-F238E27FC236}">
                <a16:creationId xmlns:a16="http://schemas.microsoft.com/office/drawing/2014/main" id="{8E476B32-CBB4-4439-BB39-817589DE747D}"/>
              </a:ext>
            </a:extLst>
          </p:cNvPr>
          <p:cNvSpPr>
            <a:spLocks xmlns:a="http://schemas.openxmlformats.org/drawingml/2006/main" noGrp="1"/>
          </p:cNvSpPr>
          <p:nvPr/>
        </p:nvSpPr>
        <p:spPr>
          <a:xfrm xmlns:a="http://schemas.openxmlformats.org/drawingml/2006/main">
            <a:off x="714375" y="521970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Error de velocidad: velocidad deseada − velocidad actual.</a:t>
            </a:r>
          </a:p>
        </p:txBody>
      </p:sp>
      <p:sp>
        <p:nvSpPr>
          <p:cNvPr id="30" name="">
            <a:extLst xmlns:a="http://schemas.openxmlformats.org/drawingml/2006/main">
              <a:ext uri="{FF2B5EF4-FFF2-40B4-BE49-F238E27FC236}">
                <a16:creationId xmlns:a16="http://schemas.microsoft.com/office/drawing/2014/main" id="{C1385B6D-2B00-4E26-B184-2A77BAF921E1}"/>
              </a:ext>
            </a:extLst>
          </p:cNvPr>
          <p:cNvSpPr>
            <a:spLocks xmlns:a="http://schemas.openxmlformats.org/drawingml/2006/main" noGrp="1"/>
          </p:cNvSpPr>
          <p:nvPr/>
        </p:nvSpPr>
        <p:spPr>
          <a:xfrm xmlns:a="http://schemas.openxmlformats.org/drawingml/2006/main">
            <a:off x="714375" y="5800725"/>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El torque total se utiliza como objetivo de entrenamiento.</a:t>
            </a:r>
          </a:p>
        </p:txBody>
      </p:sp>
    </p:spTree>
    <p:extLst>
      <p:ext uri="{BB962C8B-B14F-4D97-AF65-F5344CB8AC3E}">
        <p14:creationId xmlns:p14="http://schemas.microsoft.com/office/powerpoint/2010/main" val="149116710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A9DFDD-25C6-426A-B107-15F5F810CCD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8B15B4-6AF6-45D7-A48B-E7F75293167C}"/>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NEURONAL</a:t>
            </a:r>
          </a:p>
        </p:txBody>
      </p:sp>
      <p:sp>
        <p:nvSpPr>
          <p:cNvPr id="3" name="">
            <a:extLst xmlns:a="http://schemas.openxmlformats.org/drawingml/2006/main">
              <a:ext uri="{FF2B5EF4-FFF2-40B4-BE49-F238E27FC236}">
                <a16:creationId xmlns:a16="http://schemas.microsoft.com/office/drawing/2014/main" id="{4300FCA6-AD3B-48BA-841B-B185B1F4DD81}"/>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Topología de la red implementada</a:t>
            </a:r>
          </a:p>
        </p:txBody>
      </p:sp>
      <p:sp>
        <p:nvSpPr>
          <p:cNvPr id="4" name="">
            <a:extLst xmlns:a="http://schemas.openxmlformats.org/drawingml/2006/main">
              <a:ext uri="{FF2B5EF4-FFF2-40B4-BE49-F238E27FC236}">
                <a16:creationId xmlns:a16="http://schemas.microsoft.com/office/drawing/2014/main" id="{56A18D93-E0C8-407D-BA21-32DDE892E3C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6225EF7-B69A-4150-BD91-89B10339209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figura corregida y código de TT1 [1]</a:t>
            </a:r>
          </a:p>
        </p:txBody>
      </p:sp>
      <p:sp>
        <p:nvSpPr>
          <p:cNvPr id="6" name="">
            <a:extLst xmlns:a="http://schemas.openxmlformats.org/drawingml/2006/main">
              <a:ext uri="{FF2B5EF4-FFF2-40B4-BE49-F238E27FC236}">
                <a16:creationId xmlns:a16="http://schemas.microsoft.com/office/drawing/2014/main" id="{4858B164-2D1C-41DE-91EB-3D18B5BBEABB}"/>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12</a:t>
            </a:r>
          </a:p>
        </p:txBody>
      </p:sp>
      <p:pic>
        <p:nvPicPr>
          <p:cNvPr id="7" name="">
            <a:extLst xmlns:a="http://schemas.openxmlformats.org/drawingml/2006/main">
              <a:ext uri="{FF2B5EF4-FFF2-40B4-BE49-F238E27FC236}">
                <a16:creationId xmlns:a16="http://schemas.microsoft.com/office/drawing/2014/main" id="{CC5511B4-BF12-4E53-8E69-6BCF56855CB8}"/>
              </a:ext>
            </a:extLst>
          </p:cNvPr>
          <p:cNvPicPr>
            <a:picLocks xmlns:a="http://schemas.openxmlformats.org/drawingml/2006/main" noChangeAspect="1"/>
          </p:cNvPicPr>
          <p:nvPr/>
        </p:nvPicPr>
        <p:blipFill>
          <a:blip xmlns:r="http://schemas.openxmlformats.org/officeDocument/2006/relationships" xmlns:a="http://schemas.openxmlformats.org/drawingml/2006/main" r:embed="Ra089cebe89a54398"/>
          <a:srcRect xmlns:a="http://schemas.openxmlformats.org/drawingml/2006/main" l="0" t="0" r="0" b="57000"/>
          <a:stretch xmlns:a="http://schemas.openxmlformats.org/drawingml/2006/main"/>
        </p:blipFill>
        <p:spPr>
          <a:xfrm xmlns:a="http://schemas.openxmlformats.org/drawingml/2006/main">
            <a:off x="666750" y="1790700"/>
            <a:ext cx="10858500" cy="3381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2282EF2-3259-49F5-979A-73F6784D07CD}"/>
              </a:ext>
            </a:extLst>
          </p:cNvPr>
          <p:cNvSpPr>
            <a:spLocks xmlns:a="http://schemas.openxmlformats.org/drawingml/2006/main" noGrp="1"/>
          </p:cNvSpPr>
          <p:nvPr/>
        </p:nvSpPr>
        <p:spPr>
          <a:xfrm xmlns:a="http://schemas.openxmlformats.org/drawingml/2006/main">
            <a:off x="857250" y="5276850"/>
            <a:ext cx="10572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0F766E"/>
                </a:solidFill>
                <a:latin typeface="Lato"/>
                <a:ea typeface="Lato"/>
                <a:cs typeface="Lato"/>
              </a:defRPr>
            </a:defPPr>
          </a:lstStyle>
          <a:p xmlns:a="http://schemas.openxmlformats.org/drawingml/2006/main">
            <a:pPr algn="ctr">
              <a:defRPr sz="2550" b="1">
                <a:solidFill>
                  <a:srgbClr val="0F766E"/>
                </a:solidFill>
                <a:latin typeface="Lato"/>
                <a:ea typeface="Lato"/>
                <a:cs typeface="Lato"/>
              </a:defRPr>
            </a:pPr>
            <a:r>
              <a:rPr sz="2550" b="1">
                <a:solidFill>
                  <a:srgbClr val="0F766E"/>
                </a:solidFill>
                <a:latin typeface="Lato"/>
                <a:ea typeface="Lato"/>
                <a:cs typeface="Lato"/>
              </a:rPr>
              <a:t>42 → 256 → 512 → 256 → 128 → 6</a:t>
            </a:r>
          </a:p>
        </p:txBody>
      </p:sp>
      <p:sp>
        <p:nvSpPr>
          <p:cNvPr id="9" name="">
            <a:extLst xmlns:a="http://schemas.openxmlformats.org/drawingml/2006/main">
              <a:ext uri="{FF2B5EF4-FFF2-40B4-BE49-F238E27FC236}">
                <a16:creationId xmlns:a16="http://schemas.microsoft.com/office/drawing/2014/main" id="{0D04B6A4-1949-4A1C-886F-672C1AE21807}"/>
              </a:ext>
            </a:extLst>
          </p:cNvPr>
          <p:cNvSpPr>
            <a:spLocks xmlns:a="http://schemas.openxmlformats.org/drawingml/2006/main" noGrp="1"/>
          </p:cNvSpPr>
          <p:nvPr/>
        </p:nvSpPr>
        <p:spPr>
          <a:xfrm xmlns:a="http://schemas.openxmlformats.org/drawingml/2006/main">
            <a:off x="857250" y="57816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307,590 parámetros entrenables</a:t>
            </a:r>
          </a:p>
        </p:txBody>
      </p:sp>
    </p:spTree>
    <p:extLst>
      <p:ext uri="{BB962C8B-B14F-4D97-AF65-F5344CB8AC3E}">
        <p14:creationId xmlns:p14="http://schemas.microsoft.com/office/powerpoint/2010/main" val="8826318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C71410B-B167-46F6-BE4A-D50E9CB8055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E7F2CD0-7983-40D2-BF7A-C9B7EA9588F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E0103004-D2FA-4B7A-B32B-AC0F44FCDF6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 con red neuronal</a:t>
            </a:r>
          </a:p>
        </p:txBody>
      </p:sp>
      <p:sp>
        <p:nvSpPr>
          <p:cNvPr id="4" name="">
            <a:extLst xmlns:a="http://schemas.openxmlformats.org/drawingml/2006/main">
              <a:ext uri="{FF2B5EF4-FFF2-40B4-BE49-F238E27FC236}">
                <a16:creationId xmlns:a16="http://schemas.microsoft.com/office/drawing/2014/main" id="{E3175DF2-A2F5-4051-9DD7-FAA825A4C35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A65A2BB-11BF-489A-BFA4-9F3D362199F9}"/>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arquitectura funcional corregida de TT1 [1]</a:t>
            </a:r>
          </a:p>
        </p:txBody>
      </p:sp>
      <p:sp>
        <p:nvSpPr>
          <p:cNvPr id="6" name="">
            <a:extLst xmlns:a="http://schemas.openxmlformats.org/drawingml/2006/main">
              <a:ext uri="{FF2B5EF4-FFF2-40B4-BE49-F238E27FC236}">
                <a16:creationId xmlns:a16="http://schemas.microsoft.com/office/drawing/2014/main" id="{7304A5DA-6B59-4E8E-AD24-4982B71FACD7}"/>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13</a:t>
            </a:r>
          </a:p>
        </p:txBody>
      </p:sp>
      <p:sp>
        <p:nvSpPr>
          <p:cNvPr id="7" name="">
            <a:extLst xmlns:a="http://schemas.openxmlformats.org/drawingml/2006/main">
              <a:ext uri="{FF2B5EF4-FFF2-40B4-BE49-F238E27FC236}">
                <a16:creationId xmlns:a16="http://schemas.microsoft.com/office/drawing/2014/main" id="{58E1E9A6-7B9E-45ED-9291-44BAA8130F58}"/>
              </a:ext>
            </a:extLst>
          </p:cNvPr>
          <p:cNvSpPr>
            <a:spLocks xmlns:a="http://schemas.openxmlformats.org/drawingml/2006/main" noGrp="1"/>
          </p:cNvSpPr>
          <p:nvPr/>
        </p:nvSpPr>
        <p:spPr>
          <a:xfrm xmlns:a="http://schemas.openxmlformats.org/drawingml/2006/main">
            <a:off x="619125" y="1819275"/>
            <a:ext cx="3048000" cy="8572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B35C7C17-6F8D-4AF4-AC3C-A367E6CD9AE2}"/>
              </a:ext>
            </a:extLst>
          </p:cNvPr>
          <p:cNvSpPr>
            <a:spLocks xmlns:a="http://schemas.openxmlformats.org/drawingml/2006/main" noGrp="1"/>
          </p:cNvSpPr>
          <p:nvPr/>
        </p:nvSpPr>
        <p:spPr>
          <a:xfrm xmlns:a="http://schemas.openxmlformats.org/drawingml/2006/main">
            <a:off x="619125" y="1819275"/>
            <a:ext cx="47625" cy="8572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5EF25FC-FEDC-4FEE-802D-E301FB4DCCFF}"/>
              </a:ext>
            </a:extLst>
          </p:cNvPr>
          <p:cNvSpPr>
            <a:spLocks xmlns:a="http://schemas.openxmlformats.org/drawingml/2006/main" noGrp="1"/>
          </p:cNvSpPr>
          <p:nvPr/>
        </p:nvSpPr>
        <p:spPr>
          <a:xfrm xmlns:a="http://schemas.openxmlformats.org/drawingml/2006/main">
            <a:off x="762000" y="1962150"/>
            <a:ext cx="2781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RNEA</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Característica dinámica</a:t>
            </a:r>
          </a:p>
        </p:txBody>
      </p:sp>
      <p:sp>
        <p:nvSpPr>
          <p:cNvPr id="10" name="">
            <a:extLst xmlns:a="http://schemas.openxmlformats.org/drawingml/2006/main">
              <a:ext uri="{FF2B5EF4-FFF2-40B4-BE49-F238E27FC236}">
                <a16:creationId xmlns:a16="http://schemas.microsoft.com/office/drawing/2014/main" id="{B59542D3-ED66-407D-87C8-4203399CB36A}"/>
              </a:ext>
            </a:extLst>
          </p:cNvPr>
          <p:cNvSpPr>
            <a:spLocks xmlns:a="http://schemas.openxmlformats.org/drawingml/2006/main" noGrp="1"/>
          </p:cNvSpPr>
          <p:nvPr/>
        </p:nvSpPr>
        <p:spPr>
          <a:xfrm xmlns:a="http://schemas.openxmlformats.org/drawingml/2006/main">
            <a:off x="1619250" y="2676525"/>
            <a:ext cx="57150" cy="3810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2A99E95-AE88-4085-BC9D-3AA557FF6E50}"/>
              </a:ext>
            </a:extLst>
          </p:cNvPr>
          <p:cNvSpPr>
            <a:spLocks xmlns:a="http://schemas.openxmlformats.org/drawingml/2006/main" noGrp="1"/>
          </p:cNvSpPr>
          <p:nvPr/>
        </p:nvSpPr>
        <p:spPr>
          <a:xfrm xmlns:a="http://schemas.openxmlformats.org/drawingml/2006/main">
            <a:off x="1552575" y="2971800"/>
            <a:ext cx="209550" cy="266700"/>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C356D31-FAA7-482A-AF3D-A63CEB4A9569}"/>
              </a:ext>
            </a:extLst>
          </p:cNvPr>
          <p:cNvSpPr>
            <a:spLocks xmlns:a="http://schemas.openxmlformats.org/drawingml/2006/main" noGrp="1"/>
          </p:cNvSpPr>
          <p:nvPr/>
        </p:nvSpPr>
        <p:spPr>
          <a:xfrm xmlns:a="http://schemas.openxmlformats.org/drawingml/2006/main">
            <a:off x="6191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41B9CD43-DFD1-4111-9CF9-9BF2A74EDED2}"/>
              </a:ext>
            </a:extLst>
          </p:cNvPr>
          <p:cNvSpPr>
            <a:spLocks xmlns:a="http://schemas.openxmlformats.org/drawingml/2006/main" noGrp="1"/>
          </p:cNvSpPr>
          <p:nvPr/>
        </p:nvSpPr>
        <p:spPr>
          <a:xfrm xmlns:a="http://schemas.openxmlformats.org/drawingml/2006/main">
            <a:off x="6191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4FDF0F9-184A-4DBD-A90A-F9E695941CFA}"/>
              </a:ext>
            </a:extLst>
          </p:cNvPr>
          <p:cNvSpPr>
            <a:spLocks xmlns:a="http://schemas.openxmlformats.org/drawingml/2006/main" noGrp="1"/>
          </p:cNvSpPr>
          <p:nvPr/>
        </p:nvSpPr>
        <p:spPr>
          <a:xfrm xmlns:a="http://schemas.openxmlformats.org/drawingml/2006/main">
            <a:off x="7620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42 entradas</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Normalización</a:t>
            </a:r>
          </a:p>
        </p:txBody>
      </p:sp>
      <p:sp>
        <p:nvSpPr>
          <p:cNvPr id="15" name="">
            <a:extLst xmlns:a="http://schemas.openxmlformats.org/drawingml/2006/main">
              <a:ext uri="{FF2B5EF4-FFF2-40B4-BE49-F238E27FC236}">
                <a16:creationId xmlns:a16="http://schemas.microsoft.com/office/drawing/2014/main" id="{BF3C5905-5E27-43D3-ACD0-B485EFD12E10}"/>
              </a:ext>
            </a:extLst>
          </p:cNvPr>
          <p:cNvSpPr>
            <a:spLocks xmlns:a="http://schemas.openxmlformats.org/drawingml/2006/main" noGrp="1"/>
          </p:cNvSpPr>
          <p:nvPr/>
        </p:nvSpPr>
        <p:spPr>
          <a:xfrm xmlns:a="http://schemas.openxmlformats.org/drawingml/2006/main">
            <a:off x="270510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662A12C-130F-4ADA-B83D-0620F345D8D7}"/>
              </a:ext>
            </a:extLst>
          </p:cNvPr>
          <p:cNvSpPr>
            <a:spLocks xmlns:a="http://schemas.openxmlformats.org/drawingml/2006/main" noGrp="1"/>
          </p:cNvSpPr>
          <p:nvPr/>
        </p:nvSpPr>
        <p:spPr>
          <a:xfrm xmlns:a="http://schemas.openxmlformats.org/drawingml/2006/main">
            <a:off x="289560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0910C241-90A4-477C-9E32-83514A788D6B}"/>
              </a:ext>
            </a:extLst>
          </p:cNvPr>
          <p:cNvSpPr>
            <a:spLocks xmlns:a="http://schemas.openxmlformats.org/drawingml/2006/main" noGrp="1"/>
          </p:cNvSpPr>
          <p:nvPr/>
        </p:nvSpPr>
        <p:spPr>
          <a:xfrm xmlns:a="http://schemas.openxmlformats.org/drawingml/2006/main">
            <a:off x="2895600" y="3295650"/>
            <a:ext cx="47625" cy="1171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CCF7665-DD91-4C94-8A2E-D7EB5FF75369}"/>
              </a:ext>
            </a:extLst>
          </p:cNvPr>
          <p:cNvSpPr>
            <a:spLocks xmlns:a="http://schemas.openxmlformats.org/drawingml/2006/main" noGrp="1"/>
          </p:cNvSpPr>
          <p:nvPr/>
        </p:nvSpPr>
        <p:spPr>
          <a:xfrm xmlns:a="http://schemas.openxmlformats.org/drawingml/2006/main">
            <a:off x="303847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MLP</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FP32 / INT8</a:t>
            </a:r>
          </a:p>
        </p:txBody>
      </p:sp>
      <p:sp>
        <p:nvSpPr>
          <p:cNvPr id="19" name="">
            <a:extLst xmlns:a="http://schemas.openxmlformats.org/drawingml/2006/main">
              <a:ext uri="{FF2B5EF4-FFF2-40B4-BE49-F238E27FC236}">
                <a16:creationId xmlns:a16="http://schemas.microsoft.com/office/drawing/2014/main" id="{1727041B-685C-4975-80E6-E071004E0EDD}"/>
              </a:ext>
            </a:extLst>
          </p:cNvPr>
          <p:cNvSpPr>
            <a:spLocks xmlns:a="http://schemas.openxmlformats.org/drawingml/2006/main" noGrp="1"/>
          </p:cNvSpPr>
          <p:nvPr/>
        </p:nvSpPr>
        <p:spPr>
          <a:xfrm xmlns:a="http://schemas.openxmlformats.org/drawingml/2006/main">
            <a:off x="498157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5243382-FF27-4401-95C4-4D43DCF08454}"/>
              </a:ext>
            </a:extLst>
          </p:cNvPr>
          <p:cNvSpPr>
            <a:spLocks xmlns:a="http://schemas.openxmlformats.org/drawingml/2006/main" noGrp="1"/>
          </p:cNvSpPr>
          <p:nvPr/>
        </p:nvSpPr>
        <p:spPr>
          <a:xfrm xmlns:a="http://schemas.openxmlformats.org/drawingml/2006/main">
            <a:off x="517207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1" name="">
            <a:extLst xmlns:a="http://schemas.openxmlformats.org/drawingml/2006/main">
              <a:ext uri="{FF2B5EF4-FFF2-40B4-BE49-F238E27FC236}">
                <a16:creationId xmlns:a16="http://schemas.microsoft.com/office/drawing/2014/main" id="{D8BDE1DC-C860-4C73-9A0B-315E79E7E1E6}"/>
              </a:ext>
            </a:extLst>
          </p:cNvPr>
          <p:cNvSpPr>
            <a:spLocks xmlns:a="http://schemas.openxmlformats.org/drawingml/2006/main" noGrp="1"/>
          </p:cNvSpPr>
          <p:nvPr/>
        </p:nvSpPr>
        <p:spPr>
          <a:xfrm xmlns:a="http://schemas.openxmlformats.org/drawingml/2006/main">
            <a:off x="517207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9ABA636-1A54-4E84-A0F2-1DA4071BAED3}"/>
              </a:ext>
            </a:extLst>
          </p:cNvPr>
          <p:cNvSpPr>
            <a:spLocks xmlns:a="http://schemas.openxmlformats.org/drawingml/2006/main" noGrp="1"/>
          </p:cNvSpPr>
          <p:nvPr/>
        </p:nvSpPr>
        <p:spPr>
          <a:xfrm xmlns:a="http://schemas.openxmlformats.org/drawingml/2006/main">
            <a:off x="531495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a:solidFill>
                  <a:srgbClr val="263445"/>
                </a:solidFill>
                <a:latin typeface="Lato"/>
                <a:ea typeface="Lato"/>
                <a:cs typeface="Lato"/>
              </a:defRPr>
            </a:defPPr>
          </a:lstStyle>
          <a:p xmlns:a="http://schemas.openxmlformats.org/drawingml/2006/main">
            <a:pPr algn="ctr">
              <a:defRPr sz="1500" b="1">
                <a:solidFill>
                  <a:srgbClr val="263445"/>
                </a:solidFill>
                <a:latin typeface="Lato"/>
                <a:ea typeface="Lato"/>
                <a:cs typeface="Lato"/>
              </a:defRPr>
            </a:pPr>
            <a:r>
              <a:rPr sz="1500" b="1">
                <a:solidFill>
                  <a:srgbClr val="263445"/>
                </a:solidFill>
                <a:latin typeface="Lato"/>
                <a:ea typeface="Lato"/>
                <a:cs typeface="Lato"/>
              </a:rPr>
              <a:t>Desnormalización</a:t>
            </a:r>
          </a:p>
          <a:p xmlns:a="http://schemas.openxmlformats.org/drawingml/2006/main">
            <a:pPr algn="ctr">
              <a:defRPr sz="1500" b="1">
                <a:solidFill>
                  <a:srgbClr val="263445"/>
                </a:solidFill>
                <a:latin typeface="Lato"/>
                <a:ea typeface="Lato"/>
                <a:cs typeface="Lato"/>
              </a:defRPr>
            </a:pPr>
            <a:r>
              <a:rPr sz="1500" b="1">
                <a:solidFill>
                  <a:srgbClr val="263445"/>
                </a:solidFill>
                <a:latin typeface="Lato"/>
                <a:ea typeface="Lato"/>
                <a:cs typeface="Lato"/>
              </a:rPr>
              <a:t>Torque total</a:t>
            </a:r>
          </a:p>
        </p:txBody>
      </p:sp>
      <p:sp>
        <p:nvSpPr>
          <p:cNvPr id="23" name="">
            <a:extLst xmlns:a="http://schemas.openxmlformats.org/drawingml/2006/main">
              <a:ext uri="{FF2B5EF4-FFF2-40B4-BE49-F238E27FC236}">
                <a16:creationId xmlns:a16="http://schemas.microsoft.com/office/drawing/2014/main" id="{185CE92E-03D9-427C-9619-59BA8984D414}"/>
              </a:ext>
            </a:extLst>
          </p:cNvPr>
          <p:cNvSpPr>
            <a:spLocks xmlns:a="http://schemas.openxmlformats.org/drawingml/2006/main" noGrp="1"/>
          </p:cNvSpPr>
          <p:nvPr/>
        </p:nvSpPr>
        <p:spPr>
          <a:xfrm xmlns:a="http://schemas.openxmlformats.org/drawingml/2006/main">
            <a:off x="725805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DF129D8-BE76-49C7-9518-6A4AC4DAD7C4}"/>
              </a:ext>
            </a:extLst>
          </p:cNvPr>
          <p:cNvSpPr>
            <a:spLocks xmlns:a="http://schemas.openxmlformats.org/drawingml/2006/main" noGrp="1"/>
          </p:cNvSpPr>
          <p:nvPr/>
        </p:nvSpPr>
        <p:spPr>
          <a:xfrm xmlns:a="http://schemas.openxmlformats.org/drawingml/2006/main">
            <a:off x="744855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5" name="">
            <a:extLst xmlns:a="http://schemas.openxmlformats.org/drawingml/2006/main">
              <a:ext uri="{FF2B5EF4-FFF2-40B4-BE49-F238E27FC236}">
                <a16:creationId xmlns:a16="http://schemas.microsoft.com/office/drawing/2014/main" id="{B4B5FD64-90A2-4DA1-8A8D-557EA2BA53BF}"/>
              </a:ext>
            </a:extLst>
          </p:cNvPr>
          <p:cNvSpPr>
            <a:spLocks xmlns:a="http://schemas.openxmlformats.org/drawingml/2006/main" noGrp="1"/>
          </p:cNvSpPr>
          <p:nvPr/>
        </p:nvSpPr>
        <p:spPr>
          <a:xfrm xmlns:a="http://schemas.openxmlformats.org/drawingml/2006/main">
            <a:off x="7448550" y="3295650"/>
            <a:ext cx="47625" cy="11715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46372CF-CDBD-4559-BFBF-77D4D9F4405C}"/>
              </a:ext>
            </a:extLst>
          </p:cNvPr>
          <p:cNvSpPr>
            <a:spLocks xmlns:a="http://schemas.openxmlformats.org/drawingml/2006/main" noGrp="1"/>
          </p:cNvSpPr>
          <p:nvPr/>
        </p:nvSpPr>
        <p:spPr>
          <a:xfrm xmlns:a="http://schemas.openxmlformats.org/drawingml/2006/main">
            <a:off x="759142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Saturación</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provisional</a:t>
            </a:r>
          </a:p>
        </p:txBody>
      </p:sp>
      <p:sp>
        <p:nvSpPr>
          <p:cNvPr id="27" name="">
            <a:extLst xmlns:a="http://schemas.openxmlformats.org/drawingml/2006/main">
              <a:ext uri="{FF2B5EF4-FFF2-40B4-BE49-F238E27FC236}">
                <a16:creationId xmlns:a16="http://schemas.microsoft.com/office/drawing/2014/main" id="{B659E63D-FBBC-44EA-826C-7904DD20E922}"/>
              </a:ext>
            </a:extLst>
          </p:cNvPr>
          <p:cNvSpPr>
            <a:spLocks xmlns:a="http://schemas.openxmlformats.org/drawingml/2006/main" noGrp="1"/>
          </p:cNvSpPr>
          <p:nvPr/>
        </p:nvSpPr>
        <p:spPr>
          <a:xfrm xmlns:a="http://schemas.openxmlformats.org/drawingml/2006/main">
            <a:off x="953452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45715B0-8E9A-44B5-BE83-CD3A8C7D5724}"/>
              </a:ext>
            </a:extLst>
          </p:cNvPr>
          <p:cNvSpPr>
            <a:spLocks xmlns:a="http://schemas.openxmlformats.org/drawingml/2006/main" noGrp="1"/>
          </p:cNvSpPr>
          <p:nvPr/>
        </p:nvSpPr>
        <p:spPr>
          <a:xfrm xmlns:a="http://schemas.openxmlformats.org/drawingml/2006/main">
            <a:off x="97250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9" name="">
            <a:extLst xmlns:a="http://schemas.openxmlformats.org/drawingml/2006/main">
              <a:ext uri="{FF2B5EF4-FFF2-40B4-BE49-F238E27FC236}">
                <a16:creationId xmlns:a16="http://schemas.microsoft.com/office/drawing/2014/main" id="{1DA62A88-57C9-45F6-AD69-A68667B89E67}"/>
              </a:ext>
            </a:extLst>
          </p:cNvPr>
          <p:cNvSpPr>
            <a:spLocks xmlns:a="http://schemas.openxmlformats.org/drawingml/2006/main" noGrp="1"/>
          </p:cNvSpPr>
          <p:nvPr/>
        </p:nvSpPr>
        <p:spPr>
          <a:xfrm xmlns:a="http://schemas.openxmlformats.org/drawingml/2006/main">
            <a:off x="97250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8B0190B-F89E-45D3-A916-1E654060D99A}"/>
              </a:ext>
            </a:extLst>
          </p:cNvPr>
          <p:cNvSpPr>
            <a:spLocks xmlns:a="http://schemas.openxmlformats.org/drawingml/2006/main" noGrp="1"/>
          </p:cNvSpPr>
          <p:nvPr/>
        </p:nvSpPr>
        <p:spPr>
          <a:xfrm xmlns:a="http://schemas.openxmlformats.org/drawingml/2006/main">
            <a:off x="98679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UR3e</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virtual</a:t>
            </a:r>
          </a:p>
        </p:txBody>
      </p:sp>
      <p:sp>
        <p:nvSpPr>
          <p:cNvPr id="31" name="">
            <a:extLst xmlns:a="http://schemas.openxmlformats.org/drawingml/2006/main">
              <a:ext uri="{FF2B5EF4-FFF2-40B4-BE49-F238E27FC236}">
                <a16:creationId xmlns:a16="http://schemas.microsoft.com/office/drawing/2014/main" id="{EF5BEE0B-98F2-4582-BEC1-E17F10A05B34}"/>
              </a:ext>
            </a:extLst>
          </p:cNvPr>
          <p:cNvSpPr>
            <a:spLocks xmlns:a="http://schemas.openxmlformats.org/drawingml/2006/main" noGrp="1"/>
          </p:cNvSpPr>
          <p:nvPr/>
        </p:nvSpPr>
        <p:spPr>
          <a:xfrm xmlns:a="http://schemas.openxmlformats.org/drawingml/2006/main">
            <a:off x="10734675" y="4467225"/>
            <a:ext cx="38100" cy="5238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5FADFE5-AAB0-4E3E-B0F2-9CE2F7AC20C2}"/>
              </a:ext>
            </a:extLst>
          </p:cNvPr>
          <p:cNvSpPr>
            <a:spLocks xmlns:a="http://schemas.openxmlformats.org/drawingml/2006/main" noGrp="1"/>
          </p:cNvSpPr>
          <p:nvPr/>
        </p:nvSpPr>
        <p:spPr>
          <a:xfrm xmlns:a="http://schemas.openxmlformats.org/drawingml/2006/main">
            <a:off x="1638300" y="4953000"/>
            <a:ext cx="9134475" cy="381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5A95904-B18C-4513-9598-4E453C3CF9C1}"/>
              </a:ext>
            </a:extLst>
          </p:cNvPr>
          <p:cNvSpPr>
            <a:spLocks xmlns:a="http://schemas.openxmlformats.org/drawingml/2006/main" noGrp="1"/>
          </p:cNvSpPr>
          <p:nvPr/>
        </p:nvSpPr>
        <p:spPr>
          <a:xfrm xmlns:a="http://schemas.openxmlformats.org/drawingml/2006/main">
            <a:off x="1638300" y="4552950"/>
            <a:ext cx="38100" cy="4381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F338E2A-E041-462D-A75E-DA714DF486A2}"/>
              </a:ext>
            </a:extLst>
          </p:cNvPr>
          <p:cNvSpPr>
            <a:spLocks xmlns:a="http://schemas.openxmlformats.org/drawingml/2006/main" noGrp="1"/>
          </p:cNvSpPr>
          <p:nvPr/>
        </p:nvSpPr>
        <p:spPr>
          <a:xfrm xmlns:a="http://schemas.openxmlformats.org/drawingml/2006/main">
            <a:off x="1571625" y="4476750"/>
            <a:ext cx="190500" cy="219075"/>
          </a:xfrm>
          <a:prstGeom xmlns:a="http://schemas.openxmlformats.org/drawingml/2006/main" prst="upArrow">
            <a:avLst/>
          </a:prstGeom>
          <a:solidFill xmlns:a="http://schemas.openxmlformats.org/drawingml/2006/main">
            <a:srgbClr val="1D4E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AF9DE5C-571E-4AE8-B21D-2E666B7F2656}"/>
              </a:ext>
            </a:extLst>
          </p:cNvPr>
          <p:cNvSpPr>
            <a:spLocks xmlns:a="http://schemas.openxmlformats.org/drawingml/2006/main" noGrp="1"/>
          </p:cNvSpPr>
          <p:nvPr/>
        </p:nvSpPr>
        <p:spPr>
          <a:xfrm xmlns:a="http://schemas.openxmlformats.org/drawingml/2006/main">
            <a:off x="2705100" y="5105400"/>
            <a:ext cx="781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1D4ED8"/>
                </a:solidFill>
                <a:latin typeface="Lato"/>
                <a:ea typeface="Lato"/>
                <a:cs typeface="Lato"/>
              </a:defRPr>
            </a:defPPr>
          </a:lstStyle>
          <a:p xmlns:a="http://schemas.openxmlformats.org/drawingml/2006/main">
            <a:pPr algn="ctr">
              <a:defRPr sz="1800" b="1">
                <a:solidFill>
                  <a:srgbClr val="1D4ED8"/>
                </a:solidFill>
                <a:latin typeface="Lato"/>
                <a:ea typeface="Lato"/>
                <a:cs typeface="Lato"/>
              </a:defRPr>
            </a:pPr>
            <a:r>
              <a:rPr sz="1800" b="1">
                <a:solidFill>
                  <a:srgbClr val="1D4ED8"/>
                </a:solidFill>
                <a:latin typeface="Lato"/>
                <a:ea typeface="Lato"/>
                <a:cs typeface="Lato"/>
              </a:rPr>
              <a:t>Realimentación: posición y velocidad medidas en simulación</a:t>
            </a:r>
          </a:p>
        </p:txBody>
      </p:sp>
      <p:sp>
        <p:nvSpPr>
          <p:cNvPr id="36" name="">
            <a:extLst xmlns:a="http://schemas.openxmlformats.org/drawingml/2006/main">
              <a:ext uri="{FF2B5EF4-FFF2-40B4-BE49-F238E27FC236}">
                <a16:creationId xmlns:a16="http://schemas.microsoft.com/office/drawing/2014/main" id="{08D93F29-FCB0-49EA-882C-654D1088EC3A}"/>
              </a:ext>
            </a:extLst>
          </p:cNvPr>
          <p:cNvSpPr>
            <a:spLocks xmlns:a="http://schemas.openxmlformats.org/drawingml/2006/main" noGrp="1"/>
          </p:cNvSpPr>
          <p:nvPr/>
        </p:nvSpPr>
        <p:spPr>
          <a:xfrm xmlns:a="http://schemas.openxmlformats.org/drawingml/2006/main">
            <a:off x="666750" y="55816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Las referencias y el estado articular forman las entradas de la red.</a:t>
            </a:r>
          </a:p>
        </p:txBody>
      </p:sp>
      <p:sp>
        <p:nvSpPr>
          <p:cNvPr id="37" name="">
            <a:extLst xmlns:a="http://schemas.openxmlformats.org/drawingml/2006/main">
              <a:ext uri="{FF2B5EF4-FFF2-40B4-BE49-F238E27FC236}">
                <a16:creationId xmlns:a16="http://schemas.microsoft.com/office/drawing/2014/main" id="{1B9871D9-AB92-4834-A474-97F2D04B1BCE}"/>
              </a:ext>
            </a:extLst>
          </p:cNvPr>
          <p:cNvSpPr>
            <a:spLocks xmlns:a="http://schemas.openxmlformats.org/drawingml/2006/main" noGrp="1"/>
          </p:cNvSpPr>
          <p:nvPr/>
        </p:nvSpPr>
        <p:spPr>
          <a:xfrm xmlns:a="http://schemas.openxmlformats.org/drawingml/2006/main">
            <a:off x="666750" y="5981700"/>
            <a:ext cx="1085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526173"/>
                </a:solidFill>
                <a:latin typeface="Lato"/>
                <a:ea typeface="Lato"/>
                <a:cs typeface="Lato"/>
              </a:defRPr>
            </a:defPPr>
          </a:lstStyle>
          <a:p xmlns:a="http://schemas.openxmlformats.org/drawingml/2006/main">
            <a:pPr algn="l">
              <a:defRPr sz="1650" b="0">
                <a:solidFill>
                  <a:srgbClr val="526173"/>
                </a:solidFill>
                <a:latin typeface="Lato"/>
                <a:ea typeface="Lato"/>
                <a:cs typeface="Lato"/>
              </a:defRPr>
            </a:pPr>
            <a:r>
              <a:rPr sz="1650" b="0">
                <a:solidFill>
                  <a:srgbClr val="526173"/>
                </a:solidFill>
                <a:latin typeface="Lato"/>
                <a:ea typeface="Lato"/>
                <a:cs typeface="Lato"/>
              </a:rPr>
              <a:t>Límite uniforme ±55 N·m, provisional en simulación.</a:t>
            </a:r>
          </a:p>
        </p:txBody>
      </p:sp>
    </p:spTree>
    <p:extLst>
      <p:ext uri="{BB962C8B-B14F-4D97-AF65-F5344CB8AC3E}">
        <p14:creationId xmlns:p14="http://schemas.microsoft.com/office/powerpoint/2010/main" val="4658884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E8015AB-0332-4B8E-86ED-AA38F196832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231221-A3B3-453B-A99B-00C729BA920F}"/>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ENTRENAMIENTO Y DESPLIEGUE</a:t>
            </a:r>
          </a:p>
        </p:txBody>
      </p:sp>
      <p:sp>
        <p:nvSpPr>
          <p:cNvPr id="3" name="">
            <a:extLst xmlns:a="http://schemas.openxmlformats.org/drawingml/2006/main">
              <a:ext uri="{FF2B5EF4-FFF2-40B4-BE49-F238E27FC236}">
                <a16:creationId xmlns:a16="http://schemas.microsoft.com/office/drawing/2014/main" id="{7B391373-8FCF-499D-A195-EA659E20B0E0}"/>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Datos y tratamiento de la aceleración</a:t>
            </a:r>
          </a:p>
        </p:txBody>
      </p:sp>
      <p:sp>
        <p:nvSpPr>
          <p:cNvPr id="4" name="">
            <a:extLst xmlns:a="http://schemas.openxmlformats.org/drawingml/2006/main">
              <a:ext uri="{FF2B5EF4-FFF2-40B4-BE49-F238E27FC236}">
                <a16:creationId xmlns:a16="http://schemas.microsoft.com/office/drawing/2014/main" id="{FB6D4870-086B-4031-BD0B-D058FA36BBB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50E54D-6D53-48DA-9692-E2B17CADF64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pipeline y limitaciones de TT1 [1]</a:t>
            </a:r>
          </a:p>
        </p:txBody>
      </p:sp>
      <p:sp>
        <p:nvSpPr>
          <p:cNvPr id="6" name="">
            <a:extLst xmlns:a="http://schemas.openxmlformats.org/drawingml/2006/main">
              <a:ext uri="{FF2B5EF4-FFF2-40B4-BE49-F238E27FC236}">
                <a16:creationId xmlns:a16="http://schemas.microsoft.com/office/drawing/2014/main" id="{E7DB3E92-6565-4C3E-A92C-CE0EA03FF310}"/>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14</a:t>
            </a:r>
          </a:p>
        </p:txBody>
      </p:sp>
      <p:sp>
        <p:nvSpPr>
          <p:cNvPr id="7" name="">
            <a:extLst xmlns:a="http://schemas.openxmlformats.org/drawingml/2006/main">
              <a:ext uri="{FF2B5EF4-FFF2-40B4-BE49-F238E27FC236}">
                <a16:creationId xmlns:a16="http://schemas.microsoft.com/office/drawing/2014/main" id="{8BA6A333-9762-4F07-9D7F-171BEA9E2CFC}"/>
              </a:ext>
            </a:extLst>
          </p:cNvPr>
          <p:cNvSpPr>
            <a:spLocks xmlns:a="http://schemas.openxmlformats.org/drawingml/2006/main" noGrp="1"/>
          </p:cNvSpPr>
          <p:nvPr/>
        </p:nvSpPr>
        <p:spPr>
          <a:xfrm xmlns:a="http://schemas.openxmlformats.org/drawingml/2006/main">
            <a:off x="762000" y="192405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42 características de entrada → 6 valores de torque objetivo</a:t>
            </a:r>
          </a:p>
        </p:txBody>
      </p:sp>
      <p:sp>
        <p:nvSpPr>
          <p:cNvPr id="8" name="">
            <a:extLst xmlns:a="http://schemas.openxmlformats.org/drawingml/2006/main">
              <a:ext uri="{FF2B5EF4-FFF2-40B4-BE49-F238E27FC236}">
                <a16:creationId xmlns:a16="http://schemas.microsoft.com/office/drawing/2014/main" id="{E14AB013-7600-4826-93AB-D00E7BCDB51F}"/>
              </a:ext>
            </a:extLst>
          </p:cNvPr>
          <p:cNvSpPr>
            <a:spLocks xmlns:a="http://schemas.openxmlformats.org/drawingml/2006/main" noGrp="1"/>
          </p:cNvSpPr>
          <p:nvPr/>
        </p:nvSpPr>
        <p:spPr>
          <a:xfrm xmlns:a="http://schemas.openxmlformats.org/drawingml/2006/main">
            <a:off x="762000" y="24765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Estado actual · referencias deseadas · torque RNEA</a:t>
            </a:r>
          </a:p>
        </p:txBody>
      </p:sp>
      <p:sp>
        <p:nvSpPr>
          <p:cNvPr id="9" name="">
            <a:extLst xmlns:a="http://schemas.openxmlformats.org/drawingml/2006/main">
              <a:ext uri="{FF2B5EF4-FFF2-40B4-BE49-F238E27FC236}">
                <a16:creationId xmlns:a16="http://schemas.microsoft.com/office/drawing/2014/main" id="{B9B01775-8939-4D22-AF1F-8C47BEC5C72B}"/>
              </a:ext>
            </a:extLst>
          </p:cNvPr>
          <p:cNvSpPr>
            <a:spLocks xmlns:a="http://schemas.openxmlformats.org/drawingml/2006/main" noGrp="1"/>
          </p:cNvSpPr>
          <p:nvPr/>
        </p:nvSpPr>
        <p:spPr>
          <a:xfrm xmlns:a="http://schemas.openxmlformats.org/drawingml/2006/main">
            <a:off x="762000" y="3028950"/>
            <a:ext cx="4857750" cy="11334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0" name="">
            <a:extLst xmlns:a="http://schemas.openxmlformats.org/drawingml/2006/main">
              <a:ext uri="{FF2B5EF4-FFF2-40B4-BE49-F238E27FC236}">
                <a16:creationId xmlns:a16="http://schemas.microsoft.com/office/drawing/2014/main" id="{F2784E17-C0AD-4DA6-96DA-3F11B06FC3A0}"/>
              </a:ext>
            </a:extLst>
          </p:cNvPr>
          <p:cNvSpPr>
            <a:spLocks xmlns:a="http://schemas.openxmlformats.org/drawingml/2006/main" noGrp="1"/>
          </p:cNvSpPr>
          <p:nvPr/>
        </p:nvSpPr>
        <p:spPr>
          <a:xfrm xmlns:a="http://schemas.openxmlformats.org/drawingml/2006/main">
            <a:off x="762000" y="3028950"/>
            <a:ext cx="47625" cy="11334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8C3F245-D825-4612-853E-046846D05FAB}"/>
              </a:ext>
            </a:extLst>
          </p:cNvPr>
          <p:cNvSpPr>
            <a:spLocks xmlns:a="http://schemas.openxmlformats.org/drawingml/2006/main" noGrp="1"/>
          </p:cNvSpPr>
          <p:nvPr/>
        </p:nvSpPr>
        <p:spPr>
          <a:xfrm xmlns:a="http://schemas.openxmlformats.org/drawingml/2006/main">
            <a:off x="904875" y="3171825"/>
            <a:ext cx="4591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a:solidFill>
                  <a:srgbClr val="263445"/>
                </a:solidFill>
                <a:latin typeface="Lato"/>
                <a:ea typeface="Lato"/>
                <a:cs typeface="Lato"/>
              </a:defRPr>
            </a:defPPr>
          </a:lstStyle>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Entrenamiento</a:t>
            </a:r>
          </a:p>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Aceleración actual filtrada</a:t>
            </a:r>
          </a:p>
        </p:txBody>
      </p:sp>
      <p:sp>
        <p:nvSpPr>
          <p:cNvPr id="12" name="">
            <a:extLst xmlns:a="http://schemas.openxmlformats.org/drawingml/2006/main">
              <a:ext uri="{FF2B5EF4-FFF2-40B4-BE49-F238E27FC236}">
                <a16:creationId xmlns:a16="http://schemas.microsoft.com/office/drawing/2014/main" id="{97584984-1001-4AE9-92FF-883A08F18BE9}"/>
              </a:ext>
            </a:extLst>
          </p:cNvPr>
          <p:cNvSpPr>
            <a:spLocks xmlns:a="http://schemas.openxmlformats.org/drawingml/2006/main" noGrp="1"/>
          </p:cNvSpPr>
          <p:nvPr/>
        </p:nvSpPr>
        <p:spPr>
          <a:xfrm xmlns:a="http://schemas.openxmlformats.org/drawingml/2006/main">
            <a:off x="6286500" y="3028950"/>
            <a:ext cx="5048250" cy="11334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BC050156-2985-4D16-8B5D-70A3B916F934}"/>
              </a:ext>
            </a:extLst>
          </p:cNvPr>
          <p:cNvSpPr>
            <a:spLocks xmlns:a="http://schemas.openxmlformats.org/drawingml/2006/main" noGrp="1"/>
          </p:cNvSpPr>
          <p:nvPr/>
        </p:nvSpPr>
        <p:spPr>
          <a:xfrm xmlns:a="http://schemas.openxmlformats.org/drawingml/2006/main">
            <a:off x="6286500" y="3028950"/>
            <a:ext cx="47625" cy="11334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BEEECA4-D842-4BDD-B1BD-18349C4F159D}"/>
              </a:ext>
            </a:extLst>
          </p:cNvPr>
          <p:cNvSpPr>
            <a:spLocks xmlns:a="http://schemas.openxmlformats.org/drawingml/2006/main" noGrp="1"/>
          </p:cNvSpPr>
          <p:nvPr/>
        </p:nvSpPr>
        <p:spPr>
          <a:xfrm xmlns:a="http://schemas.openxmlformats.org/drawingml/2006/main">
            <a:off x="6429375" y="3171825"/>
            <a:ext cx="47815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a:solidFill>
                  <a:srgbClr val="263445"/>
                </a:solidFill>
                <a:latin typeface="Lato"/>
                <a:ea typeface="Lato"/>
                <a:cs typeface="Lato"/>
              </a:defRPr>
            </a:defPPr>
          </a:lstStyle>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Despliegue</a:t>
            </a:r>
          </a:p>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Aceleración actual fijada a cero</a:t>
            </a:r>
          </a:p>
        </p:txBody>
      </p:sp>
      <p:sp>
        <p:nvSpPr>
          <p:cNvPr id="15" name="">
            <a:extLst xmlns:a="http://schemas.openxmlformats.org/drawingml/2006/main">
              <a:ext uri="{FF2B5EF4-FFF2-40B4-BE49-F238E27FC236}">
                <a16:creationId xmlns:a16="http://schemas.microsoft.com/office/drawing/2014/main" id="{1BC08160-4AC9-4B36-B367-0837A487CAC5}"/>
              </a:ext>
            </a:extLst>
          </p:cNvPr>
          <p:cNvSpPr>
            <a:spLocks xmlns:a="http://schemas.openxmlformats.org/drawingml/2006/main" noGrp="1"/>
          </p:cNvSpPr>
          <p:nvPr/>
        </p:nvSpPr>
        <p:spPr>
          <a:xfrm xmlns:a="http://schemas.openxmlformats.org/drawingml/2006/main">
            <a:off x="762000" y="44196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Esta diferencia entre entradas se reconoce como una limitación.</a:t>
            </a:r>
          </a:p>
        </p:txBody>
      </p:sp>
      <p:sp>
        <p:nvSpPr>
          <p:cNvPr id="16" name="">
            <a:extLst xmlns:a="http://schemas.openxmlformats.org/drawingml/2006/main">
              <a:ext uri="{FF2B5EF4-FFF2-40B4-BE49-F238E27FC236}">
                <a16:creationId xmlns:a16="http://schemas.microsoft.com/office/drawing/2014/main" id="{4B14B78A-B197-4762-B096-43CD424FBB3A}"/>
              </a:ext>
            </a:extLst>
          </p:cNvPr>
          <p:cNvSpPr>
            <a:spLocks xmlns:a="http://schemas.openxmlformats.org/drawingml/2006/main" noGrp="1"/>
          </p:cNvSpPr>
          <p:nvPr/>
        </p:nvSpPr>
        <p:spPr>
          <a:xfrm xmlns:a="http://schemas.openxmlformats.org/drawingml/2006/main">
            <a:off x="762000" y="5143500"/>
            <a:ext cx="10477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526173"/>
                </a:solidFill>
                <a:latin typeface="Lato"/>
                <a:ea typeface="Lato"/>
                <a:cs typeface="Lato"/>
              </a:defRPr>
            </a:defPPr>
          </a:lstStyle>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Pendiente: estimar la aceleración con bajo costo computacional</a:t>
            </a:r>
          </a:p>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y medir su impacto en el tiempo total del control.</a:t>
            </a:r>
          </a:p>
        </p:txBody>
      </p:sp>
      <p:sp>
        <p:nvSpPr>
          <p:cNvPr id="17" name="">
            <a:extLst xmlns:a="http://schemas.openxmlformats.org/drawingml/2006/main">
              <a:ext uri="{FF2B5EF4-FFF2-40B4-BE49-F238E27FC236}">
                <a16:creationId xmlns:a16="http://schemas.microsoft.com/office/drawing/2014/main" id="{6669AFF8-31F5-4673-8DF2-7BC927ABA4BD}"/>
              </a:ext>
            </a:extLst>
          </p:cNvPr>
          <p:cNvSpPr>
            <a:spLocks xmlns:a="http://schemas.openxmlformats.org/drawingml/2006/main" noGrp="1"/>
          </p:cNvSpPr>
          <p:nvPr/>
        </p:nvSpPr>
        <p:spPr>
          <a:xfrm xmlns:a="http://schemas.openxmlformats.org/drawingml/2006/main">
            <a:off x="762000" y="5981700"/>
            <a:ext cx="1047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0F766E"/>
                </a:solidFill>
                <a:latin typeface="Lato"/>
                <a:ea typeface="Lato"/>
                <a:cs typeface="Lato"/>
              </a:defRPr>
            </a:defPPr>
          </a:lstStyle>
          <a:p xmlns:a="http://schemas.openxmlformats.org/drawingml/2006/main">
            <a:pPr algn="l">
              <a:defRPr sz="1650" b="1">
                <a:solidFill>
                  <a:srgbClr val="0F766E"/>
                </a:solidFill>
                <a:latin typeface="Lato"/>
                <a:ea typeface="Lato"/>
                <a:cs typeface="Lato"/>
              </a:defRPr>
            </a:pPr>
            <a:r>
              <a:rPr sz="1650" b="1">
                <a:solidFill>
                  <a:srgbClr val="0F766E"/>
                </a:solidFill>
                <a:latin typeface="Lato"/>
                <a:ea typeface="Lato"/>
                <a:cs typeface="Lato"/>
              </a:rPr>
              <a:t>La aceleración deseada se conserva como entrada.</a:t>
            </a:r>
          </a:p>
        </p:txBody>
      </p:sp>
    </p:spTree>
    <p:extLst>
      <p:ext uri="{BB962C8B-B14F-4D97-AF65-F5344CB8AC3E}">
        <p14:creationId xmlns:p14="http://schemas.microsoft.com/office/powerpoint/2010/main" val="128524794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3D5FCC-30E7-412D-80ED-A84D32B24CE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0D7C6B-AF78-456A-9684-BE9EFB26FEC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METODOLOGÍA DE TT1</a:t>
            </a:r>
          </a:p>
        </p:txBody>
      </p:sp>
      <p:sp>
        <p:nvSpPr>
          <p:cNvPr id="3" name="">
            <a:extLst xmlns:a="http://schemas.openxmlformats.org/drawingml/2006/main">
              <a:ext uri="{FF2B5EF4-FFF2-40B4-BE49-F238E27FC236}">
                <a16:creationId xmlns:a16="http://schemas.microsoft.com/office/drawing/2014/main" id="{AC247ADD-3E96-4527-9ABC-25668C373054}"/>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Cuantización dinámica implementada</a:t>
            </a:r>
          </a:p>
        </p:txBody>
      </p:sp>
      <p:sp>
        <p:nvSpPr>
          <p:cNvPr id="4" name="">
            <a:extLst xmlns:a="http://schemas.openxmlformats.org/drawingml/2006/main">
              <a:ext uri="{FF2B5EF4-FFF2-40B4-BE49-F238E27FC236}">
                <a16:creationId xmlns:a16="http://schemas.microsoft.com/office/drawing/2014/main" id="{D1846BAF-2582-4380-8DCA-2D6CE95781E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D7A8289-B6F3-4ABF-9659-B9E30E6D9D6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flujo PTQ corregido [1]; ONNX Runtime [3]</a:t>
            </a:r>
          </a:p>
        </p:txBody>
      </p:sp>
      <p:sp>
        <p:nvSpPr>
          <p:cNvPr id="6" name="">
            <a:extLst xmlns:a="http://schemas.openxmlformats.org/drawingml/2006/main">
              <a:ext uri="{FF2B5EF4-FFF2-40B4-BE49-F238E27FC236}">
                <a16:creationId xmlns:a16="http://schemas.microsoft.com/office/drawing/2014/main" id="{EAB15F46-DC28-4C20-A68C-AA4BF11068BA}"/>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15</a:t>
            </a:r>
          </a:p>
        </p:txBody>
      </p:sp>
      <p:pic>
        <p:nvPicPr>
          <p:cNvPr id="7" name="">
            <a:extLst xmlns:a="http://schemas.openxmlformats.org/drawingml/2006/main">
              <a:ext uri="{FF2B5EF4-FFF2-40B4-BE49-F238E27FC236}">
                <a16:creationId xmlns:a16="http://schemas.microsoft.com/office/drawing/2014/main" id="{F900D840-0C09-43FB-ADE3-2669ACF6E0FC}"/>
              </a:ext>
            </a:extLst>
          </p:cNvPr>
          <p:cNvPicPr>
            <a:picLocks xmlns:a="http://schemas.openxmlformats.org/drawingml/2006/main" noChangeAspect="1"/>
          </p:cNvPicPr>
          <p:nvPr/>
        </p:nvPicPr>
        <p:blipFill>
          <a:blip xmlns:r="http://schemas.openxmlformats.org/officeDocument/2006/relationships" xmlns:a="http://schemas.openxmlformats.org/drawingml/2006/main" r:embed="Raf738f1f0fe04a37"/>
          <a:srcRect xmlns:a="http://schemas.openxmlformats.org/drawingml/2006/main" l="0" t="0" r="0" b="49000"/>
          <a:stretch xmlns:a="http://schemas.openxmlformats.org/drawingml/2006/main"/>
        </p:blipFill>
        <p:spPr>
          <a:xfrm xmlns:a="http://schemas.openxmlformats.org/drawingml/2006/main">
            <a:off x="647700" y="1866900"/>
            <a:ext cx="10906125" cy="3371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0F7058C-0344-4AFD-AF61-4F992CCE98DA}"/>
              </a:ext>
            </a:extLst>
          </p:cNvPr>
          <p:cNvSpPr>
            <a:spLocks xmlns:a="http://schemas.openxmlformats.org/drawingml/2006/main" noGrp="1"/>
          </p:cNvSpPr>
          <p:nvPr/>
        </p:nvSpPr>
        <p:spPr>
          <a:xfrm xmlns:a="http://schemas.openxmlformats.org/drawingml/2006/main">
            <a:off x="762000" y="5238750"/>
            <a:ext cx="1047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Pesos: cuantizados después del entrenamiento, fuera de línea.</a:t>
            </a:r>
          </a:p>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Activaciones: escala y punto cero calculados durante la inferencia.</a:t>
            </a:r>
          </a:p>
        </p:txBody>
      </p:sp>
    </p:spTree>
    <p:extLst>
      <p:ext uri="{BB962C8B-B14F-4D97-AF65-F5344CB8AC3E}">
        <p14:creationId xmlns:p14="http://schemas.microsoft.com/office/powerpoint/2010/main" val="8625947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1499ACC-3916-4BEA-83A4-92F54F3BB80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2C334D-7FBE-4B85-A87F-04CF0C7D71C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a:t>
            </a:r>
          </a:p>
        </p:txBody>
      </p:sp>
      <p:sp>
        <p:nvSpPr>
          <p:cNvPr id="3" name="">
            <a:extLst xmlns:a="http://schemas.openxmlformats.org/drawingml/2006/main">
              <a:ext uri="{FF2B5EF4-FFF2-40B4-BE49-F238E27FC236}">
                <a16:creationId xmlns:a16="http://schemas.microsoft.com/office/drawing/2014/main" id="{CC09E912-597C-4717-94D7-88C948B267CB}"/>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Condiciones y métricas de comparación</a:t>
            </a:r>
          </a:p>
        </p:txBody>
      </p:sp>
      <p:sp>
        <p:nvSpPr>
          <p:cNvPr id="4" name="">
            <a:extLst xmlns:a="http://schemas.openxmlformats.org/drawingml/2006/main">
              <a:ext uri="{FF2B5EF4-FFF2-40B4-BE49-F238E27FC236}">
                <a16:creationId xmlns:a16="http://schemas.microsoft.com/office/drawing/2014/main" id="{8913DA1B-66BA-428E-9F8D-9CDAE1FCFD7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A6AD608-78D7-4637-9994-E2133C2567A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condiciones experimentales y perfil quíntico de TT1 [1]</a:t>
            </a:r>
          </a:p>
        </p:txBody>
      </p:sp>
      <p:sp>
        <p:nvSpPr>
          <p:cNvPr id="6" name="">
            <a:extLst xmlns:a="http://schemas.openxmlformats.org/drawingml/2006/main">
              <a:ext uri="{FF2B5EF4-FFF2-40B4-BE49-F238E27FC236}">
                <a16:creationId xmlns:a16="http://schemas.microsoft.com/office/drawing/2014/main" id="{BC076878-FE41-433A-829E-67926A302DF7}"/>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16</a:t>
            </a:r>
          </a:p>
        </p:txBody>
      </p:sp>
      <p:pic>
        <p:nvPicPr>
          <p:cNvPr id="7" name="">
            <a:extLst xmlns:a="http://schemas.openxmlformats.org/drawingml/2006/main">
              <a:ext uri="{FF2B5EF4-FFF2-40B4-BE49-F238E27FC236}">
                <a16:creationId xmlns:a16="http://schemas.microsoft.com/office/drawing/2014/main" id="{B79ED8F7-4D7E-4B13-8282-CEF7139DAE23}"/>
              </a:ext>
            </a:extLst>
          </p:cNvPr>
          <p:cNvPicPr>
            <a:picLocks xmlns:a="http://schemas.openxmlformats.org/drawingml/2006/main" noChangeAspect="1"/>
          </p:cNvPicPr>
          <p:nvPr/>
        </p:nvPicPr>
        <p:blipFill>
          <a:blip xmlns:r="http://schemas.openxmlformats.org/officeDocument/2006/relationships" xmlns:a="http://schemas.openxmlformats.org/drawingml/2006/main" r:embed="R405aea1b2bae4fe3"/>
          <a:stretch xmlns:a="http://schemas.openxmlformats.org/drawingml/2006/main"/>
        </p:blipFill>
        <p:spPr>
          <a:xfrm xmlns:a="http://schemas.openxmlformats.org/drawingml/2006/main">
            <a:off x="6709630" y="1838325"/>
            <a:ext cx="4630615" cy="3762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0F7F024-AD01-41F2-937C-5A29E8B4B6B4}"/>
              </a:ext>
            </a:extLst>
          </p:cNvPr>
          <p:cNvSpPr>
            <a:spLocks xmlns:a="http://schemas.openxmlformats.org/drawingml/2006/main" noGrp="1"/>
          </p:cNvSpPr>
          <p:nvPr/>
        </p:nvSpPr>
        <p:spPr>
          <a:xfrm xmlns:a="http://schemas.openxmlformats.org/drawingml/2006/main">
            <a:off x="714375" y="2085975"/>
            <a:ext cx="54768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Tres configuraciones</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RNEA + PD · Red FP32 · Red INT8</a:t>
            </a:r>
          </a:p>
        </p:txBody>
      </p:sp>
      <p:sp>
        <p:nvSpPr>
          <p:cNvPr id="9" name="">
            <a:extLst xmlns:a="http://schemas.openxmlformats.org/drawingml/2006/main">
              <a:ext uri="{FF2B5EF4-FFF2-40B4-BE49-F238E27FC236}">
                <a16:creationId xmlns:a16="http://schemas.microsoft.com/office/drawing/2014/main" id="{BC9FAAE7-46D9-4C4B-83C7-01D2826C6B47}"/>
              </a:ext>
            </a:extLst>
          </p:cNvPr>
          <p:cNvSpPr>
            <a:spLocks xmlns:a="http://schemas.openxmlformats.org/drawingml/2006/main" noGrp="1"/>
          </p:cNvSpPr>
          <p:nvPr/>
        </p:nvSpPr>
        <p:spPr>
          <a:xfrm xmlns:a="http://schemas.openxmlformats.org/drawingml/2006/main">
            <a:off x="714375" y="3448050"/>
            <a:ext cx="5476875"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Trayectorias articulares quínticas</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Simulación y ejecución en CPU</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Datos recopilados a 100 Hz</a:t>
            </a:r>
          </a:p>
        </p:txBody>
      </p:sp>
      <p:sp>
        <p:nvSpPr>
          <p:cNvPr id="10" name="">
            <a:extLst xmlns:a="http://schemas.openxmlformats.org/drawingml/2006/main">
              <a:ext uri="{FF2B5EF4-FFF2-40B4-BE49-F238E27FC236}">
                <a16:creationId xmlns:a16="http://schemas.microsoft.com/office/drawing/2014/main" id="{A53E9EC0-357B-412F-88BC-AC677A09C9A5}"/>
              </a:ext>
            </a:extLst>
          </p:cNvPr>
          <p:cNvSpPr>
            <a:spLocks xmlns:a="http://schemas.openxmlformats.org/drawingml/2006/main" noGrp="1"/>
          </p:cNvSpPr>
          <p:nvPr/>
        </p:nvSpPr>
        <p:spPr>
          <a:xfrm xmlns:a="http://schemas.openxmlformats.org/drawingml/2006/main">
            <a:off x="714375" y="5286375"/>
            <a:ext cx="54768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Métricas: RMSE, inferencia</a:t>
            </a:r>
          </a:p>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y tamaño del archivo ONNX</a:t>
            </a:r>
          </a:p>
        </p:txBody>
      </p:sp>
      <p:sp>
        <p:nvSpPr>
          <p:cNvPr id="11" name="">
            <a:extLst xmlns:a="http://schemas.openxmlformats.org/drawingml/2006/main">
              <a:ext uri="{FF2B5EF4-FFF2-40B4-BE49-F238E27FC236}">
                <a16:creationId xmlns:a16="http://schemas.microsoft.com/office/drawing/2014/main" id="{BFE5434D-5E03-44E7-A333-7E69AFDC366C}"/>
              </a:ext>
            </a:extLst>
          </p:cNvPr>
          <p:cNvSpPr>
            <a:spLocks xmlns:a="http://schemas.openxmlformats.org/drawingml/2006/main" noGrp="1"/>
          </p:cNvSpPr>
          <p:nvPr/>
        </p:nvSpPr>
        <p:spPr>
          <a:xfrm xmlns:a="http://schemas.openxmlformats.org/drawingml/2006/main">
            <a:off x="6572250" y="5695950"/>
            <a:ext cx="4905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173"/>
                </a:solidFill>
                <a:latin typeface="Lato"/>
                <a:ea typeface="Lato"/>
                <a:cs typeface="Lato"/>
              </a:defRPr>
            </a:defPPr>
          </a:lstStyle>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Perfil quíntico ilustrativo extraído del reporte;</a:t>
            </a:r>
          </a:p>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no es un registro del ensayo.</a:t>
            </a:r>
          </a:p>
        </p:txBody>
      </p:sp>
    </p:spTree>
    <p:extLst>
      <p:ext uri="{BB962C8B-B14F-4D97-AF65-F5344CB8AC3E}">
        <p14:creationId xmlns:p14="http://schemas.microsoft.com/office/powerpoint/2010/main" val="141648207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8F5B7C-88C3-4115-8531-9872E3FBB23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E7DCCC-08EB-4CAE-A806-5EF5A063D14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F69CFCBB-1319-4BAC-B379-381FD70F4B67}"/>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Tamaño del archivo ONNX</a:t>
            </a:r>
          </a:p>
        </p:txBody>
      </p:sp>
      <p:sp>
        <p:nvSpPr>
          <p:cNvPr id="4" name="">
            <a:extLst xmlns:a="http://schemas.openxmlformats.org/drawingml/2006/main">
              <a:ext uri="{FF2B5EF4-FFF2-40B4-BE49-F238E27FC236}">
                <a16:creationId xmlns:a16="http://schemas.microsoft.com/office/drawing/2014/main" id="{ED143B61-A1A5-4701-95AE-9A579CAFD02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D6EE4F8-C425-4629-AF5B-66643C465347}"/>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tamaños de campaña confirmados en TT1 [1]</a:t>
            </a:r>
          </a:p>
        </p:txBody>
      </p:sp>
      <p:sp>
        <p:nvSpPr>
          <p:cNvPr id="6" name="">
            <a:extLst xmlns:a="http://schemas.openxmlformats.org/drawingml/2006/main">
              <a:ext uri="{FF2B5EF4-FFF2-40B4-BE49-F238E27FC236}">
                <a16:creationId xmlns:a16="http://schemas.microsoft.com/office/drawing/2014/main" id="{37CBBC73-89D6-4FEE-BFB4-420108B109DB}"/>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17</a:t>
            </a:r>
          </a:p>
        </p:txBody>
      </p:sp>
      <p:graphicFrame>
        <p:nvGraphicFramePr>
          <p:cNvPr id="7" name="Chart">
            <a:extLst xmlns:a="http://schemas.openxmlformats.org/drawingml/2006/main">
              <a:ext uri="{FF2B5EF4-FFF2-40B4-BE49-F238E27FC236}">
                <a16:creationId xmlns:a16="http://schemas.microsoft.com/office/drawing/2014/main" id="{B9E756B1-9D33-467A-8428-9120FFC53247}"/>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a7da31785d9542ee"/>
          </a:graphicData>
        </a:graphic>
      </p:graphicFrame>
      <p:sp>
        <p:nvSpPr>
          <p:cNvPr id="8" name="">
            <a:extLst xmlns:a="http://schemas.openxmlformats.org/drawingml/2006/main">
              <a:ext uri="{FF2B5EF4-FFF2-40B4-BE49-F238E27FC236}">
                <a16:creationId xmlns:a16="http://schemas.microsoft.com/office/drawing/2014/main" id="{3AD208C7-7258-4727-9CC6-C28F0BB31B8B}"/>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74.43%</a:t>
            </a:r>
          </a:p>
        </p:txBody>
      </p:sp>
      <p:sp>
        <p:nvSpPr>
          <p:cNvPr id="9" name="">
            <a:extLst xmlns:a="http://schemas.openxmlformats.org/drawingml/2006/main">
              <a:ext uri="{FF2B5EF4-FFF2-40B4-BE49-F238E27FC236}">
                <a16:creationId xmlns:a16="http://schemas.microsoft.com/office/drawing/2014/main" id="{60B81901-756C-4540-A0D6-7B35C6F43439}"/>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del archivo</a:t>
            </a:r>
          </a:p>
        </p:txBody>
      </p:sp>
      <p:sp>
        <p:nvSpPr>
          <p:cNvPr id="10" name="">
            <a:extLst xmlns:a="http://schemas.openxmlformats.org/drawingml/2006/main">
              <a:ext uri="{FF2B5EF4-FFF2-40B4-BE49-F238E27FC236}">
                <a16:creationId xmlns:a16="http://schemas.microsoft.com/office/drawing/2014/main" id="{B70D8EF1-39DA-4217-BCE2-838669B7496B}"/>
              </a:ext>
            </a:extLst>
          </p:cNvPr>
          <p:cNvSpPr>
            <a:spLocks xmlns:a="http://schemas.openxmlformats.org/drawingml/2006/main" noGrp="1"/>
          </p:cNvSpPr>
          <p:nvPr/>
        </p:nvSpPr>
        <p:spPr>
          <a:xfrm xmlns:a="http://schemas.openxmlformats.org/drawingml/2006/main">
            <a:off x="8191500" y="4791075"/>
            <a:ext cx="3381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Tamaño del archivo en disco;</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no representa la memoria</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total de ejecución.</a:t>
            </a:r>
          </a:p>
        </p:txBody>
      </p:sp>
    </p:spTree>
    <p:extLst>
      <p:ext uri="{BB962C8B-B14F-4D97-AF65-F5344CB8AC3E}">
        <p14:creationId xmlns:p14="http://schemas.microsoft.com/office/powerpoint/2010/main" val="11951738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86D62A-B273-44D7-A0E2-2A90AA48ACE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C3BE1EC-45B8-43BA-AA69-1F5674BE24C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DB38535F-006D-4E9B-A106-A683ABDB3943}"/>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Latencia media de inferencia</a:t>
            </a:r>
          </a:p>
        </p:txBody>
      </p:sp>
      <p:sp>
        <p:nvSpPr>
          <p:cNvPr id="4" name="">
            <a:extLst xmlns:a="http://schemas.openxmlformats.org/drawingml/2006/main">
              <a:ext uri="{FF2B5EF4-FFF2-40B4-BE49-F238E27FC236}">
                <a16:creationId xmlns:a16="http://schemas.microsoft.com/office/drawing/2014/main" id="{596E5BCC-FAA1-49C8-94E9-F2B22C68D20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64FB84D-F0EA-4F79-87DE-868794CE170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medias de inferencia reportadas en TT1 [1]</a:t>
            </a:r>
          </a:p>
        </p:txBody>
      </p:sp>
      <p:sp>
        <p:nvSpPr>
          <p:cNvPr id="6" name="">
            <a:extLst xmlns:a="http://schemas.openxmlformats.org/drawingml/2006/main">
              <a:ext uri="{FF2B5EF4-FFF2-40B4-BE49-F238E27FC236}">
                <a16:creationId xmlns:a16="http://schemas.microsoft.com/office/drawing/2014/main" id="{3582B9FC-6D2E-4C2F-A83F-A273F2F5DF3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18</a:t>
            </a:r>
          </a:p>
        </p:txBody>
      </p:sp>
      <p:graphicFrame>
        <p:nvGraphicFramePr>
          <p:cNvPr id="7" name="Chart">
            <a:extLst xmlns:a="http://schemas.openxmlformats.org/drawingml/2006/main">
              <a:ext uri="{FF2B5EF4-FFF2-40B4-BE49-F238E27FC236}">
                <a16:creationId xmlns:a16="http://schemas.microsoft.com/office/drawing/2014/main" id="{9D4F7DCE-195F-457C-9992-D0CAACEC0A2F}"/>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f34683837b3c4189"/>
          </a:graphicData>
        </a:graphic>
      </p:graphicFrame>
      <p:sp>
        <p:nvSpPr>
          <p:cNvPr id="8" name="">
            <a:extLst xmlns:a="http://schemas.openxmlformats.org/drawingml/2006/main">
              <a:ext uri="{FF2B5EF4-FFF2-40B4-BE49-F238E27FC236}">
                <a16:creationId xmlns:a16="http://schemas.microsoft.com/office/drawing/2014/main" id="{9AFEADF0-9AA6-4B9C-812D-8BC24CA60E47}"/>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21.29%</a:t>
            </a:r>
          </a:p>
        </p:txBody>
      </p:sp>
      <p:sp>
        <p:nvSpPr>
          <p:cNvPr id="9" name="">
            <a:extLst xmlns:a="http://schemas.openxmlformats.org/drawingml/2006/main">
              <a:ext uri="{FF2B5EF4-FFF2-40B4-BE49-F238E27FC236}">
                <a16:creationId xmlns:a16="http://schemas.microsoft.com/office/drawing/2014/main" id="{99A13B0E-D8AF-4A48-98DF-B3AB8A686E98}"/>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 la media</a:t>
            </a:r>
          </a:p>
        </p:txBody>
      </p:sp>
      <p:sp>
        <p:nvSpPr>
          <p:cNvPr id="10" name="">
            <a:extLst xmlns:a="http://schemas.openxmlformats.org/drawingml/2006/main">
              <a:ext uri="{FF2B5EF4-FFF2-40B4-BE49-F238E27FC236}">
                <a16:creationId xmlns:a16="http://schemas.microsoft.com/office/drawing/2014/main" id="{B95E9205-FC6C-4FBB-9D8A-8BAE9ECBC7BA}"/>
              </a:ext>
            </a:extLst>
          </p:cNvPr>
          <p:cNvSpPr>
            <a:spLocks xmlns:a="http://schemas.openxmlformats.org/drawingml/2006/main" noGrp="1"/>
          </p:cNvSpPr>
          <p:nvPr/>
        </p:nvSpPr>
        <p:spPr>
          <a:xfrm xmlns:a="http://schemas.openxmlformats.org/drawingml/2006/main">
            <a:off x="8191500" y="4791075"/>
            <a:ext cx="3381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Inferencia aislada en CPU.</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El tiempo total del controlador</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permanece por verificar.</a:t>
            </a:r>
          </a:p>
        </p:txBody>
      </p:sp>
    </p:spTree>
    <p:extLst>
      <p:ext uri="{BB962C8B-B14F-4D97-AF65-F5344CB8AC3E}">
        <p14:creationId xmlns:p14="http://schemas.microsoft.com/office/powerpoint/2010/main" val="188729453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FE43414-957E-4A63-B449-25ED412D3DB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160BC75-35ED-444B-BE14-8BF8E08CB62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6D82044A-07D9-4FEC-8207-A0AE2F6CC5C8}"/>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Seguimiento articular</a:t>
            </a:r>
          </a:p>
        </p:txBody>
      </p:sp>
      <p:sp>
        <p:nvSpPr>
          <p:cNvPr id="4" name="">
            <a:extLst xmlns:a="http://schemas.openxmlformats.org/drawingml/2006/main">
              <a:ext uri="{FF2B5EF4-FFF2-40B4-BE49-F238E27FC236}">
                <a16:creationId xmlns:a16="http://schemas.microsoft.com/office/drawing/2014/main" id="{B513624F-9CE3-4DA0-AC42-39956D607E0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775EB00-E5F9-4002-8804-01050C809082}"/>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RMSE reportados y criterio RF-01 en TT1 [1]</a:t>
            </a:r>
          </a:p>
        </p:txBody>
      </p:sp>
      <p:sp>
        <p:nvSpPr>
          <p:cNvPr id="6" name="">
            <a:extLst xmlns:a="http://schemas.openxmlformats.org/drawingml/2006/main">
              <a:ext uri="{FF2B5EF4-FFF2-40B4-BE49-F238E27FC236}">
                <a16:creationId xmlns:a16="http://schemas.microsoft.com/office/drawing/2014/main" id="{A6F5FE9B-A0C3-4291-9D90-6D116B86C471}"/>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19</a:t>
            </a:r>
          </a:p>
        </p:txBody>
      </p:sp>
      <p:graphicFrame>
        <p:nvGraphicFramePr>
          <p:cNvPr id="7" name="Chart">
            <a:extLst xmlns:a="http://schemas.openxmlformats.org/drawingml/2006/main">
              <a:ext uri="{FF2B5EF4-FFF2-40B4-BE49-F238E27FC236}">
                <a16:creationId xmlns:a16="http://schemas.microsoft.com/office/drawing/2014/main" id="{432597EB-4CC0-43FE-9BC9-3F0C0C4E4705}"/>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dafd2a8de4ba4f28"/>
          </a:graphicData>
        </a:graphic>
      </p:graphicFrame>
      <p:sp>
        <p:nvSpPr>
          <p:cNvPr id="8" name="">
            <a:extLst xmlns:a="http://schemas.openxmlformats.org/drawingml/2006/main">
              <a:ext uri="{FF2B5EF4-FFF2-40B4-BE49-F238E27FC236}">
                <a16:creationId xmlns:a16="http://schemas.microsoft.com/office/drawing/2014/main" id="{28CB3EA5-B9B6-47B7-81CD-D1D5B998054D}"/>
              </a:ext>
            </a:extLst>
          </p:cNvPr>
          <p:cNvSpPr>
            <a:spLocks xmlns:a="http://schemas.openxmlformats.org/drawingml/2006/main" noGrp="1"/>
          </p:cNvSpPr>
          <p:nvPr/>
        </p:nvSpPr>
        <p:spPr>
          <a:xfrm xmlns:a="http://schemas.openxmlformats.org/drawingml/2006/main">
            <a:off x="8524875" y="2343150"/>
            <a:ext cx="276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B45309"/>
                </a:solidFill>
                <a:latin typeface="Lato"/>
                <a:ea typeface="Lato"/>
                <a:cs typeface="Lato"/>
              </a:defRPr>
            </a:defPPr>
          </a:lstStyle>
          <a:p xmlns:a="http://schemas.openxmlformats.org/drawingml/2006/main">
            <a:pPr algn="l">
              <a:defRPr sz="3300" b="1">
                <a:solidFill>
                  <a:srgbClr val="B45309"/>
                </a:solidFill>
                <a:latin typeface="Lato"/>
                <a:ea typeface="Lato"/>
                <a:cs typeface="Lato"/>
              </a:defRPr>
            </a:pPr>
            <a:r>
              <a:rPr sz="3300" b="1">
                <a:solidFill>
                  <a:srgbClr val="B45309"/>
                </a:solidFill>
                <a:latin typeface="Lato"/>
                <a:ea typeface="Lato"/>
                <a:cs typeface="Lato"/>
              </a:rPr>
              <a:t>RF-01</a:t>
            </a:r>
          </a:p>
        </p:txBody>
      </p:sp>
      <p:sp>
        <p:nvSpPr>
          <p:cNvPr id="9" name="">
            <a:extLst xmlns:a="http://schemas.openxmlformats.org/drawingml/2006/main">
              <a:ext uri="{FF2B5EF4-FFF2-40B4-BE49-F238E27FC236}">
                <a16:creationId xmlns:a16="http://schemas.microsoft.com/office/drawing/2014/main" id="{87279C4A-BCE8-4CB4-9684-174F571469BE}"/>
              </a:ext>
            </a:extLst>
          </p:cNvPr>
          <p:cNvSpPr>
            <a:spLocks xmlns:a="http://schemas.openxmlformats.org/drawingml/2006/main" noGrp="1"/>
          </p:cNvSpPr>
          <p:nvPr/>
        </p:nvSpPr>
        <p:spPr>
          <a:xfrm xmlns:a="http://schemas.openxmlformats.org/drawingml/2006/main">
            <a:off x="8191500" y="3209925"/>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263445"/>
                </a:solidFill>
                <a:latin typeface="Lato"/>
                <a:ea typeface="Lato"/>
                <a:cs typeface="Lato"/>
              </a:defRPr>
            </a:defPPr>
          </a:lstStyle>
          <a:p xmlns:a="http://schemas.openxmlformats.org/drawingml/2006/main">
            <a:pPr algn="l">
              <a:defRPr sz="2175" b="1">
                <a:solidFill>
                  <a:srgbClr val="263445"/>
                </a:solidFill>
                <a:latin typeface="Lato"/>
                <a:ea typeface="Lato"/>
                <a:cs typeface="Lato"/>
              </a:defRPr>
            </a:pPr>
            <a:r>
              <a:rPr sz="2175" b="1">
                <a:solidFill>
                  <a:srgbClr val="263445"/>
                </a:solidFill>
                <a:latin typeface="Lato"/>
                <a:ea typeface="Lato"/>
                <a:cs typeface="Lato"/>
              </a:rPr>
              <a:t>RMSE &lt; 0.05 rad</a:t>
            </a:r>
          </a:p>
        </p:txBody>
      </p:sp>
      <p:sp>
        <p:nvSpPr>
          <p:cNvPr id="10" name="">
            <a:extLst xmlns:a="http://schemas.openxmlformats.org/drawingml/2006/main">
              <a:ext uri="{FF2B5EF4-FFF2-40B4-BE49-F238E27FC236}">
                <a16:creationId xmlns:a16="http://schemas.microsoft.com/office/drawing/2014/main" id="{C95E41CF-CE28-487D-808F-BCC768DF2F08}"/>
              </a:ext>
            </a:extLst>
          </p:cNvPr>
          <p:cNvSpPr>
            <a:spLocks xmlns:a="http://schemas.openxmlformats.org/drawingml/2006/main" noGrp="1"/>
          </p:cNvSpPr>
          <p:nvPr/>
        </p:nvSpPr>
        <p:spPr>
          <a:xfrm xmlns:a="http://schemas.openxmlformats.org/drawingml/2006/main">
            <a:off x="8286750" y="409575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45309"/>
                </a:solidFill>
                <a:latin typeface="Lato"/>
                <a:ea typeface="Lato"/>
                <a:cs typeface="Lato"/>
              </a:defRPr>
            </a:defPPr>
          </a:lstStyle>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No alcanzado</a:t>
            </a:r>
          </a:p>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en las tres configuraciones.</a:t>
            </a:r>
          </a:p>
        </p:txBody>
      </p:sp>
      <p:sp>
        <p:nvSpPr>
          <p:cNvPr id="11" name="">
            <a:extLst xmlns:a="http://schemas.openxmlformats.org/drawingml/2006/main">
              <a:ext uri="{FF2B5EF4-FFF2-40B4-BE49-F238E27FC236}">
                <a16:creationId xmlns:a16="http://schemas.microsoft.com/office/drawing/2014/main" id="{16B3D481-F30B-4018-9958-A62B699D47B6}"/>
              </a:ext>
            </a:extLst>
          </p:cNvPr>
          <p:cNvSpPr>
            <a:spLocks xmlns:a="http://schemas.openxmlformats.org/drawingml/2006/main" noGrp="1"/>
          </p:cNvSpPr>
          <p:nvPr/>
        </p:nvSpPr>
        <p:spPr>
          <a:xfrm xmlns:a="http://schemas.openxmlformats.org/drawingml/2006/main">
            <a:off x="8286750" y="5457825"/>
            <a:ext cx="3143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Referencia de desempeño</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para la siguiente etapa.</a:t>
            </a:r>
          </a:p>
        </p:txBody>
      </p:sp>
    </p:spTree>
    <p:extLst>
      <p:ext uri="{BB962C8B-B14F-4D97-AF65-F5344CB8AC3E}">
        <p14:creationId xmlns:p14="http://schemas.microsoft.com/office/powerpoint/2010/main" val="132014936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7C4039B-F11F-46E8-894B-AFEFE3D8FC5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329303-F952-4CB5-A1BC-36A8A3672897}"/>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 DE TT1</a:t>
            </a:r>
          </a:p>
        </p:txBody>
      </p:sp>
      <p:sp>
        <p:nvSpPr>
          <p:cNvPr id="3" name="">
            <a:extLst xmlns:a="http://schemas.openxmlformats.org/drawingml/2006/main">
              <a:ext uri="{FF2B5EF4-FFF2-40B4-BE49-F238E27FC236}">
                <a16:creationId xmlns:a16="http://schemas.microsoft.com/office/drawing/2014/main" id="{1FB61784-B09A-4351-BBAA-2C2863F01EF1}"/>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Cumplimiento y limitaciones</a:t>
            </a:r>
          </a:p>
        </p:txBody>
      </p:sp>
      <p:sp>
        <p:nvSpPr>
          <p:cNvPr id="4" name="">
            <a:extLst xmlns:a="http://schemas.openxmlformats.org/drawingml/2006/main">
              <a:ext uri="{FF2B5EF4-FFF2-40B4-BE49-F238E27FC236}">
                <a16:creationId xmlns:a16="http://schemas.microsoft.com/office/drawing/2014/main" id="{A0BCBB75-30FD-46CA-9369-A03A3766953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C8D1C8-41A1-4AEA-A041-0A6759C76A2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matriz consolidada de verificación TT1 [1]</a:t>
            </a:r>
          </a:p>
        </p:txBody>
      </p:sp>
      <p:sp>
        <p:nvSpPr>
          <p:cNvPr id="6" name="">
            <a:extLst xmlns:a="http://schemas.openxmlformats.org/drawingml/2006/main">
              <a:ext uri="{FF2B5EF4-FFF2-40B4-BE49-F238E27FC236}">
                <a16:creationId xmlns:a16="http://schemas.microsoft.com/office/drawing/2014/main" id="{8CB0391C-5DCD-48B0-9421-3C5177C3FB4A}"/>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20</a:t>
            </a:r>
          </a:p>
        </p:txBody>
      </p:sp>
      <p:graphicFrame>
        <p:nvGraphicFramePr>
          <p:cNvPr id="7" name="">
            <a:extLst xmlns:a="http://schemas.openxmlformats.org/drawingml/2006/main">
              <a:ext uri="{FF2B5EF4-FFF2-40B4-BE49-F238E27FC236}">
                <a16:creationId xmlns:a16="http://schemas.microsoft.com/office/drawing/2014/main" id="{6BD89B61-1E59-43D1-A49B-2584F2C499E9}"/>
              </a:ext>
            </a:extLst>
          </p:cNvPr>
          <p:cNvGraphicFramePr/>
          <p:nvPr/>
        </p:nvGraphicFramePr>
        <p:xfrm>
          <a:off xmlns:a="http://schemas.openxmlformats.org/drawingml/2006/main" x="685800" y="2009775"/>
          <a:ext xmlns:a="http://schemas.openxmlformats.org/drawingml/2006/main" cx="10810875" cy="3209925"/>
        </p:xfrm>
        <a:graphic xmlns:a="http://schemas.openxmlformats.org/drawingml/2006/main">
          <a:graphicData uri="http://schemas.openxmlformats.org/drawingml/2006/table">
            <a:tbl>
              <a:tblPr/>
              <a:tblGrid>
                <a:gridCol w="3667125"/>
                <a:gridCol w="4286250"/>
                <a:gridCol w="2857500"/>
              </a:tblGrid>
              <a:tr h="534988">
                <a:tc>
                  <a:txBody>
                    <a:bodyPr/>
                    <a:lstStyle/>
                    <a:p>
                      <a:r>
                        <a:rPr sz="1800" b="1">
                          <a:solidFill>
                            <a:srgbClr val="FFFFFF"/>
                          </a:solidFill>
                          <a:latin typeface="Lato"/>
                          <a:ea typeface="Lato"/>
                          <a:cs typeface="Lato"/>
                        </a:rPr>
                        <a:t>Criterio</a:t>
                      </a:r>
                    </a:p>
                  </a:txBody>
                  <a:tcPr marL="91440" marR="91440" marT="45720" marB="45720">
                    <a:solidFill>
                      <a:srgbClr val="263445"/>
                    </a:solidFill>
                  </a:tcPr>
                </a:tc>
                <a:tc>
                  <a:txBody>
                    <a:bodyPr/>
                    <a:lstStyle/>
                    <a:p>
                      <a:r>
                        <a:rPr sz="1800" b="1">
                          <a:solidFill>
                            <a:srgbClr val="FFFFFF"/>
                          </a:solidFill>
                          <a:latin typeface="Lato"/>
                          <a:ea typeface="Lato"/>
                          <a:cs typeface="Lato"/>
                        </a:rPr>
                        <a:t>Resultado TT1</a:t>
                      </a:r>
                    </a:p>
                  </a:txBody>
                  <a:tcPr marL="91440" marR="91440" marT="45720" marB="45720">
                    <a:solidFill>
                      <a:srgbClr val="263445"/>
                    </a:solidFill>
                  </a:tcPr>
                </a:tc>
                <a:tc>
                  <a:txBody>
                    <a:bodyPr/>
                    <a:lstStyle/>
                    <a:p>
                      <a:r>
                        <a:rPr sz="1800" b="1">
                          <a:solidFill>
                            <a:srgbClr val="FFFFFF"/>
                          </a:solidFill>
                          <a:latin typeface="Lato"/>
                          <a:ea typeface="Lato"/>
                          <a:cs typeface="Lato"/>
                        </a:rPr>
                        <a:t>Estado</a:t>
                      </a:r>
                    </a:p>
                  </a:txBody>
                  <a:tcPr marL="91440" marR="91440" marT="45720" marB="45720">
                    <a:solidFill>
                      <a:srgbClr val="263445"/>
                    </a:solidFill>
                  </a:tcPr>
                </a:tc>
              </a:tr>
              <a:tr h="534988">
                <a:tc>
                  <a:txBody>
                    <a:bodyPr/>
                    <a:lstStyle/>
                    <a:p>
                      <a:r>
                        <a:rPr sz="1875" b="0">
                          <a:solidFill>
                            <a:srgbClr val="263445"/>
                          </a:solidFill>
                          <a:latin typeface="Lato"/>
                          <a:ea typeface="Lato"/>
                          <a:cs typeface="Lato"/>
                        </a:rPr>
                        <a:t>Reducción ONNX ≥50%</a:t>
                      </a:r>
                    </a:p>
                  </a:txBody>
                  <a:tcPr marL="91440" marR="91440" marT="45720" marB="45720">
                    <a:solidFill>
                      <a:srgbClr val="FFFFFF"/>
                    </a:solidFill>
                  </a:tcPr>
                </a:tc>
                <a:tc>
                  <a:txBody>
                    <a:bodyPr/>
                    <a:lstStyle/>
                    <a:p>
                      <a:r>
                        <a:rPr sz="1875" b="0">
                          <a:solidFill>
                            <a:srgbClr val="263445"/>
                          </a:solidFill>
                          <a:latin typeface="Lato"/>
                          <a:ea typeface="Lato"/>
                          <a:cs typeface="Lato"/>
                        </a:rPr>
                        <a:t>74.43%</a:t>
                      </a:r>
                    </a:p>
                  </a:txBody>
                  <a:tcPr marL="91440" marR="91440" marT="45720" marB="45720">
                    <a:solidFill>
                      <a:srgbClr val="FFFFFF"/>
                    </a:solidFill>
                  </a:tcPr>
                </a:tc>
                <a:tc>
                  <a:txBody>
                    <a:bodyPr/>
                    <a:lstStyle/>
                    <a:p>
                      <a:r>
                        <a:rPr sz="1875" b="0">
                          <a:solidFill>
                            <a:srgbClr val="263445"/>
                          </a:solidFill>
                          <a:latin typeface="Lato"/>
                          <a:ea typeface="Lato"/>
                          <a:cs typeface="Lato"/>
                        </a:rPr>
                        <a:t>Cumplido</a:t>
                      </a:r>
                    </a:p>
                  </a:txBody>
                  <a:tcPr marL="91440" marR="91440" marT="45720" marB="45720">
                    <a:solidFill>
                      <a:srgbClr val="FFFFFF"/>
                    </a:solidFill>
                  </a:tcPr>
                </a:tc>
              </a:tr>
              <a:tr h="534988">
                <a:tc>
                  <a:txBody>
                    <a:bodyPr/>
                    <a:lstStyle/>
                    <a:p>
                      <a:r>
                        <a:rPr sz="1875" b="0">
                          <a:solidFill>
                            <a:srgbClr val="263445"/>
                          </a:solidFill>
                          <a:latin typeface="Lato"/>
                          <a:ea typeface="Lato"/>
                          <a:cs typeface="Lato"/>
                        </a:rPr>
                        <a:t>Latencia media de inferencia</a:t>
                      </a:r>
                    </a:p>
                  </a:txBody>
                  <a:tcPr marL="91440" marR="91440" marT="45720" marB="45720">
                    <a:solidFill>
                      <a:srgbClr val="F8FAFC"/>
                    </a:solidFill>
                  </a:tcPr>
                </a:tc>
                <a:tc>
                  <a:txBody>
                    <a:bodyPr/>
                    <a:lstStyle/>
                    <a:p>
                      <a:r>
                        <a:rPr sz="1875" b="0">
                          <a:solidFill>
                            <a:srgbClr val="263445"/>
                          </a:solidFill>
                          <a:latin typeface="Lato"/>
                          <a:ea typeface="Lato"/>
                          <a:cs typeface="Lato"/>
                        </a:rPr>
                        <a:t>Reducción del 21.29%</a:t>
                      </a:r>
                    </a:p>
                  </a:txBody>
                  <a:tcPr marL="91440" marR="91440" marT="45720" marB="45720">
                    <a:solidFill>
                      <a:srgbClr val="F8FAFC"/>
                    </a:solidFill>
                  </a:tcPr>
                </a:tc>
                <a:tc>
                  <a:txBody>
                    <a:bodyPr/>
                    <a:lstStyle/>
                    <a:p>
                      <a:r>
                        <a:rPr sz="1875" b="0">
                          <a:solidFill>
                            <a:srgbClr val="263445"/>
                          </a:solidFill>
                          <a:latin typeface="Lato"/>
                          <a:ea typeface="Lato"/>
                          <a:cs typeface="Lato"/>
                        </a:rPr>
                        <a:t>Observado en CPU</a:t>
                      </a:r>
                    </a:p>
                  </a:txBody>
                  <a:tcPr marL="91440" marR="91440" marT="45720" marB="45720">
                    <a:solidFill>
                      <a:srgbClr val="F8FAFC"/>
                    </a:solidFill>
                  </a:tcPr>
                </a:tc>
              </a:tr>
              <a:tr h="534988">
                <a:tc>
                  <a:txBody>
                    <a:bodyPr/>
                    <a:lstStyle/>
                    <a:p>
                      <a:r>
                        <a:rPr sz="1875" b="0">
                          <a:solidFill>
                            <a:srgbClr val="263445"/>
                          </a:solidFill>
                          <a:latin typeface="Lato"/>
                          <a:ea typeface="Lato"/>
                          <a:cs typeface="Lato"/>
                        </a:rPr>
                        <a:t>RMSE &lt;0.05 rad</a:t>
                      </a:r>
                    </a:p>
                  </a:txBody>
                  <a:tcPr marL="91440" marR="91440" marT="45720" marB="45720">
                    <a:solidFill>
                      <a:srgbClr val="FFFFFF"/>
                    </a:solidFill>
                  </a:tcPr>
                </a:tc>
                <a:tc>
                  <a:txBody>
                    <a:bodyPr/>
                    <a:lstStyle/>
                    <a:p>
                      <a:r>
                        <a:rPr sz="1875" b="0">
                          <a:solidFill>
                            <a:srgbClr val="263445"/>
                          </a:solidFill>
                          <a:latin typeface="Lato"/>
                          <a:ea typeface="Lato"/>
                          <a:cs typeface="Lato"/>
                        </a:rPr>
                        <a:t>0.063 / 0.092 / 0.138 rad</a:t>
                      </a:r>
                    </a:p>
                  </a:txBody>
                  <a:tcPr marL="91440" marR="91440" marT="45720" marB="45720">
                    <a:solidFill>
                      <a:srgbClr val="FFFFFF"/>
                    </a:solidFill>
                  </a:tcPr>
                </a:tc>
                <a:tc>
                  <a:txBody>
                    <a:bodyPr/>
                    <a:lstStyle/>
                    <a:p>
                      <a:r>
                        <a:rPr sz="1875" b="0">
                          <a:solidFill>
                            <a:srgbClr val="263445"/>
                          </a:solidFill>
                          <a:latin typeface="Lato"/>
                          <a:ea typeface="Lato"/>
                          <a:cs typeface="Lato"/>
                        </a:rPr>
                        <a:t>No alcanzado</a:t>
                      </a:r>
                    </a:p>
                  </a:txBody>
                  <a:tcPr marL="91440" marR="91440" marT="45720" marB="45720">
                    <a:solidFill>
                      <a:srgbClr val="FFFFFF"/>
                    </a:solidFill>
                  </a:tcPr>
                </a:tc>
              </a:tr>
              <a:tr h="534988">
                <a:tc>
                  <a:txBody>
                    <a:bodyPr/>
                    <a:lstStyle/>
                    <a:p>
                      <a:r>
                        <a:rPr sz="1875" b="0">
                          <a:solidFill>
                            <a:srgbClr val="263445"/>
                          </a:solidFill>
                          <a:latin typeface="Lato"/>
                          <a:ea typeface="Lato"/>
                          <a:cs typeface="Lato"/>
                        </a:rPr>
                        <a:t>Ciclo total y jitter</a:t>
                      </a:r>
                    </a:p>
                  </a:txBody>
                  <a:tcPr marL="91440" marR="91440" marT="45720" marB="45720">
                    <a:solidFill>
                      <a:srgbClr val="F8FAFC"/>
                    </a:solidFill>
                  </a:tcPr>
                </a:tc>
                <a:tc>
                  <a:txBody>
                    <a:bodyPr/>
                    <a:lstStyle/>
                    <a:p>
                      <a:r>
                        <a:rPr sz="1875" b="0">
                          <a:solidFill>
                            <a:srgbClr val="263445"/>
                          </a:solidFill>
                          <a:latin typeface="Lato"/>
                          <a:ea typeface="Lato"/>
                          <a:cs typeface="Lato"/>
                        </a:rPr>
                        <a:t>Sin medición trazable completa</a:t>
                      </a:r>
                    </a:p>
                  </a:txBody>
                  <a:tcPr marL="91440" marR="91440" marT="45720" marB="45720">
                    <a:solidFill>
                      <a:srgbClr val="F8FAFC"/>
                    </a:solidFill>
                  </a:tcPr>
                </a:tc>
                <a:tc>
                  <a:txBody>
                    <a:bodyPr/>
                    <a:lstStyle/>
                    <a:p>
                      <a:r>
                        <a:rPr sz="1875" b="0">
                          <a:solidFill>
                            <a:srgbClr val="263445"/>
                          </a:solidFill>
                          <a:latin typeface="Lato"/>
                          <a:ea typeface="Lato"/>
                          <a:cs typeface="Lato"/>
                        </a:rPr>
                        <a:t>Por verificar</a:t>
                      </a:r>
                    </a:p>
                  </a:txBody>
                  <a:tcPr marL="91440" marR="91440" marT="45720" marB="45720">
                    <a:solidFill>
                      <a:srgbClr val="F8FAFC"/>
                    </a:solidFill>
                  </a:tcPr>
                </a:tc>
              </a:tr>
              <a:tr h="534988">
                <a:tc>
                  <a:txBody>
                    <a:bodyPr/>
                    <a:lstStyle/>
                    <a:p>
                      <a:r>
                        <a:rPr sz="1875" b="0">
                          <a:solidFill>
                            <a:srgbClr val="263445"/>
                          </a:solidFill>
                          <a:latin typeface="Lato"/>
                          <a:ea typeface="Lato"/>
                          <a:cs typeface="Lato"/>
                        </a:rPr>
                        <a:t>Consumo eléctrico</a:t>
                      </a:r>
                    </a:p>
                  </a:txBody>
                  <a:tcPr marL="91440" marR="91440" marT="45720" marB="45720">
                    <a:solidFill>
                      <a:srgbClr val="FFFFFF"/>
                    </a:solidFill>
                  </a:tcPr>
                </a:tc>
                <a:tc>
                  <a:txBody>
                    <a:bodyPr/>
                    <a:lstStyle/>
                    <a:p>
                      <a:r>
                        <a:rPr sz="1875" b="0">
                          <a:solidFill>
                            <a:srgbClr val="263445"/>
                          </a:solidFill>
                          <a:latin typeface="Lato"/>
                          <a:ea typeface="Lato"/>
                          <a:cs typeface="Lato"/>
                        </a:rPr>
                        <a:t>Sin medición directa</a:t>
                      </a:r>
                    </a:p>
                  </a:txBody>
                  <a:tcPr marL="91440" marR="91440" marT="45720" marB="45720">
                    <a:solidFill>
                      <a:srgbClr val="FFFFFF"/>
                    </a:solidFill>
                  </a:tcPr>
                </a:tc>
                <a:tc>
                  <a:txBody>
                    <a:bodyPr/>
                    <a:lstStyle/>
                    <a:p>
                      <a:r>
                        <a:rPr sz="1875" b="0">
                          <a:solidFill>
                            <a:srgbClr val="263445"/>
                          </a:solidFill>
                          <a:latin typeface="Lato"/>
                          <a:ea typeface="Lato"/>
                          <a:cs typeface="Lato"/>
                        </a:rPr>
                        <a:t>Pendiente</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D02BBE0-9139-49BC-840F-D46C507103BD}"/>
              </a:ext>
            </a:extLst>
          </p:cNvPr>
          <p:cNvSpPr>
            <a:spLocks xmlns:a="http://schemas.openxmlformats.org/drawingml/2006/main" noGrp="1"/>
          </p:cNvSpPr>
          <p:nvPr/>
        </p:nvSpPr>
        <p:spPr>
          <a:xfrm xmlns:a="http://schemas.openxmlformats.org/drawingml/2006/main">
            <a:off x="752475" y="5562600"/>
            <a:ext cx="1047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526173"/>
                </a:solidFill>
                <a:latin typeface="Lato"/>
                <a:ea typeface="Lato"/>
                <a:cs typeface="Lato"/>
              </a:defRPr>
            </a:defPPr>
          </a:lstStyle>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Saturación uniforme ±55 N·m: simplificación provisional de simulación.</a:t>
            </a:r>
          </a:p>
        </p:txBody>
      </p:sp>
    </p:spTree>
    <p:extLst>
      <p:ext uri="{BB962C8B-B14F-4D97-AF65-F5344CB8AC3E}">
        <p14:creationId xmlns:p14="http://schemas.microsoft.com/office/powerpoint/2010/main" val="144769736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31564B1-8C50-40DC-B1F8-8BAFAEFD0F8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0AB89A2-ED5F-4A57-83EF-DB1AB5A7D0B7}"/>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CIERRE</a:t>
            </a:r>
          </a:p>
        </p:txBody>
      </p:sp>
      <p:sp>
        <p:nvSpPr>
          <p:cNvPr id="3" name="">
            <a:extLst xmlns:a="http://schemas.openxmlformats.org/drawingml/2006/main">
              <a:ext uri="{FF2B5EF4-FFF2-40B4-BE49-F238E27FC236}">
                <a16:creationId xmlns:a16="http://schemas.microsoft.com/office/drawing/2014/main" id="{A1765E9B-D653-45FE-BF4F-2885FEFCD01E}"/>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Conclusiones de TT1</a:t>
            </a:r>
          </a:p>
        </p:txBody>
      </p:sp>
      <p:sp>
        <p:nvSpPr>
          <p:cNvPr id="4" name="">
            <a:extLst xmlns:a="http://schemas.openxmlformats.org/drawingml/2006/main">
              <a:ext uri="{FF2B5EF4-FFF2-40B4-BE49-F238E27FC236}">
                <a16:creationId xmlns:a16="http://schemas.microsoft.com/office/drawing/2014/main" id="{FD442D7C-B70E-4F59-B6AD-497D729F63A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F1204D6-5516-4D48-AE53-B1218991259F}"/>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resultados y limitaciones de TT1 [1]</a:t>
            </a:r>
          </a:p>
        </p:txBody>
      </p:sp>
      <p:sp>
        <p:nvSpPr>
          <p:cNvPr id="6" name="">
            <a:extLst xmlns:a="http://schemas.openxmlformats.org/drawingml/2006/main">
              <a:ext uri="{FF2B5EF4-FFF2-40B4-BE49-F238E27FC236}">
                <a16:creationId xmlns:a16="http://schemas.microsoft.com/office/drawing/2014/main" id="{5B1A157C-DFE4-4FF4-AD13-56C4E99CBAB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21</a:t>
            </a:r>
          </a:p>
        </p:txBody>
      </p:sp>
      <p:sp>
        <p:nvSpPr>
          <p:cNvPr id="7" name="">
            <a:extLst xmlns:a="http://schemas.openxmlformats.org/drawingml/2006/main">
              <a:ext uri="{FF2B5EF4-FFF2-40B4-BE49-F238E27FC236}">
                <a16:creationId xmlns:a16="http://schemas.microsoft.com/office/drawing/2014/main" id="{6E991F10-5EF0-4A0B-8D69-6A8DF4025A9F}"/>
              </a:ext>
            </a:extLst>
          </p:cNvPr>
          <p:cNvSpPr>
            <a:spLocks xmlns:a="http://schemas.openxmlformats.org/drawingml/2006/main" noGrp="1"/>
          </p:cNvSpPr>
          <p:nvPr/>
        </p:nvSpPr>
        <p:spPr>
          <a:xfrm xmlns:a="http://schemas.openxmlformats.org/drawingml/2006/main">
            <a:off x="762000" y="19716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19AC8AE8-072D-4CB0-92D3-3337AE1DA003}"/>
              </a:ext>
            </a:extLst>
          </p:cNvPr>
          <p:cNvSpPr>
            <a:spLocks xmlns:a="http://schemas.openxmlformats.org/drawingml/2006/main" noGrp="1"/>
          </p:cNvSpPr>
          <p:nvPr/>
        </p:nvSpPr>
        <p:spPr>
          <a:xfrm xmlns:a="http://schemas.openxmlformats.org/drawingml/2006/main">
            <a:off x="1581150" y="197167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Se integró y evaluó el control con red neuronal en simulación.</a:t>
            </a:r>
          </a:p>
        </p:txBody>
      </p:sp>
      <p:sp>
        <p:nvSpPr>
          <p:cNvPr id="9" name="">
            <a:extLst xmlns:a="http://schemas.openxmlformats.org/drawingml/2006/main">
              <a:ext uri="{FF2B5EF4-FFF2-40B4-BE49-F238E27FC236}">
                <a16:creationId xmlns:a16="http://schemas.microsoft.com/office/drawing/2014/main" id="{00D1A23C-4B80-43F2-9AD5-9A18617E96D5}"/>
              </a:ext>
            </a:extLst>
          </p:cNvPr>
          <p:cNvSpPr>
            <a:spLocks xmlns:a="http://schemas.openxmlformats.org/drawingml/2006/main" noGrp="1"/>
          </p:cNvSpPr>
          <p:nvPr/>
        </p:nvSpPr>
        <p:spPr>
          <a:xfrm xmlns:a="http://schemas.openxmlformats.org/drawingml/2006/main">
            <a:off x="762000" y="31813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3F8D6D58-7D21-4CB3-A99B-B14664A88AB5}"/>
              </a:ext>
            </a:extLst>
          </p:cNvPr>
          <p:cNvSpPr>
            <a:spLocks xmlns:a="http://schemas.openxmlformats.org/drawingml/2006/main" noGrp="1"/>
          </p:cNvSpPr>
          <p:nvPr/>
        </p:nvSpPr>
        <p:spPr>
          <a:xfrm xmlns:a="http://schemas.openxmlformats.org/drawingml/2006/main">
            <a:off x="1581150" y="3181350"/>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redujo el archivo ONNX y la latencia media de inferencia observada.</a:t>
            </a:r>
          </a:p>
        </p:txBody>
      </p:sp>
      <p:sp>
        <p:nvSpPr>
          <p:cNvPr id="11" name="">
            <a:extLst xmlns:a="http://schemas.openxmlformats.org/drawingml/2006/main">
              <a:ext uri="{FF2B5EF4-FFF2-40B4-BE49-F238E27FC236}">
                <a16:creationId xmlns:a16="http://schemas.microsoft.com/office/drawing/2014/main" id="{65DC4B65-BA78-4E16-9263-2B3F52E0C061}"/>
              </a:ext>
            </a:extLst>
          </p:cNvPr>
          <p:cNvSpPr>
            <a:spLocks xmlns:a="http://schemas.openxmlformats.org/drawingml/2006/main" noGrp="1"/>
          </p:cNvSpPr>
          <p:nvPr/>
        </p:nvSpPr>
        <p:spPr>
          <a:xfrm xmlns:a="http://schemas.openxmlformats.org/drawingml/2006/main">
            <a:off x="762000" y="43910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5B39BC90-2C50-408C-BEEC-5030FA7D3FC5}"/>
              </a:ext>
            </a:extLst>
          </p:cNvPr>
          <p:cNvSpPr>
            <a:spLocks xmlns:a="http://schemas.openxmlformats.org/drawingml/2006/main" noGrp="1"/>
          </p:cNvSpPr>
          <p:nvPr/>
        </p:nvSpPr>
        <p:spPr>
          <a:xfrm xmlns:a="http://schemas.openxmlformats.org/drawingml/2006/main">
            <a:off x="1581150" y="439102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La precisión de seguimiento no alcanzó RF-01; se documentaron las limitaciones.</a:t>
            </a:r>
          </a:p>
        </p:txBody>
      </p:sp>
    </p:spTree>
    <p:extLst>
      <p:ext uri="{BB962C8B-B14F-4D97-AF65-F5344CB8AC3E}">
        <p14:creationId xmlns:p14="http://schemas.microsoft.com/office/powerpoint/2010/main" val="42860006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BB3AE67-CFA3-4C32-A800-B561B6D6FCE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E8C948-524F-49B0-80BA-067816C866A6}"/>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FUENTES</a:t>
            </a:r>
          </a:p>
        </p:txBody>
      </p:sp>
      <p:sp>
        <p:nvSpPr>
          <p:cNvPr id="3" name="">
            <a:extLst xmlns:a="http://schemas.openxmlformats.org/drawingml/2006/main">
              <a:ext uri="{FF2B5EF4-FFF2-40B4-BE49-F238E27FC236}">
                <a16:creationId xmlns:a16="http://schemas.microsoft.com/office/drawing/2014/main" id="{45186BE5-B0B2-45C5-9B61-8B28F59734A8}"/>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Referencias</a:t>
            </a:r>
          </a:p>
        </p:txBody>
      </p:sp>
      <p:sp>
        <p:nvSpPr>
          <p:cNvPr id="4" name="">
            <a:extLst xmlns:a="http://schemas.openxmlformats.org/drawingml/2006/main">
              <a:ext uri="{FF2B5EF4-FFF2-40B4-BE49-F238E27FC236}">
                <a16:creationId xmlns:a16="http://schemas.microsoft.com/office/drawing/2014/main" id="{F4F37559-E71F-40EB-B639-0E6EC531DBE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19D135E-92C0-4D75-B5F3-5E8D62995DFF}"/>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Consulta de documentación: 7 de octubre de 2026</a:t>
            </a:r>
          </a:p>
        </p:txBody>
      </p:sp>
      <p:sp>
        <p:nvSpPr>
          <p:cNvPr id="6" name="">
            <a:extLst xmlns:a="http://schemas.openxmlformats.org/drawingml/2006/main">
              <a:ext uri="{FF2B5EF4-FFF2-40B4-BE49-F238E27FC236}">
                <a16:creationId xmlns:a16="http://schemas.microsoft.com/office/drawing/2014/main" id="{797D30D7-1FA5-4366-A0B6-D2A6499CE43B}"/>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22</a:t>
            </a:r>
          </a:p>
        </p:txBody>
      </p:sp>
      <p:sp>
        <p:nvSpPr>
          <p:cNvPr id="7" name="">
            <a:extLst xmlns:a="http://schemas.openxmlformats.org/drawingml/2006/main">
              <a:ext uri="{FF2B5EF4-FFF2-40B4-BE49-F238E27FC236}">
                <a16:creationId xmlns:a16="http://schemas.microsoft.com/office/drawing/2014/main" id="{1EC6E27C-4904-4C9C-BEDA-280FA42AAB38}"/>
              </a:ext>
            </a:extLst>
          </p:cNvPr>
          <p:cNvSpPr>
            <a:spLocks xmlns:a="http://schemas.openxmlformats.org/drawingml/2006/main" noGrp="1"/>
          </p:cNvSpPr>
          <p:nvPr/>
        </p:nvSpPr>
        <p:spPr>
          <a:xfrm xmlns:a="http://schemas.openxmlformats.org/drawingml/2006/main">
            <a:off x="723900" y="18573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[1] R. Mendoza Díaz. Reporte de Trabajo Terminal I. UPIITA–IPN, 2026.</a:t>
            </a:r>
          </a:p>
        </p:txBody>
      </p:sp>
      <p:sp>
        <p:nvSpPr>
          <p:cNvPr id="8" name="">
            <a:extLst xmlns:a="http://schemas.openxmlformats.org/drawingml/2006/main">
              <a:ext uri="{FF2B5EF4-FFF2-40B4-BE49-F238E27FC236}">
                <a16:creationId xmlns:a16="http://schemas.microsoft.com/office/drawing/2014/main" id="{C9C8CD8D-362F-4D2D-8E74-6485AE52BF19}"/>
              </a:ext>
            </a:extLst>
          </p:cNvPr>
          <p:cNvSpPr>
            <a:spLocks xmlns:a="http://schemas.openxmlformats.org/drawingml/2006/main" noGrp="1"/>
          </p:cNvSpPr>
          <p:nvPr/>
        </p:nvSpPr>
        <p:spPr>
          <a:xfrm xmlns:a="http://schemas.openxmlformats.org/drawingml/2006/main">
            <a:off x="723900" y="25622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[2] IEEE. IEEE Standard for Floating-Point Arithmetic, IEEE 754-2019. standards.ieee.org/standard/754-2019.html</a:t>
            </a:r>
          </a:p>
        </p:txBody>
      </p:sp>
      <p:sp>
        <p:nvSpPr>
          <p:cNvPr id="9" name="">
            <a:extLst xmlns:a="http://schemas.openxmlformats.org/drawingml/2006/main">
              <a:ext uri="{FF2B5EF4-FFF2-40B4-BE49-F238E27FC236}">
                <a16:creationId xmlns:a16="http://schemas.microsoft.com/office/drawing/2014/main" id="{0AB387FC-853A-4CE6-86AB-A45E2F0572E4}"/>
              </a:ext>
            </a:extLst>
          </p:cNvPr>
          <p:cNvSpPr>
            <a:spLocks xmlns:a="http://schemas.openxmlformats.org/drawingml/2006/main" noGrp="1"/>
          </p:cNvSpPr>
          <p:nvPr/>
        </p:nvSpPr>
        <p:spPr>
          <a:xfrm xmlns:a="http://schemas.openxmlformats.org/drawingml/2006/main">
            <a:off x="723900" y="32670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[3] ONNX Runtime. Quantize ONNX models. onnxruntime.ai/docs/performance/model-optimizations/quantization.html</a:t>
            </a:r>
          </a:p>
        </p:txBody>
      </p:sp>
      <p:sp>
        <p:nvSpPr>
          <p:cNvPr id="10" name="">
            <a:extLst xmlns:a="http://schemas.openxmlformats.org/drawingml/2006/main">
              <a:ext uri="{FF2B5EF4-FFF2-40B4-BE49-F238E27FC236}">
                <a16:creationId xmlns:a16="http://schemas.microsoft.com/office/drawing/2014/main" id="{60F834DA-A2E2-4393-A226-5F9B7217E01E}"/>
              </a:ext>
            </a:extLst>
          </p:cNvPr>
          <p:cNvSpPr>
            <a:spLocks xmlns:a="http://schemas.openxmlformats.org/drawingml/2006/main" noGrp="1"/>
          </p:cNvSpPr>
          <p:nvPr/>
        </p:nvSpPr>
        <p:spPr>
          <a:xfrm xmlns:a="http://schemas.openxmlformats.org/drawingml/2006/main">
            <a:off x="723900" y="39719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[4] PyTorch. torch.nn.Linear. docs.pytorch.org/docs/stable/generated/torch.nn.Linear.html</a:t>
            </a:r>
          </a:p>
        </p:txBody>
      </p:sp>
      <p:sp>
        <p:nvSpPr>
          <p:cNvPr id="11" name="">
            <a:extLst xmlns:a="http://schemas.openxmlformats.org/drawingml/2006/main">
              <a:ext uri="{FF2B5EF4-FFF2-40B4-BE49-F238E27FC236}">
                <a16:creationId xmlns:a16="http://schemas.microsoft.com/office/drawing/2014/main" id="{81D05B84-A929-44AB-BB56-15B8CAC66D29}"/>
              </a:ext>
            </a:extLst>
          </p:cNvPr>
          <p:cNvSpPr>
            <a:spLocks xmlns:a="http://schemas.openxmlformats.org/drawingml/2006/main" noGrp="1"/>
          </p:cNvSpPr>
          <p:nvPr/>
        </p:nvSpPr>
        <p:spPr>
          <a:xfrm xmlns:a="http://schemas.openxmlformats.org/drawingml/2006/main">
            <a:off x="723900" y="46767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[5] ONNX. ONNX Concepts. onnx.ai/onnx/intro/concepts.html</a:t>
            </a:r>
          </a:p>
        </p:txBody>
      </p:sp>
      <p:sp>
        <p:nvSpPr>
          <p:cNvPr id="12" name="">
            <a:extLst xmlns:a="http://schemas.openxmlformats.org/drawingml/2006/main">
              <a:ext uri="{FF2B5EF4-FFF2-40B4-BE49-F238E27FC236}">
                <a16:creationId xmlns:a16="http://schemas.microsoft.com/office/drawing/2014/main" id="{A49C09B1-9043-45F1-946C-D838984B3422}"/>
              </a:ext>
            </a:extLst>
          </p:cNvPr>
          <p:cNvSpPr>
            <a:spLocks xmlns:a="http://schemas.openxmlformats.org/drawingml/2006/main" noGrp="1"/>
          </p:cNvSpPr>
          <p:nvPr/>
        </p:nvSpPr>
        <p:spPr>
          <a:xfrm xmlns:a="http://schemas.openxmlformats.org/drawingml/2006/main">
            <a:off x="723900" y="53816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[6] J. J. Craig. Introduction to Robotics: Mechanics and Control. 3.ª ed., Pearson Prentice Hall, 2005.</a:t>
            </a:r>
          </a:p>
        </p:txBody>
      </p:sp>
    </p:spTree>
    <p:extLst>
      <p:ext uri="{BB962C8B-B14F-4D97-AF65-F5344CB8AC3E}">
        <p14:creationId xmlns:p14="http://schemas.microsoft.com/office/powerpoint/2010/main" val="17020711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2026-10-07T18:51:06.1980000Z</dcterms:created>
  <dcterms:modified xsi:type="dcterms:W3CDTF">2026-10-07T18:51:06.1980000Z</dcterms:modified>
</coreProperties>
</file>