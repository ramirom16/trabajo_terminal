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c98f2ce121443d2" /><Relationship Type="http://schemas.openxmlformats.org/officeDocument/2006/relationships/extended-properties" Target="/docProps/app.xml" Id="R5167dc47137e42de" /><Relationship Type="http://schemas.openxmlformats.org/officeDocument/2006/relationships/officeDocument" Target="/ppt/presentation.xml" Id="R6933035168af48e6" /></Relationships>
</file>

<file path=ppt/presentation.xml><?xml version="1.0" encoding="utf-8"?>
<p:presentation xmlns:p="http://schemas.openxmlformats.org/presentationml/2006/main">
  <p:sldMasterIdLst>
    <p:sldMasterId xmlns:r="http://schemas.openxmlformats.org/officeDocument/2006/relationships" id="2147483648" r:id="R59c23de784ba4cae"/>
  </p:sldMasterIdLst>
  <p:notesMasterIdLst>
    <p:notesMasterId xmlns:r="http://schemas.openxmlformats.org/officeDocument/2006/relationships" r:id="Rdb015b6e3a1e497e"/>
  </p:notesMasterIdLst>
  <p:sldIdLst>
    <p:sldId xmlns:r="http://schemas.openxmlformats.org/officeDocument/2006/relationships" id="256" r:id="R94daa70d1a58463b"/>
    <p:sldId xmlns:r="http://schemas.openxmlformats.org/officeDocument/2006/relationships" id="257" r:id="R91dbf81c9cf6483d"/>
    <p:sldId xmlns:r="http://schemas.openxmlformats.org/officeDocument/2006/relationships" id="258" r:id="R4beb12732a5b45f5"/>
    <p:sldId xmlns:r="http://schemas.openxmlformats.org/officeDocument/2006/relationships" id="259" r:id="R34fec28d70a74975"/>
    <p:sldId xmlns:r="http://schemas.openxmlformats.org/officeDocument/2006/relationships" id="260" r:id="R48853ce50c404421"/>
    <p:sldId xmlns:r="http://schemas.openxmlformats.org/officeDocument/2006/relationships" id="261" r:id="Rd9b31036ca814499"/>
    <p:sldId xmlns:r="http://schemas.openxmlformats.org/officeDocument/2006/relationships" id="262" r:id="R66f3fe0b3ea9469f"/>
    <p:sldId xmlns:r="http://schemas.openxmlformats.org/officeDocument/2006/relationships" id="263" r:id="R0784df2021de43d0"/>
    <p:sldId xmlns:r="http://schemas.openxmlformats.org/officeDocument/2006/relationships" id="264" r:id="R5506365d487c47d5"/>
    <p:sldId xmlns:r="http://schemas.openxmlformats.org/officeDocument/2006/relationships" id="265" r:id="R65f8fbcca2f74107"/>
    <p:sldId xmlns:r="http://schemas.openxmlformats.org/officeDocument/2006/relationships" id="266" r:id="Rc425f388de3549f5"/>
    <p:sldId xmlns:r="http://schemas.openxmlformats.org/officeDocument/2006/relationships" id="267" r:id="R49095c1321f64b3a"/>
    <p:sldId xmlns:r="http://schemas.openxmlformats.org/officeDocument/2006/relationships" id="268" r:id="Rce6c33a2032b4d70"/>
    <p:sldId xmlns:r="http://schemas.openxmlformats.org/officeDocument/2006/relationships" id="269" r:id="R63c31fa936b24431"/>
    <p:sldId xmlns:r="http://schemas.openxmlformats.org/officeDocument/2006/relationships" id="270" r:id="Rb58799f5f2f94ec9"/>
    <p:sldId xmlns:r="http://schemas.openxmlformats.org/officeDocument/2006/relationships" id="271" r:id="R7fbdbf114a824364"/>
    <p:sldId xmlns:r="http://schemas.openxmlformats.org/officeDocument/2006/relationships" id="272" r:id="Rebc830ccabf94606"/>
    <p:sldId xmlns:r="http://schemas.openxmlformats.org/officeDocument/2006/relationships" id="273" r:id="Ra34fd2fc59444c52"/>
    <p:sldId xmlns:r="http://schemas.openxmlformats.org/officeDocument/2006/relationships" id="274" r:id="R39398bfa07c940ea"/>
    <p:sldId xmlns:r="http://schemas.openxmlformats.org/officeDocument/2006/relationships" id="275" r:id="R1734ccf48ef94e58"/>
    <p:sldId xmlns:r="http://schemas.openxmlformats.org/officeDocument/2006/relationships" id="276" r:id="Rbeccb7ed09694a2b"/>
    <p:sldId xmlns:r="http://schemas.openxmlformats.org/officeDocument/2006/relationships" id="277" r:id="Rd2b93020f7d644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52c503c38f4af9" /><Relationship Type="http://schemas.openxmlformats.org/officeDocument/2006/relationships/slideMaster" Target="/ppt/slideMasters/slideMaster1.xml" Id="R59c23de784ba4cae" /><Relationship Type="http://schemas.openxmlformats.org/officeDocument/2006/relationships/notesMaster" Target="/ppt/notesMasters/notesMaster1.xml" Id="Rdb015b6e3a1e497e" /><Relationship Type="http://schemas.openxmlformats.org/officeDocument/2006/relationships/presProps" Target="/ppt/presProps.xml" Id="R5a24dec1aa7d425c" /><Relationship Type="http://schemas.openxmlformats.org/officeDocument/2006/relationships/tableStyles" Target="/ppt/tableStyles.xml" Id="R9e235987c57c4d08" /><Relationship Type="http://schemas.openxmlformats.org/officeDocument/2006/relationships/slide" Target="/ppt/slides/slide1.xml" Id="R94daa70d1a58463b" /><Relationship Type="http://schemas.openxmlformats.org/officeDocument/2006/relationships/slide" Target="/ppt/slides/slide2.xml" Id="R91dbf81c9cf6483d" /><Relationship Type="http://schemas.openxmlformats.org/officeDocument/2006/relationships/slide" Target="/ppt/slides/slide3.xml" Id="R4beb12732a5b45f5" /><Relationship Type="http://schemas.openxmlformats.org/officeDocument/2006/relationships/slide" Target="/ppt/slides/slide4.xml" Id="R34fec28d70a74975" /><Relationship Type="http://schemas.openxmlformats.org/officeDocument/2006/relationships/slide" Target="/ppt/slides/slide5.xml" Id="R48853ce50c404421" /><Relationship Type="http://schemas.openxmlformats.org/officeDocument/2006/relationships/slide" Target="/ppt/slides/slide6.xml" Id="Rd9b31036ca814499" /><Relationship Type="http://schemas.openxmlformats.org/officeDocument/2006/relationships/slide" Target="/ppt/slides/slide7.xml" Id="R66f3fe0b3ea9469f" /><Relationship Type="http://schemas.openxmlformats.org/officeDocument/2006/relationships/slide" Target="/ppt/slides/slide8.xml" Id="R0784df2021de43d0" /><Relationship Type="http://schemas.openxmlformats.org/officeDocument/2006/relationships/slide" Target="/ppt/slides/slide9.xml" Id="R5506365d487c47d5" /><Relationship Type="http://schemas.openxmlformats.org/officeDocument/2006/relationships/slide" Target="/ppt/slides/slide10.xml" Id="R65f8fbcca2f74107" /><Relationship Type="http://schemas.openxmlformats.org/officeDocument/2006/relationships/slide" Target="/ppt/slides/slide11.xml" Id="Rc425f388de3549f5" /><Relationship Type="http://schemas.openxmlformats.org/officeDocument/2006/relationships/slide" Target="/ppt/slides/slide12.xml" Id="R49095c1321f64b3a" /><Relationship Type="http://schemas.openxmlformats.org/officeDocument/2006/relationships/slide" Target="/ppt/slides/slide13.xml" Id="Rce6c33a2032b4d70" /><Relationship Type="http://schemas.openxmlformats.org/officeDocument/2006/relationships/slide" Target="/ppt/slides/slide14.xml" Id="R63c31fa936b24431" /><Relationship Type="http://schemas.openxmlformats.org/officeDocument/2006/relationships/slide" Target="/ppt/slides/slide15.xml" Id="Rb58799f5f2f94ec9" /><Relationship Type="http://schemas.openxmlformats.org/officeDocument/2006/relationships/slide" Target="/ppt/slides/slide16.xml" Id="R7fbdbf114a824364" /><Relationship Type="http://schemas.openxmlformats.org/officeDocument/2006/relationships/slide" Target="/ppt/slides/slide17.xml" Id="Rebc830ccabf94606" /><Relationship Type="http://schemas.openxmlformats.org/officeDocument/2006/relationships/slide" Target="/ppt/slides/slide18.xml" Id="Ra34fd2fc59444c52" /><Relationship Type="http://schemas.openxmlformats.org/officeDocument/2006/relationships/slide" Target="/ppt/slides/slide19.xml" Id="R39398bfa07c940ea" /><Relationship Type="http://schemas.openxmlformats.org/officeDocument/2006/relationships/slide" Target="/ppt/slides/slide20.xml" Id="R1734ccf48ef94e58" /><Relationship Type="http://schemas.openxmlformats.org/officeDocument/2006/relationships/slide" Target="/ppt/slides/slide21.xml" Id="Rbeccb7ed09694a2b" /><Relationship Type="http://schemas.openxmlformats.org/officeDocument/2006/relationships/slide" Target="/ppt/slides/slide22.xml" Id="Rd2b93020f7d644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e058d4280e49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c83b541ee94017" /><Relationship Type="http://schemas.openxmlformats.org/officeDocument/2006/relationships/notesMaster" Target="/ppt/notesMasters/notesMaster1.xml" Id="Rea80331af06c4e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7a98c3cb4f41c0" /><Relationship Type="http://schemas.openxmlformats.org/officeDocument/2006/relationships/notesMaster" Target="/ppt/notesMasters/notesMaster1.xml" Id="Ree9bbd18b74a4a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876e06de6b4e27" /><Relationship Type="http://schemas.openxmlformats.org/officeDocument/2006/relationships/notesMaster" Target="/ppt/notesMasters/notesMaster1.xml" Id="R1306a978a45043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118dba7d484dcd" /><Relationship Type="http://schemas.openxmlformats.org/officeDocument/2006/relationships/notesMaster" Target="/ppt/notesMasters/notesMaster1.xml" Id="Rde40e1a94e7140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200ffd07db4b89" /><Relationship Type="http://schemas.openxmlformats.org/officeDocument/2006/relationships/notesMaster" Target="/ppt/notesMasters/notesMaster1.xml" Id="R5e2a214dbbe146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ac0ea847e441c5" /><Relationship Type="http://schemas.openxmlformats.org/officeDocument/2006/relationships/notesMaster" Target="/ppt/notesMasters/notesMaster1.xml" Id="R5358c10c5fe548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500825d43e480d" /><Relationship Type="http://schemas.openxmlformats.org/officeDocument/2006/relationships/notesMaster" Target="/ppt/notesMasters/notesMaster1.xml" Id="Rac3486dfff874c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914b52a1e94a9d" /><Relationship Type="http://schemas.openxmlformats.org/officeDocument/2006/relationships/notesMaster" Target="/ppt/notesMasters/notesMaster1.xml" Id="R47243b7a76f64d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16a31b9dc54732" /><Relationship Type="http://schemas.openxmlformats.org/officeDocument/2006/relationships/notesMaster" Target="/ppt/notesMasters/notesMaster1.xml" Id="R77b420d0bb644e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0366c23d0b4bfa" /><Relationship Type="http://schemas.openxmlformats.org/officeDocument/2006/relationships/notesMaster" Target="/ppt/notesMasters/notesMaster1.xml" Id="R1631ae2e846c44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e54bb63dfc44bd" /><Relationship Type="http://schemas.openxmlformats.org/officeDocument/2006/relationships/notesMaster" Target="/ppt/notesMasters/notesMaster1.xml" Id="R8086796778c440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f422a0d7704fd2" /><Relationship Type="http://schemas.openxmlformats.org/officeDocument/2006/relationships/notesMaster" Target="/ppt/notesMasters/notesMaster1.xml" Id="R4e6a4af72c5d45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ea9617adb04a2f" /><Relationship Type="http://schemas.openxmlformats.org/officeDocument/2006/relationships/notesMaster" Target="/ppt/notesMasters/notesMaster1.xml" Id="R72347e3874c7490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4a2c0d2418d48b5" /><Relationship Type="http://schemas.openxmlformats.org/officeDocument/2006/relationships/notesMaster" Target="/ppt/notesMasters/notesMaster1.xml" Id="Rffb23e9e02af4a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9e7cb28e8c4f79" /><Relationship Type="http://schemas.openxmlformats.org/officeDocument/2006/relationships/notesMaster" Target="/ppt/notesMasters/notesMaster1.xml" Id="R7ce0f3bf378a4bd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f6e5aa604b44a6" /><Relationship Type="http://schemas.openxmlformats.org/officeDocument/2006/relationships/notesMaster" Target="/ppt/notesMasters/notesMaster1.xml" Id="R30d37d9bb22c4cf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f3eff840d8445e" /><Relationship Type="http://schemas.openxmlformats.org/officeDocument/2006/relationships/notesMaster" Target="/ppt/notesMasters/notesMaster1.xml" Id="Rf85713aae00e450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52b9d381514799" /><Relationship Type="http://schemas.openxmlformats.org/officeDocument/2006/relationships/notesMaster" Target="/ppt/notesMasters/notesMaster1.xml" Id="Rc3d9689c8210426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aeea39f1d0746c7" /><Relationship Type="http://schemas.openxmlformats.org/officeDocument/2006/relationships/notesMaster" Target="/ppt/notesMasters/notesMaster1.xml" Id="R1622f9d6df8d4e2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621dc3cdeec4fb6" /><Relationship Type="http://schemas.openxmlformats.org/officeDocument/2006/relationships/notesMaster" Target="/ppt/notesMasters/notesMaster1.xml" Id="R56d1c5b74ecf400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edd57b2e3c44ca5" /><Relationship Type="http://schemas.openxmlformats.org/officeDocument/2006/relationships/notesMaster" Target="/ppt/notesMasters/notesMaster1.xml" Id="Re383f2f8c5a8427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70007d2ece4683" /><Relationship Type="http://schemas.openxmlformats.org/officeDocument/2006/relationships/notesMaster" Target="/ppt/notesMasters/notesMaster1.xml" Id="R2319e9370ae242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0:30. Presentar título, autor y alcance de TT1. Nombres y cargos tomados de la presentación compartida; cotejar datos finales del sínodo antes de exponer. Fuente: /home/ramiro/Downloads/presentacion.pdf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0:20.</a:t>
            </a:r>
          </a:p>
          <a:p xmlns:a="http://schemas.openxmlformats.org/drawingml/2006/main">
            <a:r>
              <a:t>Recorrer el índice sin explicar todavía los resultados. No detenerse más de 20 segundos.</a:t>
            </a:r>
          </a:p>
          <a:p xmlns:a="http://schemas.openxmlformats.org/drawingml/2006/main">
            <a:r>
              <a:t>Fuentes: </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0:50.</a:t>
            </a:r>
          </a:p>
          <a:p xmlns:a="http://schemas.openxmlformats.org/drawingml/2006/main">
            <a:r>
              <a:t>La motivación son los recursos de cómputo y el seguimiento. La investigación energética es parte del objetivo general; aquí no se presenta una medición eléctrica. 500 Hz es configuración nominal, 100 Hz publicación/adquisición.</a:t>
            </a:r>
          </a:p>
          <a:p xmlns:a="http://schemas.openxmlformats.org/drawingml/2006/main">
            <a:r>
              <a:t>Fuentes: Fuente: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0:35.</a:t>
            </a:r>
          </a:p>
          <a:p xmlns:a="http://schemas.openxmlformats.org/drawingml/2006/main">
            <a:r>
              <a:t>Leer el sentido del objetivo, no afirmar que ya se cumplió íntegramente. La precisión y recursos se caracterizan en simulación. El componente energético permanece pendiente de medición directa.</a:t>
            </a:r>
          </a:p>
          <a:p xmlns:a="http://schemas.openxmlformats.org/drawingml/2006/main">
            <a:r>
              <a:t>Fuentes: Fuente: objetivo declarado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Agrupación fiel de los objetivos para exposición. Incluyen investigación de cuantización, arquitectura, línea base, metodología y plan/plataforma. El documento propone al menos dos precisiones cuantizadas; la campaña actual acredita FP32 frente a INT8, no INT6+INT8. No declarar cumplimiento total.</a:t>
            </a:r>
          </a:p>
          <a:p xmlns:a="http://schemas.openxmlformats.org/drawingml/2006/main">
            <a:r>
              <a:t>Fuentes: Síntesis de objetivos declarados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FP32 binary32 tiene representación finita: 1 bit de signo, 8 exponente y 23 fracción. INT8 representa enteros en complemento a dos; el rango real se reconstruye con escala y punto cero. UINT8 se distingue explícitamente. No equiparar reducción por peso con reducción de todo el archivo ni convertir todos los tensores a enteros.</a:t>
            </a:r>
          </a:p>
          <a:p xmlns:a="http://schemas.openxmlformats.org/drawingml/2006/main">
            <a:r>
              <a:t>Fuentes: Fuentes: IEEE 754 [2]; cuantización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L=2^B son códigos posibles, 256 para 8 bits. S separa niveles reales consecutivos. La fórmula con L−1 supone que los extremos son niveles. Figura con rango reducido, no parámetros del modelo. Una distribución normal de pesos no transforma el cuantizador uniforme en no uniforme.</a:t>
            </a:r>
          </a:p>
          <a:p xmlns:a="http://schemas.openxmlformats.org/drawingml/2006/main">
            <a:r>
              <a:t>Fuentes: Fuentes: cuantización lineal [3]; ilustración conceptual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El esquema conceptual no es el número real de neuronas. Las capas densas transforman entradas y las activaciones aportan no linealidad. Cuantizar cambia la representación, no elimina neuronas. La topología real se muestra después.</a:t>
            </a:r>
          </a:p>
          <a:p xmlns:a="http://schemas.openxmlformats.org/drawingml/2006/main">
            <a:r>
              <a:t>Fuentes: Fuentes: capas densas PyTorch [4]; implementación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ONNX representa grafos con operadores/tensores. Interoperabilidad requiere soporte del backend; no garantiza cualquier FPGA o embebido. En TT1 exportación PyTorch y ejecución ONNX Runtime C++.</a:t>
            </a:r>
          </a:p>
          <a:p xmlns:a="http://schemas.openxmlformats.org/drawingml/2006/main">
            <a:r>
              <a:t>Fuentes: Fuente: ONNX Concepts [5]</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La captura sólo acredita el entorno ilustrado; sus valores de consola son instantáneos y no son las estadísticas agregadas. La evaluación física no se realizó. Frecuencias nominales diferenciadas.</a:t>
            </a:r>
          </a:p>
          <a:p xmlns:a="http://schemas.openxmlformats.org/drawingml/2006/main">
            <a:r>
              <a:t>Fuentes: Fuente: captura del avance y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El PD se suma en torque; no se introduce en aceleración de mando del CTC ideal. El maestro produce etiquetas de torque total y es la referencia analítica. 151.2 µs mide RNEA+PD integrado, no RNEA aislado; omitir comparación injusta con inferencia pura.</a:t>
            </a:r>
          </a:p>
          <a:p xmlns:a="http://schemas.openxmlformats.org/drawingml/2006/main">
            <a:r>
              <a:t>Fuentes: Fuentes: dinámica de manipuladores [6]; controlador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Cinco capas Linear con sesgo, cuatro activaciones ReLU. Dropout 0.05 después de segunda capa en entrenamiento. 306432 pesos+1158 sesgos=307590 parámetros. Se mantienen 42 entradas y seis salidas estandarizadas.</a:t>
            </a:r>
          </a:p>
          <a:p xmlns:a="http://schemas.openxmlformats.org/drawingml/2006/main">
            <a:r>
              <a:t>Fuentes: Fuente: figura corregida y código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RNEA como entrada, no residual. Normalización, modelo, desnormalización y saturación provisional. Recibe estados y referencias. q̈ actual cero en despliegue. El modelo no sustituye el cálculo RNEA. Figura redibujada como formas editables a partir del diagrama corregido.</a:t>
            </a:r>
          </a:p>
          <a:p xmlns:a="http://schemas.openxmlformats.org/drawingml/2006/main">
            <a:r>
              <a:t>Fuentes: Fuente: arquitectura funcional corregida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1:15.</a:t>
            </a:r>
          </a:p>
          <a:p xmlns:a="http://schemas.openxmlformats.org/drawingml/2006/main">
            <a:r>
              <a:t>42=7 grupos de6: q,dq,ddq,qd,dqd,ddqd,tauRNEA; seis objetivos de torque. Entrenamiento Adam0.002,batch512,500épocas configuradas,scheduler paciencia15. No presentar 50000 filas sin cotejo. Escaladores ajustados antes de partición constituyen limitación de evaluación independiente. La aceleración cero es simplificación no ventaja probada; evaluar retirarla implicaría 36 entradas y reentrenamiento.</a:t>
            </a:r>
          </a:p>
          <a:p xmlns:a="http://schemas.openxmlformats.org/drawingml/2006/main">
            <a:r>
              <a:t>Fuentes: Fuente: pipeline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Pesos cuantizados fuera de línea; escalas y puntos cero activaciones calculados en inferencia. No calibración estática como paso realizado. QAT no se evaluó en TT1. Mismos parámetros y capas. Ejecución CPU sin garantizar backend SIMD particular.</a:t>
            </a:r>
          </a:p>
          <a:p xmlns:a="http://schemas.openxmlformats.org/drawingml/2006/main">
            <a:r>
              <a:t>Fuentes: Fuentes: flujo PTQ corregido [1];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curva es ejemplo matemático no un registro del ensayo. Tres esquemas: maestro RNEA+PD, predictorFP32, predictorINT8. MedidasCPU/OS. Conteos nominales por frecuencia/duración no son mensajes efectivos; no usarN300000como conteo confirmado.</a:t>
            </a:r>
          </a:p>
          <a:p xmlns:a="http://schemas.openxmlformats.org/drawingml/2006/main">
            <a:r>
              <a:t>Fuentes: Fuente: condiciones experimentales y perfil quíntico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1232→315KB. Reducción1-315/1232=74.4318%. Tamaño serializado,noRAMni huella energética. MantenerKBsinconvertirMBni inventarbytes. Ambos modelos conservan topología.</a:t>
            </a:r>
          </a:p>
          <a:p xmlns:a="http://schemas.openxmlformats.org/drawingml/2006/main">
            <a:r>
              <a:t>Fuentes: Fuente: tamaños de campaña confirmados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media de inferencia pasó de 37.1 a 29.2 µs: reducción de 21.29 %. Son medidas de inferencia aislada en CPU. RNEA, preparación de entradas, procesamiento de salidas y comunicación requieren una medición conjunta. No implican garantías de tiempo real. Se omiten percentiles FP32 hasta confirmar registros. Los 151.2 µs corresponden a RNEA + PD integrado.</a:t>
            </a:r>
          </a:p>
          <a:p xmlns:a="http://schemas.openxmlformats.org/drawingml/2006/main">
            <a:r>
              <a:t>Fuentes: Fuente: medias de inferencia reportadas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RMSE: 0.063 rad analítico, 0.092 rad FP32 y 0.138 rad INT8. Ninguno alcanzó RF-01 (&lt;0.05 rad). La cuantización no se considera la única causa demostrada de la diferencia. Estos son resultados agregados de la campaña, no valores instantáneos de consola.</a:t>
            </a:r>
          </a:p>
          <a:p xmlns:a="http://schemas.openxmlformats.org/drawingml/2006/main">
            <a:r>
              <a:t>Fuentes: Fuente: RMSE reportados y criterio RF-01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Explicar el cumplimiento por criterio, sin declarar cumplimiento global. No se midió consumo eléctrico. El ciclo total y el jitter requieren registros trazables. La saturación uniforme de ±55 N·m es provisional en simulación. El requisito de ausencia de asignación dinámica no se acredita con el código actual. Comparar FP32 e INT8 no acredita dos precisiones cuantizadas.</a:t>
            </a:r>
          </a:p>
          <a:p xmlns:a="http://schemas.openxmlformats.org/drawingml/2006/main">
            <a:r>
              <a:t>Fuentes: Fuente: matriz consolidada de verificación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Relacionar las conclusiones con la integración y la comparación en CPU. Destacar la reducción del archivo y de la latencia media de inferencia, junto con el incumplimiento de RF-01. No atribuir ahorro energético sin medición directa. Dejar las referencias disponibles para preguntas.</a:t>
            </a:r>
          </a:p>
          <a:p xmlns:a="http://schemas.openxmlformats.org/drawingml/2006/main">
            <a:r>
              <a:t>Fuentes: Fuente: resultados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0:10.</a:t>
            </a:r>
          </a:p>
          <a:p xmlns:a="http://schemas.openxmlformats.org/drawingml/2006/main">
            <a:r>
              <a:t>No leer la bibliografía completa. Agradecer y abrir la sesión de preguntas. Las figuras proceden del reporte corregido; las fuentes externas fundamentan los conceptos, mientras que las mediciones corresponden al proyecto.</a:t>
            </a:r>
          </a:p>
          <a:p xmlns:a="http://schemas.openxmlformats.org/drawingml/2006/main">
            <a:r>
              <a:t>Fuentes: Consulta de documentación: 7 de octubre de 2026</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564f7db30f40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7477b8a63747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08d9f09b5d340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cdec28bd9a4c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6f1a413b234f0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7321799c7d41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F7B8B8-C176-40BF-80D8-DA251900EB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8F9FE7-A573-4EB1-A411-4168E81537C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251E73-113B-4FD6-92E2-922BB38C20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76BF60-0790-4D70-8A9F-3E181CDDA2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F6D68C-8245-437F-8BD1-36883E95056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E4B0144-8C8E-4032-A6AE-8B265806C0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5A53DB-909E-4B6C-8BA2-419938DE33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012B1E-B172-446E-8B9B-4D7DE13715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3AA58D-A0BD-4E54-ACE0-31096291D9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819CA8-5784-46DE-BAF3-C24994E646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d98193ab484f50" /><Relationship Type="http://schemas.openxmlformats.org/officeDocument/2006/relationships/slideLayout" Target="/ppt/slideLayouts/slideLayout1.xml" Id="Rb58fdbfb6fc8418e" /><Relationship Type="http://schemas.openxmlformats.org/officeDocument/2006/relationships/slideLayout" Target="/ppt/slideLayouts/slideLayout2.xml" Id="Rb6d72bab61dd45cb" /><Relationship Type="http://schemas.openxmlformats.org/officeDocument/2006/relationships/slideLayout" Target="/ppt/slideLayouts/slideLayout3.xml" Id="Re74cb0eb91fd4958" /><Relationship Type="http://schemas.openxmlformats.org/officeDocument/2006/relationships/slideLayout" Target="/ppt/slideLayouts/slideLayout4.xml" Id="R886bb53ee84d4a84" /><Relationship Type="http://schemas.openxmlformats.org/officeDocument/2006/relationships/slideLayout" Target="/ppt/slideLayouts/slideLayout5.xml" Id="Rbffc3bdef4a842c6" /><Relationship Type="http://schemas.openxmlformats.org/officeDocument/2006/relationships/slideLayout" Target="/ppt/slideLayouts/slideLayout6.xml" Id="R0f4197d3f63649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8fdbfb6fc8418e"/>
    <p:sldLayoutId xmlns:r="http://schemas.openxmlformats.org/officeDocument/2006/relationships" id="2147483650" r:id="Rb6d72bab61dd45cb"/>
    <p:sldLayoutId xmlns:r="http://schemas.openxmlformats.org/officeDocument/2006/relationships" id="2147483651" r:id="Re74cb0eb91fd4958"/>
    <p:sldLayoutId xmlns:r="http://schemas.openxmlformats.org/officeDocument/2006/relationships" id="2147483652" r:id="R886bb53ee84d4a84"/>
    <p:sldLayoutId xmlns:r="http://schemas.openxmlformats.org/officeDocument/2006/relationships" id="2147483653" r:id="Rbffc3bdef4a842c6"/>
    <p:sldLayoutId xmlns:r="http://schemas.openxmlformats.org/officeDocument/2006/relationships" id="2147483654" r:id="R0f4197d3f63649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70e42ec8bb460e" /><Relationship Type="http://schemas.openxmlformats.org/officeDocument/2006/relationships/notesSlide" Target="/ppt/notesSlides/notesSlide1.xml" Id="R57d73420661243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09a281fcd814e16" /><Relationship Type="http://schemas.openxmlformats.org/officeDocument/2006/relationships/notesSlide" Target="/ppt/notesSlides/notesSlide2.xml" Id="R635bed4e6ce64d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015c21aced64b59" /><Relationship Type="http://schemas.openxmlformats.org/officeDocument/2006/relationships/notesSlide" Target="/ppt/notesSlides/notesSlide3.xml" Id="R7632d3dacc4a44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39cda986094a10" /><Relationship Type="http://schemas.openxmlformats.org/officeDocument/2006/relationships/notesSlide" Target="/ppt/notesSlides/notesSlide4.xml" Id="Rb0d88853c88f41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97c2a3ac854d9f" /><Relationship Type="http://schemas.openxmlformats.org/officeDocument/2006/relationships/notesSlide" Target="/ppt/notesSlides/notesSlide5.xml" Id="Ra2c278a1fd8b49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8f50b3a01a48df" /><Relationship Type="http://schemas.openxmlformats.org/officeDocument/2006/relationships/notesSlide" Target="/ppt/notesSlides/notesSlide6.xml" Id="R280ba773f1244d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d2b1d9fe4bd46a8" /><Relationship Type="http://schemas.openxmlformats.org/officeDocument/2006/relationships/image" Target="/ppt/media/image.png" Id="R675cba52db514935" /><Relationship Type="http://schemas.openxmlformats.org/officeDocument/2006/relationships/notesSlide" Target="/ppt/notesSlides/notesSlide7.xml" Id="R3c13b4b18aab40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c276f3d950d49c1" /><Relationship Type="http://schemas.openxmlformats.org/officeDocument/2006/relationships/notesSlide" Target="/ppt/notesSlides/notesSlide8.xml" Id="Rdd4dbd3a53424d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3c0a9292714432" /><Relationship Type="http://schemas.openxmlformats.org/officeDocument/2006/relationships/notesSlide" Target="/ppt/notesSlides/notesSlide9.xml" Id="R4c6dc5c522794d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8844931e8304386" /><Relationship Type="http://schemas.openxmlformats.org/officeDocument/2006/relationships/image" Target="/ppt/media/image2.png" Id="Rf097972b4a954270" /><Relationship Type="http://schemas.openxmlformats.org/officeDocument/2006/relationships/notesSlide" Target="/ppt/notesSlides/notesSlide10.xml" Id="Re88f209e2be541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d5aa7c73f5c421d" /><Relationship Type="http://schemas.openxmlformats.org/officeDocument/2006/relationships/notesSlide" Target="/ppt/notesSlides/notesSlide11.xml" Id="R46fcfbfc0a3047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c12773b31684543" /><Relationship Type="http://schemas.openxmlformats.org/officeDocument/2006/relationships/image" Target="/ppt/media/image3.png" Id="R8cb773c2496341f8" /><Relationship Type="http://schemas.openxmlformats.org/officeDocument/2006/relationships/notesSlide" Target="/ppt/notesSlides/notesSlide12.xml" Id="Rd298cf059b7248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769acd71f134934" /><Relationship Type="http://schemas.openxmlformats.org/officeDocument/2006/relationships/notesSlide" Target="/ppt/notesSlides/notesSlide13.xml" Id="R18299f59b0f14b1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8adc66010414bd6" /><Relationship Type="http://schemas.openxmlformats.org/officeDocument/2006/relationships/notesSlide" Target="/ppt/notesSlides/notesSlide14.xml" Id="Re3b1a172d6674cf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9acb7a211d04868" /><Relationship Type="http://schemas.openxmlformats.org/officeDocument/2006/relationships/image" Target="/ppt/media/image4.png" Id="R75d40f5668a94654" /><Relationship Type="http://schemas.openxmlformats.org/officeDocument/2006/relationships/notesSlide" Target="/ppt/notesSlides/notesSlide15.xml" Id="Ra11a17e9e65544a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86b1150ddec4332" /><Relationship Type="http://schemas.openxmlformats.org/officeDocument/2006/relationships/image" Target="/ppt/media/image5.png" Id="R805655f907de4b5b" /><Relationship Type="http://schemas.openxmlformats.org/officeDocument/2006/relationships/notesSlide" Target="/ppt/notesSlides/notesSlide16.xml" Id="R33d696bc238f475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11bd339978a4962" /><Relationship Type="http://schemas.openxmlformats.org/officeDocument/2006/relationships/chart" Target="/ppt/slides/charts/chart1.xml" Id="R4631f48f9221449e" /><Relationship Type="http://schemas.openxmlformats.org/officeDocument/2006/relationships/notesSlide" Target="/ppt/notesSlides/notesSlide17.xml" Id="R61f3d51d4c7b405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513e114351d4950" /><Relationship Type="http://schemas.openxmlformats.org/officeDocument/2006/relationships/chart" Target="/ppt/slides/charts/chart2.xml" Id="R08dd21b31ee645a0" /><Relationship Type="http://schemas.openxmlformats.org/officeDocument/2006/relationships/notesSlide" Target="/ppt/notesSlides/notesSlide18.xml" Id="R8d49cf0ca11a412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53531d5ff2a499d" /><Relationship Type="http://schemas.openxmlformats.org/officeDocument/2006/relationships/chart" Target="/ppt/slides/charts/chart3.xml" Id="R8c89a17e61b3453a" /><Relationship Type="http://schemas.openxmlformats.org/officeDocument/2006/relationships/notesSlide" Target="/ppt/notesSlides/notesSlide19.xml" Id="R593d182580a845a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39b2d491318499e" /><Relationship Type="http://schemas.openxmlformats.org/officeDocument/2006/relationships/notesSlide" Target="/ppt/notesSlides/notesSlide20.xml" Id="R1a6cfccdb8224ed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01780779b6a4655" /><Relationship Type="http://schemas.openxmlformats.org/officeDocument/2006/relationships/notesSlide" Target="/ppt/notesSlides/notesSlide21.xml" Id="R212f56fb809e425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5b9b4753731481d" /><Relationship Type="http://schemas.openxmlformats.org/officeDocument/2006/relationships/notesSlide" Target="/ppt/notesSlides/notesSlide22.xml" Id="R565cce7812314c7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KB</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c:formatCode>
                <c:ptCount val="2"/>
                <c:pt idx="0">
                  <c:v>1232</c:v>
                </c:pt>
                <c:pt idx="1">
                  <c:v>315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1400"/>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KB</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µs</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0.0</c:formatCode>
                <c:ptCount val="2"/>
                <c:pt idx="0">
                  <c:v>37.1</c:v>
                </c:pt>
                <c:pt idx="1">
                  <c:v>29.2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45"/>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µs</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RMSE (rad)</c:v>
          </c:tx>
          <c:spPr>
            <a:solidFill xmlns:a="http://schemas.openxmlformats.org/drawingml/2006/main">
              <a:srgbClr val="0F766E"/>
            </a:solidFill>
          </c:spPr>
          <c:dPt>
            <c:idx val="0"/>
            <c:invertIfNegative val="0"/>
            <c:spPr>
              <a:solidFill xmlns:a="http://schemas.openxmlformats.org/drawingml/2006/main">
                <a:srgbClr val="1D4ED8"/>
              </a:solidFill>
            </c:spPr>
          </c:dPt>
          <c:dPt>
            <c:idx val="1"/>
            <c:invertIfNegative val="0"/>
            <c:spPr>
              <a:solidFill xmlns:a="http://schemas.openxmlformats.org/drawingml/2006/main">
                <a:srgbClr val="0F766E"/>
              </a:solidFill>
            </c:spPr>
          </c:dPt>
          <c:dPt>
            <c:idx val="2"/>
            <c:invertIfNegative val="0"/>
            <c:spPr>
              <a:solidFill xmlns:a="http://schemas.openxmlformats.org/drawingml/2006/main">
                <a:srgbClr val="B45309"/>
              </a:solidFill>
            </c:spPr>
          </c:dPt>
          <c:cat>
            <c:strRef>
              <c:f>'Chart Data'!$A$2:$A$4</c:f>
              <c:strCache>
                <c:ptCount val="3"/>
                <c:pt idx="0">
                  <c:v>Analítico</c:v>
                </c:pt>
                <c:pt idx="1">
                  <c:v>FP32</c:v>
                </c:pt>
                <c:pt idx="2">
                  <c:v>INT8</c:v>
                </c:pt>
              </c:strCache>
            </c:strRef>
          </c:cat>
          <c:val>
            <c:numRef>
              <c:f>'Chart Data'!$B$2:$B$4</c:f>
              <c:numCache>
                <c:formatCode>0.000</c:formatCode>
                <c:ptCount val="3"/>
                <c:pt idx="0">
                  <c:v>0.063</c:v>
                </c:pt>
                <c:pt idx="1">
                  <c:v>0.092</c:v>
                </c:pt>
                <c:pt idx="2">
                  <c:v>0.138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0.16"/>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RMSE (rad)</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6344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AD0DDC-4802-4393-8366-D339ABDF4C1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60229D-9119-4F2F-835A-C4F3847B4C2C}"/>
              </a:ext>
            </a:extLst>
          </p:cNvPr>
          <p:cNvSpPr>
            <a:spLocks xmlns:a="http://schemas.openxmlformats.org/drawingml/2006/main" noGrp="1"/>
          </p:cNvSpPr>
          <p:nvPr/>
        </p:nvSpPr>
        <p:spPr>
          <a:xfrm xmlns:a="http://schemas.openxmlformats.org/drawingml/2006/main">
            <a:off x="609600" y="447675"/>
            <a:ext cx="1095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B9D8D3"/>
                </a:solidFill>
                <a:latin typeface="Lato"/>
                <a:ea typeface="Lato"/>
                <a:cs typeface="Lato"/>
              </a:defRPr>
            </a:defPPr>
          </a:lstStyle>
          <a:p xmlns:a="http://schemas.openxmlformats.org/drawingml/2006/main">
            <a:pPr algn="l">
              <a:defRPr sz="1725" b="1">
                <a:solidFill>
                  <a:srgbClr val="B9D8D3"/>
                </a:solidFill>
                <a:latin typeface="Lato"/>
                <a:ea typeface="Lato"/>
                <a:cs typeface="Lato"/>
              </a:defRPr>
            </a:pPr>
            <a:r>
              <a:rPr sz="1725" b="1">
                <a:solidFill>
                  <a:srgbClr val="B9D8D3"/>
                </a:solidFill>
                <a:latin typeface="Lato"/>
                <a:ea typeface="Lato"/>
                <a:cs typeface="Lato"/>
              </a:rPr>
              <a:t>TRABAJO TERMINAL I · MECATRÓNICA · UPIITA–IPN</a:t>
            </a:r>
          </a:p>
        </p:txBody>
      </p:sp>
      <p:sp>
        <p:nvSpPr>
          <p:cNvPr id="3" name="">
            <a:extLst xmlns:a="http://schemas.openxmlformats.org/drawingml/2006/main">
              <a:ext uri="{FF2B5EF4-FFF2-40B4-BE49-F238E27FC236}">
                <a16:creationId xmlns:a16="http://schemas.microsoft.com/office/drawing/2014/main" id="{91171BCE-18C5-4DAD-858B-070E0CAC586A}"/>
              </a:ext>
            </a:extLst>
          </p:cNvPr>
          <p:cNvSpPr>
            <a:spLocks xmlns:a="http://schemas.openxmlformats.org/drawingml/2006/main" noGrp="1"/>
          </p:cNvSpPr>
          <p:nvPr/>
        </p:nvSpPr>
        <p:spPr>
          <a:xfrm xmlns:a="http://schemas.openxmlformats.org/drawingml/2006/main">
            <a:off x="609600" y="1133475"/>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525" b="1">
                <a:solidFill>
                  <a:srgbClr val="FFFFFF"/>
                </a:solidFill>
                <a:latin typeface="Lato"/>
                <a:ea typeface="Lato"/>
                <a:cs typeface="Lato"/>
              </a:defRPr>
            </a:defPPr>
          </a:lstStyle>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Control de posición de robot manipulador</a:t>
            </a:r>
          </a:p>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usando redes neuronales cuantizadas</a:t>
            </a:r>
          </a:p>
        </p:txBody>
      </p:sp>
      <p:sp>
        <p:nvSpPr>
          <p:cNvPr id="4" name="">
            <a:extLst xmlns:a="http://schemas.openxmlformats.org/drawingml/2006/main">
              <a:ext uri="{FF2B5EF4-FFF2-40B4-BE49-F238E27FC236}">
                <a16:creationId xmlns:a16="http://schemas.microsoft.com/office/drawing/2014/main" id="{6469BD7D-5497-4B8E-9051-5F019CD03860}"/>
              </a:ext>
            </a:extLst>
          </p:cNvPr>
          <p:cNvSpPr>
            <a:spLocks xmlns:a="http://schemas.openxmlformats.org/drawingml/2006/main" noGrp="1"/>
          </p:cNvSpPr>
          <p:nvPr/>
        </p:nvSpPr>
        <p:spPr>
          <a:xfrm xmlns:a="http://schemas.openxmlformats.org/drawingml/2006/main">
            <a:off x="609600" y="29146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9D8D3"/>
                </a:solidFill>
                <a:latin typeface="Lato"/>
                <a:ea typeface="Lato"/>
                <a:cs typeface="Lato"/>
              </a:defRPr>
            </a:defPPr>
          </a:lstStyle>
          <a:p xmlns:a="http://schemas.openxmlformats.org/drawingml/2006/main">
            <a:pPr algn="l">
              <a:defRPr sz="2175" b="1">
                <a:solidFill>
                  <a:srgbClr val="B9D8D3"/>
                </a:solidFill>
                <a:latin typeface="Lato"/>
                <a:ea typeface="Lato"/>
                <a:cs typeface="Lato"/>
              </a:defRPr>
            </a:pPr>
            <a:r>
              <a:rPr sz="2175" b="1">
                <a:solidFill>
                  <a:srgbClr val="B9D8D3"/>
                </a:solidFill>
                <a:latin typeface="Lato"/>
                <a:ea typeface="Lato"/>
                <a:cs typeface="Lato"/>
              </a:rPr>
              <a:t>TTM-2025/2-56</a:t>
            </a:r>
          </a:p>
        </p:txBody>
      </p:sp>
      <p:sp>
        <p:nvSpPr>
          <p:cNvPr id="5" name="">
            <a:extLst xmlns:a="http://schemas.openxmlformats.org/drawingml/2006/main">
              <a:ext uri="{FF2B5EF4-FFF2-40B4-BE49-F238E27FC236}">
                <a16:creationId xmlns:a16="http://schemas.microsoft.com/office/drawing/2014/main" id="{E4E0E84E-7425-42C2-8830-9CFC2F718325}"/>
              </a:ext>
            </a:extLst>
          </p:cNvPr>
          <p:cNvSpPr>
            <a:spLocks xmlns:a="http://schemas.openxmlformats.org/drawingml/2006/main" noGrp="1"/>
          </p:cNvSpPr>
          <p:nvPr/>
        </p:nvSpPr>
        <p:spPr>
          <a:xfrm xmlns:a="http://schemas.openxmlformats.org/drawingml/2006/main">
            <a:off x="609600" y="38481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Presenta: Ramiro Mendoza Díaz</a:t>
            </a:r>
          </a:p>
        </p:txBody>
      </p:sp>
      <p:sp>
        <p:nvSpPr>
          <p:cNvPr id="6" name="">
            <a:extLst xmlns:a="http://schemas.openxmlformats.org/drawingml/2006/main">
              <a:ext uri="{FF2B5EF4-FFF2-40B4-BE49-F238E27FC236}">
                <a16:creationId xmlns:a16="http://schemas.microsoft.com/office/drawing/2014/main" id="{6D319079-E8EC-498D-9D8D-4C878F0EF195}"/>
              </a:ext>
            </a:extLst>
          </p:cNvPr>
          <p:cNvSpPr>
            <a:spLocks xmlns:a="http://schemas.openxmlformats.org/drawingml/2006/main" noGrp="1"/>
          </p:cNvSpPr>
          <p:nvPr/>
        </p:nvSpPr>
        <p:spPr>
          <a:xfrm xmlns:a="http://schemas.openxmlformats.org/drawingml/2006/main">
            <a:off x="609600" y="43053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Asesor: Dr. Jorge Alejandro Juárez Lora</a:t>
            </a:r>
          </a:p>
        </p:txBody>
      </p:sp>
      <p:sp>
        <p:nvSpPr>
          <p:cNvPr id="7" name="">
            <a:extLst xmlns:a="http://schemas.openxmlformats.org/drawingml/2006/main">
              <a:ext uri="{FF2B5EF4-FFF2-40B4-BE49-F238E27FC236}">
                <a16:creationId xmlns:a16="http://schemas.microsoft.com/office/drawing/2014/main" id="{E0CF175E-4F18-4EC9-8D7C-7D755541C66C}"/>
              </a:ext>
            </a:extLst>
          </p:cNvPr>
          <p:cNvSpPr>
            <a:spLocks xmlns:a="http://schemas.openxmlformats.org/drawingml/2006/main" noGrp="1"/>
          </p:cNvSpPr>
          <p:nvPr/>
        </p:nvSpPr>
        <p:spPr>
          <a:xfrm xmlns:a="http://schemas.openxmlformats.org/drawingml/2006/main">
            <a:off x="609600" y="47625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Presidenta: Dra. Blanca Rosa Briseño Tepepa</a:t>
            </a:r>
          </a:p>
        </p:txBody>
      </p:sp>
      <p:sp>
        <p:nvSpPr>
          <p:cNvPr id="8" name="">
            <a:extLst xmlns:a="http://schemas.openxmlformats.org/drawingml/2006/main">
              <a:ext uri="{FF2B5EF4-FFF2-40B4-BE49-F238E27FC236}">
                <a16:creationId xmlns:a16="http://schemas.microsoft.com/office/drawing/2014/main" id="{D151B74B-AC89-440D-9225-E3756DAFF11E}"/>
              </a:ext>
            </a:extLst>
          </p:cNvPr>
          <p:cNvSpPr>
            <a:spLocks xmlns:a="http://schemas.openxmlformats.org/drawingml/2006/main" noGrp="1"/>
          </p:cNvSpPr>
          <p:nvPr/>
        </p:nvSpPr>
        <p:spPr>
          <a:xfrm xmlns:a="http://schemas.openxmlformats.org/drawingml/2006/main">
            <a:off x="609600" y="52197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Secretaria: M. en C. Cecilia Fernández Nava</a:t>
            </a:r>
          </a:p>
        </p:txBody>
      </p:sp>
      <p:sp>
        <p:nvSpPr>
          <p:cNvPr id="9" name="">
            <a:extLst xmlns:a="http://schemas.openxmlformats.org/drawingml/2006/main">
              <a:ext uri="{FF2B5EF4-FFF2-40B4-BE49-F238E27FC236}">
                <a16:creationId xmlns:a16="http://schemas.microsoft.com/office/drawing/2014/main" id="{134C3A46-09DE-4DA2-BE60-FAE07C3437AE}"/>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B9D8D3"/>
                </a:solidFill>
                <a:latin typeface="Lato"/>
                <a:ea typeface="Lato"/>
                <a:cs typeface="Lato"/>
              </a:defRPr>
            </a:defPPr>
          </a:lstStyle>
          <a:p xmlns:a="http://schemas.openxmlformats.org/drawingml/2006/main">
            <a:pPr algn="r">
              <a:defRPr sz="1350" b="0">
                <a:solidFill>
                  <a:srgbClr val="B9D8D3"/>
                </a:solidFill>
                <a:latin typeface="Lato"/>
                <a:ea typeface="Lato"/>
                <a:cs typeface="Lato"/>
              </a:defRPr>
            </a:pPr>
            <a:r>
              <a:rPr sz="1350" b="0">
                <a:solidFill>
                  <a:srgbClr val="B9D8D3"/>
                </a:solidFill>
                <a:latin typeface="Lato"/>
                <a:ea typeface="Lato"/>
                <a:cs typeface="Lato"/>
              </a:rPr>
              <a:t>01</a:t>
            </a:r>
          </a:p>
        </p:txBody>
      </p:sp>
    </p:spTree>
    <p:extLst>
      <p:ext uri="{BB962C8B-B14F-4D97-AF65-F5344CB8AC3E}">
        <p14:creationId xmlns:p14="http://schemas.microsoft.com/office/powerpoint/2010/main" val="20834704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C9275CD-36E0-48FB-9347-2EF84BF50DD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B37B16-827D-453E-BD70-64CB4AACD15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CONTENIDO</a:t>
            </a:r>
          </a:p>
        </p:txBody>
      </p:sp>
      <p:sp>
        <p:nvSpPr>
          <p:cNvPr id="3" name="">
            <a:extLst xmlns:a="http://schemas.openxmlformats.org/drawingml/2006/main">
              <a:ext uri="{FF2B5EF4-FFF2-40B4-BE49-F238E27FC236}">
                <a16:creationId xmlns:a16="http://schemas.microsoft.com/office/drawing/2014/main" id="{D9791C3E-64C7-49C9-A573-2C27A2DF69B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Índice</a:t>
            </a:r>
          </a:p>
        </p:txBody>
      </p:sp>
      <p:sp>
        <p:nvSpPr>
          <p:cNvPr id="4" name="">
            <a:extLst xmlns:a="http://schemas.openxmlformats.org/drawingml/2006/main">
              <a:ext uri="{FF2B5EF4-FFF2-40B4-BE49-F238E27FC236}">
                <a16:creationId xmlns:a16="http://schemas.microsoft.com/office/drawing/2014/main" id="{66EF3D5B-C30F-491A-8426-611E3A21E6E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5FDC29D-E006-4CCF-8A3C-ABD38B40C18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4E39FF27-8A2E-43A2-98E1-B0787B1A88DA}"/>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02</a:t>
            </a:r>
          </a:p>
        </p:txBody>
      </p:sp>
      <p:sp>
        <p:nvSpPr>
          <p:cNvPr id="7" name="">
            <a:extLst xmlns:a="http://schemas.openxmlformats.org/drawingml/2006/main">
              <a:ext uri="{FF2B5EF4-FFF2-40B4-BE49-F238E27FC236}">
                <a16:creationId xmlns:a16="http://schemas.microsoft.com/office/drawing/2014/main" id="{0D2BAC90-7574-4CAD-A56B-7668772BDD36}"/>
              </a:ext>
            </a:extLst>
          </p:cNvPr>
          <p:cNvSpPr>
            <a:spLocks xmlns:a="http://schemas.openxmlformats.org/drawingml/2006/main" noGrp="1"/>
          </p:cNvSpPr>
          <p:nvPr/>
        </p:nvSpPr>
        <p:spPr>
          <a:xfrm xmlns:a="http://schemas.openxmlformats.org/drawingml/2006/main">
            <a:off x="762000" y="18288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3EBE7AE9-F0AC-4EC8-BB6B-227D8CF6FF77}"/>
              </a:ext>
            </a:extLst>
          </p:cNvPr>
          <p:cNvSpPr>
            <a:spLocks xmlns:a="http://schemas.openxmlformats.org/drawingml/2006/main" noGrp="1"/>
          </p:cNvSpPr>
          <p:nvPr/>
        </p:nvSpPr>
        <p:spPr>
          <a:xfrm xmlns:a="http://schemas.openxmlformats.org/drawingml/2006/main">
            <a:off x="1581150" y="18288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Descripción del problema y objetivos</a:t>
            </a:r>
          </a:p>
        </p:txBody>
      </p:sp>
      <p:sp>
        <p:nvSpPr>
          <p:cNvPr id="9" name="">
            <a:extLst xmlns:a="http://schemas.openxmlformats.org/drawingml/2006/main">
              <a:ext uri="{FF2B5EF4-FFF2-40B4-BE49-F238E27FC236}">
                <a16:creationId xmlns:a16="http://schemas.microsoft.com/office/drawing/2014/main" id="{F7438BE4-EE04-45B1-95FA-371E5AECE2F8}"/>
              </a:ext>
            </a:extLst>
          </p:cNvPr>
          <p:cNvSpPr>
            <a:spLocks xmlns:a="http://schemas.openxmlformats.org/drawingml/2006/main" noGrp="1"/>
          </p:cNvSpPr>
          <p:nvPr/>
        </p:nvSpPr>
        <p:spPr>
          <a:xfrm xmlns:a="http://schemas.openxmlformats.org/drawingml/2006/main">
            <a:off x="762000" y="26670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F2B53C26-4E6B-4F70-B760-5D4AE6CEF441}"/>
              </a:ext>
            </a:extLst>
          </p:cNvPr>
          <p:cNvSpPr>
            <a:spLocks xmlns:a="http://schemas.openxmlformats.org/drawingml/2006/main" noGrp="1"/>
          </p:cNvSpPr>
          <p:nvPr/>
        </p:nvSpPr>
        <p:spPr>
          <a:xfrm xmlns:a="http://schemas.openxmlformats.org/drawingml/2006/main">
            <a:off x="1581150" y="26670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Marco teórico</a:t>
            </a:r>
          </a:p>
        </p:txBody>
      </p:sp>
      <p:sp>
        <p:nvSpPr>
          <p:cNvPr id="11" name="">
            <a:extLst xmlns:a="http://schemas.openxmlformats.org/drawingml/2006/main">
              <a:ext uri="{FF2B5EF4-FFF2-40B4-BE49-F238E27FC236}">
                <a16:creationId xmlns:a16="http://schemas.microsoft.com/office/drawing/2014/main" id="{F6C07553-073C-4EB9-A839-822BB019A624}"/>
              </a:ext>
            </a:extLst>
          </p:cNvPr>
          <p:cNvSpPr>
            <a:spLocks xmlns:a="http://schemas.openxmlformats.org/drawingml/2006/main" noGrp="1"/>
          </p:cNvSpPr>
          <p:nvPr/>
        </p:nvSpPr>
        <p:spPr>
          <a:xfrm xmlns:a="http://schemas.openxmlformats.org/drawingml/2006/main">
            <a:off x="762000" y="35052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6D23EF27-EFC0-4D0A-8CF8-E853BD8586C5}"/>
              </a:ext>
            </a:extLst>
          </p:cNvPr>
          <p:cNvSpPr>
            <a:spLocks xmlns:a="http://schemas.openxmlformats.org/drawingml/2006/main" noGrp="1"/>
          </p:cNvSpPr>
          <p:nvPr/>
        </p:nvSpPr>
        <p:spPr>
          <a:xfrm xmlns:a="http://schemas.openxmlformats.org/drawingml/2006/main">
            <a:off x="1581150" y="35052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Diseño e implementación</a:t>
            </a:r>
          </a:p>
        </p:txBody>
      </p:sp>
      <p:sp>
        <p:nvSpPr>
          <p:cNvPr id="13" name="">
            <a:extLst xmlns:a="http://schemas.openxmlformats.org/drawingml/2006/main">
              <a:ext uri="{FF2B5EF4-FFF2-40B4-BE49-F238E27FC236}">
                <a16:creationId xmlns:a16="http://schemas.microsoft.com/office/drawing/2014/main" id="{D7DE096C-55F0-46D7-809F-C4BD49C242FE}"/>
              </a:ext>
            </a:extLst>
          </p:cNvPr>
          <p:cNvSpPr>
            <a:spLocks xmlns:a="http://schemas.openxmlformats.org/drawingml/2006/main" noGrp="1"/>
          </p:cNvSpPr>
          <p:nvPr/>
        </p:nvSpPr>
        <p:spPr>
          <a:xfrm xmlns:a="http://schemas.openxmlformats.org/drawingml/2006/main">
            <a:off x="762000" y="4343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565BE03C-2763-49C8-ADDE-0F41D2DBC933}"/>
              </a:ext>
            </a:extLst>
          </p:cNvPr>
          <p:cNvSpPr>
            <a:spLocks xmlns:a="http://schemas.openxmlformats.org/drawingml/2006/main" noGrp="1"/>
          </p:cNvSpPr>
          <p:nvPr/>
        </p:nvSpPr>
        <p:spPr>
          <a:xfrm xmlns:a="http://schemas.openxmlformats.org/drawingml/2006/main">
            <a:off x="1581150" y="43434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Evaluación y resultados</a:t>
            </a:r>
          </a:p>
        </p:txBody>
      </p:sp>
      <p:sp>
        <p:nvSpPr>
          <p:cNvPr id="15" name="">
            <a:extLst xmlns:a="http://schemas.openxmlformats.org/drawingml/2006/main">
              <a:ext uri="{FF2B5EF4-FFF2-40B4-BE49-F238E27FC236}">
                <a16:creationId xmlns:a16="http://schemas.microsoft.com/office/drawing/2014/main" id="{113A3206-C37A-400A-B669-6F5CB27903B5}"/>
              </a:ext>
            </a:extLst>
          </p:cNvPr>
          <p:cNvSpPr>
            <a:spLocks xmlns:a="http://schemas.openxmlformats.org/drawingml/2006/main" noGrp="1"/>
          </p:cNvSpPr>
          <p:nvPr/>
        </p:nvSpPr>
        <p:spPr>
          <a:xfrm xmlns:a="http://schemas.openxmlformats.org/drawingml/2006/main">
            <a:off x="762000" y="5181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05</a:t>
            </a:r>
          </a:p>
        </p:txBody>
      </p:sp>
      <p:sp>
        <p:nvSpPr>
          <p:cNvPr id="16" name="">
            <a:extLst xmlns:a="http://schemas.openxmlformats.org/drawingml/2006/main">
              <a:ext uri="{FF2B5EF4-FFF2-40B4-BE49-F238E27FC236}">
                <a16:creationId xmlns:a16="http://schemas.microsoft.com/office/drawing/2014/main" id="{18E79AE9-5C0D-47DE-8558-109BE90237C4}"/>
              </a:ext>
            </a:extLst>
          </p:cNvPr>
          <p:cNvSpPr>
            <a:spLocks xmlns:a="http://schemas.openxmlformats.org/drawingml/2006/main" noGrp="1"/>
          </p:cNvSpPr>
          <p:nvPr/>
        </p:nvSpPr>
        <p:spPr>
          <a:xfrm xmlns:a="http://schemas.openxmlformats.org/drawingml/2006/main">
            <a:off x="1581150" y="51816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Conclusiones y referencias</a:t>
            </a:r>
          </a:p>
        </p:txBody>
      </p:sp>
    </p:spTree>
    <p:extLst>
      <p:ext uri="{BB962C8B-B14F-4D97-AF65-F5344CB8AC3E}">
        <p14:creationId xmlns:p14="http://schemas.microsoft.com/office/powerpoint/2010/main" val="321354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EC26C46-CE72-415F-858E-EBC146380FF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3E782E-E901-426C-AA17-9F095B2563C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PROBLEMA Y ALCANCE</a:t>
            </a:r>
          </a:p>
        </p:txBody>
      </p:sp>
      <p:sp>
        <p:nvSpPr>
          <p:cNvPr id="3" name="">
            <a:extLst xmlns:a="http://schemas.openxmlformats.org/drawingml/2006/main">
              <a:ext uri="{FF2B5EF4-FFF2-40B4-BE49-F238E27FC236}">
                <a16:creationId xmlns:a16="http://schemas.microsoft.com/office/drawing/2014/main" id="{38F00C2B-6DC7-4D7C-8C7E-D742A336731A}"/>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Descripción del problema</a:t>
            </a:r>
          </a:p>
        </p:txBody>
      </p:sp>
      <p:sp>
        <p:nvSpPr>
          <p:cNvPr id="4" name="">
            <a:extLst xmlns:a="http://schemas.openxmlformats.org/drawingml/2006/main">
              <a:ext uri="{FF2B5EF4-FFF2-40B4-BE49-F238E27FC236}">
                <a16:creationId xmlns:a16="http://schemas.microsoft.com/office/drawing/2014/main" id="{C270B2E1-4598-47D0-A974-A58258D7987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BAB8F5D-B70E-48BB-9072-8EDBB1704048}"/>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reporte TT1 [1]</a:t>
            </a:r>
          </a:p>
        </p:txBody>
      </p:sp>
      <p:sp>
        <p:nvSpPr>
          <p:cNvPr id="6" name="">
            <a:extLst xmlns:a="http://schemas.openxmlformats.org/drawingml/2006/main">
              <a:ext uri="{FF2B5EF4-FFF2-40B4-BE49-F238E27FC236}">
                <a16:creationId xmlns:a16="http://schemas.microsoft.com/office/drawing/2014/main" id="{4DF7AFC2-8C7B-4628-AFCB-2BBD311A699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03</a:t>
            </a:r>
          </a:p>
        </p:txBody>
      </p:sp>
      <p:sp>
        <p:nvSpPr>
          <p:cNvPr id="7" name="">
            <a:extLst xmlns:a="http://schemas.openxmlformats.org/drawingml/2006/main">
              <a:ext uri="{FF2B5EF4-FFF2-40B4-BE49-F238E27FC236}">
                <a16:creationId xmlns:a16="http://schemas.microsoft.com/office/drawing/2014/main" id="{22BB6EC9-4C98-4AC2-A424-C66F0313D9C9}"/>
              </a:ext>
            </a:extLst>
          </p:cNvPr>
          <p:cNvSpPr>
            <a:spLocks xmlns:a="http://schemas.openxmlformats.org/drawingml/2006/main" noGrp="1"/>
          </p:cNvSpPr>
          <p:nvPr/>
        </p:nvSpPr>
        <p:spPr>
          <a:xfrm xmlns:a="http://schemas.openxmlformats.org/drawingml/2006/main">
            <a:off x="762000" y="20002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31F784E6-64F5-4D45-AFA4-C2219F6B18A5}"/>
              </a:ext>
            </a:extLst>
          </p:cNvPr>
          <p:cNvSpPr>
            <a:spLocks xmlns:a="http://schemas.openxmlformats.org/drawingml/2006/main" noGrp="1"/>
          </p:cNvSpPr>
          <p:nvPr/>
        </p:nvSpPr>
        <p:spPr>
          <a:xfrm xmlns:a="http://schemas.openxmlformats.org/drawingml/2006/main">
            <a:off x="1581150" y="2000250"/>
            <a:ext cx="9658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 inferencia neuronal utiliza recursos de cómputo y almacenamiento.</a:t>
            </a:r>
          </a:p>
        </p:txBody>
      </p:sp>
      <p:sp>
        <p:nvSpPr>
          <p:cNvPr id="9" name="">
            <a:extLst xmlns:a="http://schemas.openxmlformats.org/drawingml/2006/main">
              <a:ext uri="{FF2B5EF4-FFF2-40B4-BE49-F238E27FC236}">
                <a16:creationId xmlns:a16="http://schemas.microsoft.com/office/drawing/2014/main" id="{94D9F26F-782D-4243-A04A-A7C1526AE745}"/>
              </a:ext>
            </a:extLst>
          </p:cNvPr>
          <p:cNvSpPr>
            <a:spLocks xmlns:a="http://schemas.openxmlformats.org/drawingml/2006/main" noGrp="1"/>
          </p:cNvSpPr>
          <p:nvPr/>
        </p:nvSpPr>
        <p:spPr>
          <a:xfrm xmlns:a="http://schemas.openxmlformats.org/drawingml/2006/main">
            <a:off x="762000" y="31051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3FEA3A5E-DDB7-4F09-8823-8247A41B4C43}"/>
              </a:ext>
            </a:extLst>
          </p:cNvPr>
          <p:cNvSpPr>
            <a:spLocks xmlns:a="http://schemas.openxmlformats.org/drawingml/2006/main" noGrp="1"/>
          </p:cNvSpPr>
          <p:nvPr/>
        </p:nvSpPr>
        <p:spPr>
          <a:xfrm xmlns:a="http://schemas.openxmlformats.org/drawingml/2006/main">
            <a:off x="1581150" y="3105150"/>
            <a:ext cx="9658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Se evalúa el compromiso entre representación numérica y seguimiento articular.</a:t>
            </a:r>
          </a:p>
        </p:txBody>
      </p:sp>
      <p:sp>
        <p:nvSpPr>
          <p:cNvPr id="11" name="">
            <a:extLst xmlns:a="http://schemas.openxmlformats.org/drawingml/2006/main">
              <a:ext uri="{FF2B5EF4-FFF2-40B4-BE49-F238E27FC236}">
                <a16:creationId xmlns:a16="http://schemas.microsoft.com/office/drawing/2014/main" id="{CF59860E-2C52-4D90-ADDB-748C5C95E87F}"/>
              </a:ext>
            </a:extLst>
          </p:cNvPr>
          <p:cNvSpPr>
            <a:spLocks xmlns:a="http://schemas.openxmlformats.org/drawingml/2006/main" noGrp="1"/>
          </p:cNvSpPr>
          <p:nvPr/>
        </p:nvSpPr>
        <p:spPr>
          <a:xfrm xmlns:a="http://schemas.openxmlformats.org/drawingml/2006/main">
            <a:off x="762000" y="42100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0AC2113B-6918-496B-A31E-84631D847074}"/>
              </a:ext>
            </a:extLst>
          </p:cNvPr>
          <p:cNvSpPr>
            <a:spLocks xmlns:a="http://schemas.openxmlformats.org/drawingml/2006/main" noGrp="1"/>
          </p:cNvSpPr>
          <p:nvPr/>
        </p:nvSpPr>
        <p:spPr>
          <a:xfrm xmlns:a="http://schemas.openxmlformats.org/drawingml/2006/main">
            <a:off x="1581150" y="4210050"/>
            <a:ext cx="9658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TT1: comparación en CPU y simulación del UR3e.</a:t>
            </a:r>
          </a:p>
        </p:txBody>
      </p:sp>
      <p:sp>
        <p:nvSpPr>
          <p:cNvPr id="13" name="">
            <a:extLst xmlns:a="http://schemas.openxmlformats.org/drawingml/2006/main">
              <a:ext uri="{FF2B5EF4-FFF2-40B4-BE49-F238E27FC236}">
                <a16:creationId xmlns:a16="http://schemas.microsoft.com/office/drawing/2014/main" id="{B6A800F3-82AF-4318-8638-0E83F99F9625}"/>
              </a:ext>
            </a:extLst>
          </p:cNvPr>
          <p:cNvSpPr>
            <a:spLocks xmlns:a="http://schemas.openxmlformats.org/drawingml/2006/main" noGrp="1"/>
          </p:cNvSpPr>
          <p:nvPr/>
        </p:nvSpPr>
        <p:spPr>
          <a:xfrm xmlns:a="http://schemas.openxmlformats.org/drawingml/2006/main">
            <a:off x="762000" y="5572125"/>
            <a:ext cx="10668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500 Hz · control interno nominal     |     100 Hz · referencias y datos</a:t>
            </a:r>
          </a:p>
        </p:txBody>
      </p:sp>
    </p:spTree>
    <p:extLst>
      <p:ext uri="{BB962C8B-B14F-4D97-AF65-F5344CB8AC3E}">
        <p14:creationId xmlns:p14="http://schemas.microsoft.com/office/powerpoint/2010/main" val="6175000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8C466CE-EA83-43C0-BB5F-CEFBF5612C8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8461F1-EE9C-4A0D-98AA-78E9DF13EA9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2E1E0BB8-C577-4DCB-846A-CFC5574A86DF}"/>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 general</a:t>
            </a:r>
          </a:p>
        </p:txBody>
      </p:sp>
      <p:sp>
        <p:nvSpPr>
          <p:cNvPr id="4" name="">
            <a:extLst xmlns:a="http://schemas.openxmlformats.org/drawingml/2006/main">
              <a:ext uri="{FF2B5EF4-FFF2-40B4-BE49-F238E27FC236}">
                <a16:creationId xmlns:a16="http://schemas.microsoft.com/office/drawing/2014/main" id="{E32AB0C9-02A8-40F7-AC39-7C951793D67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CE7AD0-9FA6-4A7C-AF14-19A042EBFDE7}"/>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objetivo declarado en TT1 [1]</a:t>
            </a:r>
          </a:p>
        </p:txBody>
      </p:sp>
      <p:sp>
        <p:nvSpPr>
          <p:cNvPr id="6" name="">
            <a:extLst xmlns:a="http://schemas.openxmlformats.org/drawingml/2006/main">
              <a:ext uri="{FF2B5EF4-FFF2-40B4-BE49-F238E27FC236}">
                <a16:creationId xmlns:a16="http://schemas.microsoft.com/office/drawing/2014/main" id="{147EE22E-84E1-4119-9994-940AA260F718}"/>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04</a:t>
            </a:r>
          </a:p>
        </p:txBody>
      </p:sp>
      <p:sp>
        <p:nvSpPr>
          <p:cNvPr id="7" name="">
            <a:extLst xmlns:a="http://schemas.openxmlformats.org/drawingml/2006/main">
              <a:ext uri="{FF2B5EF4-FFF2-40B4-BE49-F238E27FC236}">
                <a16:creationId xmlns:a16="http://schemas.microsoft.com/office/drawing/2014/main" id="{E50B8AF3-06A9-44A9-A013-85EE0D054138}"/>
              </a:ext>
            </a:extLst>
          </p:cNvPr>
          <p:cNvSpPr>
            <a:spLocks xmlns:a="http://schemas.openxmlformats.org/drawingml/2006/main" noGrp="1"/>
          </p:cNvSpPr>
          <p:nvPr/>
        </p:nvSpPr>
        <p:spPr>
          <a:xfrm xmlns:a="http://schemas.openxmlformats.org/drawingml/2006/main">
            <a:off x="809625" y="2124075"/>
            <a:ext cx="1047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0">
                <a:solidFill>
                  <a:srgbClr val="263445"/>
                </a:solidFill>
                <a:latin typeface="Lato"/>
                <a:ea typeface="Lato"/>
                <a:cs typeface="Lato"/>
              </a:defRPr>
            </a:defPPr>
          </a:lstStyle>
          <a:p xmlns:a="http://schemas.openxmlformats.org/drawingml/2006/main">
            <a:pPr algn="l">
              <a:defRPr sz="2700" b="0">
                <a:solidFill>
                  <a:srgbClr val="263445"/>
                </a:solidFill>
                <a:latin typeface="Lato"/>
                <a:ea typeface="Lato"/>
                <a:cs typeface="Lato"/>
              </a:defRPr>
            </a:pPr>
            <a:r>
              <a:rPr sz="2700" b="0">
                <a:solidFill>
                  <a:srgbClr val="263445"/>
                </a:solidFill>
                <a:latin typeface="Lato"/>
                <a:ea typeface="Lato"/>
                <a:cs typeface="Lato"/>
              </a:rPr>
              <a:t>Evaluar el desempeño energético, de precisión y de recursos utilizados en la implementación de un control de lazo cerrado con una planta robótica con control tradicional y con una red neuronal cuantizada.</a:t>
            </a:r>
          </a:p>
        </p:txBody>
      </p:sp>
      <p:sp>
        <p:nvSpPr>
          <p:cNvPr id="8" name="">
            <a:extLst xmlns:a="http://schemas.openxmlformats.org/drawingml/2006/main">
              <a:ext uri="{FF2B5EF4-FFF2-40B4-BE49-F238E27FC236}">
                <a16:creationId xmlns:a16="http://schemas.microsoft.com/office/drawing/2014/main" id="{B7A7F44D-D918-49BC-8827-F0D9A1D4E2F2}"/>
              </a:ext>
            </a:extLst>
          </p:cNvPr>
          <p:cNvSpPr>
            <a:spLocks xmlns:a="http://schemas.openxmlformats.org/drawingml/2006/main" noGrp="1"/>
          </p:cNvSpPr>
          <p:nvPr/>
        </p:nvSpPr>
        <p:spPr>
          <a:xfrm xmlns:a="http://schemas.openxmlformats.org/drawingml/2006/main">
            <a:off x="819150" y="5124450"/>
            <a:ext cx="10477500" cy="28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E169AC9-97EC-40C8-AA93-C95FB6C51277}"/>
              </a:ext>
            </a:extLst>
          </p:cNvPr>
          <p:cNvSpPr>
            <a:spLocks xmlns:a="http://schemas.openxmlformats.org/drawingml/2006/main" noGrp="1"/>
          </p:cNvSpPr>
          <p:nvPr/>
        </p:nvSpPr>
        <p:spPr>
          <a:xfrm xmlns:a="http://schemas.openxmlformats.org/drawingml/2006/main">
            <a:off x="819150" y="5353050"/>
            <a:ext cx="1047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526173"/>
                </a:solidFill>
                <a:latin typeface="Lato"/>
                <a:ea typeface="Lato"/>
                <a:cs typeface="Lato"/>
              </a:defRPr>
            </a:defPPr>
          </a:lstStyle>
          <a:p xmlns:a="http://schemas.openxmlformats.org/drawingml/2006/main">
            <a:pPr algn="l">
              <a:defRPr sz="1875" b="0">
                <a:solidFill>
                  <a:srgbClr val="526173"/>
                </a:solidFill>
                <a:latin typeface="Lato"/>
                <a:ea typeface="Lato"/>
                <a:cs typeface="Lato"/>
              </a:defRPr>
            </a:pPr>
            <a:r>
              <a:rPr sz="1875" b="0">
                <a:solidFill>
                  <a:srgbClr val="526173"/>
                </a:solidFill>
                <a:latin typeface="Lato"/>
                <a:ea typeface="Lato"/>
                <a:cs typeface="Lato"/>
              </a:rPr>
              <a:t>Alcance evaluado en TT1: seguimiento, tamaño del archivo y latencia de inferencia en simulación.</a:t>
            </a:r>
          </a:p>
        </p:txBody>
      </p:sp>
    </p:spTree>
    <p:extLst>
      <p:ext uri="{BB962C8B-B14F-4D97-AF65-F5344CB8AC3E}">
        <p14:creationId xmlns:p14="http://schemas.microsoft.com/office/powerpoint/2010/main" val="3882622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ED6AA1D-C9CE-4BEA-9CB9-A84FDEDCBFF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9DDFAB4-7943-4338-8CE9-F3E0DBBF1215}"/>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EA9356A8-C0B5-470F-B2C0-EA09EB79EA3D}"/>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Objetivos específicos a cumplir en TT1</a:t>
            </a:r>
          </a:p>
        </p:txBody>
      </p:sp>
      <p:sp>
        <p:nvSpPr>
          <p:cNvPr id="4" name="">
            <a:extLst xmlns:a="http://schemas.openxmlformats.org/drawingml/2006/main">
              <a:ext uri="{FF2B5EF4-FFF2-40B4-BE49-F238E27FC236}">
                <a16:creationId xmlns:a16="http://schemas.microsoft.com/office/drawing/2014/main" id="{FD2F69E2-178C-40AE-AA54-6DF07086809E}"/>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579C1F7-D5C3-49F0-8BFE-E72B930AB65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Síntesis de objetivos declarados en TT1 [1]</a:t>
            </a:r>
          </a:p>
        </p:txBody>
      </p:sp>
      <p:sp>
        <p:nvSpPr>
          <p:cNvPr id="6" name="">
            <a:extLst xmlns:a="http://schemas.openxmlformats.org/drawingml/2006/main">
              <a:ext uri="{FF2B5EF4-FFF2-40B4-BE49-F238E27FC236}">
                <a16:creationId xmlns:a16="http://schemas.microsoft.com/office/drawing/2014/main" id="{D8518D7D-D15D-44CD-8579-2FCEB34424C4}"/>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05</a:t>
            </a:r>
          </a:p>
        </p:txBody>
      </p:sp>
      <p:sp>
        <p:nvSpPr>
          <p:cNvPr id="7" name="">
            <a:extLst xmlns:a="http://schemas.openxmlformats.org/drawingml/2006/main">
              <a:ext uri="{FF2B5EF4-FFF2-40B4-BE49-F238E27FC236}">
                <a16:creationId xmlns:a16="http://schemas.microsoft.com/office/drawing/2014/main" id="{D9398FB6-E11B-4AAA-B94C-C0171412AD02}"/>
              </a:ext>
            </a:extLst>
          </p:cNvPr>
          <p:cNvSpPr>
            <a:spLocks xmlns:a="http://schemas.openxmlformats.org/drawingml/2006/main" noGrp="1"/>
          </p:cNvSpPr>
          <p:nvPr/>
        </p:nvSpPr>
        <p:spPr>
          <a:xfrm xmlns:a="http://schemas.openxmlformats.org/drawingml/2006/main">
            <a:off x="762000" y="19240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B3CE0B28-EB19-45BC-8DFE-742357513A94}"/>
              </a:ext>
            </a:extLst>
          </p:cNvPr>
          <p:cNvSpPr>
            <a:spLocks xmlns:a="http://schemas.openxmlformats.org/drawingml/2006/main" noGrp="1"/>
          </p:cNvSpPr>
          <p:nvPr/>
        </p:nvSpPr>
        <p:spPr>
          <a:xfrm xmlns:a="http://schemas.openxmlformats.org/drawingml/2006/main">
            <a:off x="1581150" y="19240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Investigar redes cuantizadas y metodologías de evaluación.</a:t>
            </a:r>
          </a:p>
        </p:txBody>
      </p:sp>
      <p:sp>
        <p:nvSpPr>
          <p:cNvPr id="9" name="">
            <a:extLst xmlns:a="http://schemas.openxmlformats.org/drawingml/2006/main">
              <a:ext uri="{FF2B5EF4-FFF2-40B4-BE49-F238E27FC236}">
                <a16:creationId xmlns:a16="http://schemas.microsoft.com/office/drawing/2014/main" id="{896938D1-DC8B-41EC-B15B-317D4EFA4B80}"/>
              </a:ext>
            </a:extLst>
          </p:cNvPr>
          <p:cNvSpPr>
            <a:spLocks xmlns:a="http://schemas.openxmlformats.org/drawingml/2006/main" noGrp="1"/>
          </p:cNvSpPr>
          <p:nvPr/>
        </p:nvSpPr>
        <p:spPr>
          <a:xfrm xmlns:a="http://schemas.openxmlformats.org/drawingml/2006/main">
            <a:off x="762000" y="29146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812ABDF1-16C0-4075-AA9A-16B1961BB2C1}"/>
              </a:ext>
            </a:extLst>
          </p:cNvPr>
          <p:cNvSpPr>
            <a:spLocks xmlns:a="http://schemas.openxmlformats.org/drawingml/2006/main" noGrp="1"/>
          </p:cNvSpPr>
          <p:nvPr/>
        </p:nvSpPr>
        <p:spPr>
          <a:xfrm xmlns:a="http://schemas.openxmlformats.org/drawingml/2006/main">
            <a:off x="1581150" y="29146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Definir la arquitectura y diseñar el controlador neuronal base.</a:t>
            </a:r>
          </a:p>
        </p:txBody>
      </p:sp>
      <p:sp>
        <p:nvSpPr>
          <p:cNvPr id="11" name="">
            <a:extLst xmlns:a="http://schemas.openxmlformats.org/drawingml/2006/main">
              <a:ext uri="{FF2B5EF4-FFF2-40B4-BE49-F238E27FC236}">
                <a16:creationId xmlns:a16="http://schemas.microsoft.com/office/drawing/2014/main" id="{B105F5C7-A414-4469-B41C-6880E6F70119}"/>
              </a:ext>
            </a:extLst>
          </p:cNvPr>
          <p:cNvSpPr>
            <a:spLocks xmlns:a="http://schemas.openxmlformats.org/drawingml/2006/main" noGrp="1"/>
          </p:cNvSpPr>
          <p:nvPr/>
        </p:nvSpPr>
        <p:spPr>
          <a:xfrm xmlns:a="http://schemas.openxmlformats.org/drawingml/2006/main">
            <a:off x="762000" y="39052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8C49650D-EBC8-419E-BEF9-A4895816CB79}"/>
              </a:ext>
            </a:extLst>
          </p:cNvPr>
          <p:cNvSpPr>
            <a:spLocks xmlns:a="http://schemas.openxmlformats.org/drawingml/2006/main" noGrp="1"/>
          </p:cNvSpPr>
          <p:nvPr/>
        </p:nvSpPr>
        <p:spPr>
          <a:xfrm xmlns:a="http://schemas.openxmlformats.org/drawingml/2006/main">
            <a:off x="1581150" y="39052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Establecer la metodología de cuantización y comparación.</a:t>
            </a:r>
          </a:p>
        </p:txBody>
      </p:sp>
      <p:sp>
        <p:nvSpPr>
          <p:cNvPr id="13" name="">
            <a:extLst xmlns:a="http://schemas.openxmlformats.org/drawingml/2006/main">
              <a:ext uri="{FF2B5EF4-FFF2-40B4-BE49-F238E27FC236}">
                <a16:creationId xmlns:a16="http://schemas.microsoft.com/office/drawing/2014/main" id="{BDFC30FB-4C3B-4CF0-A7C5-514C5A0A6783}"/>
              </a:ext>
            </a:extLst>
          </p:cNvPr>
          <p:cNvSpPr>
            <a:spLocks xmlns:a="http://schemas.openxmlformats.org/drawingml/2006/main" noGrp="1"/>
          </p:cNvSpPr>
          <p:nvPr/>
        </p:nvSpPr>
        <p:spPr>
          <a:xfrm xmlns:a="http://schemas.openxmlformats.org/drawingml/2006/main">
            <a:off x="762000" y="4895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E9064F9C-0622-4AEC-9EA8-8F30BF20405A}"/>
              </a:ext>
            </a:extLst>
          </p:cNvPr>
          <p:cNvSpPr>
            <a:spLocks xmlns:a="http://schemas.openxmlformats.org/drawingml/2006/main" noGrp="1"/>
          </p:cNvSpPr>
          <p:nvPr/>
        </p:nvSpPr>
        <p:spPr>
          <a:xfrm xmlns:a="http://schemas.openxmlformats.org/drawingml/2006/main">
            <a:off x="1581150" y="48958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Diseñar el plan experimental y poner en marcha la plataforma.</a:t>
            </a:r>
          </a:p>
        </p:txBody>
      </p:sp>
    </p:spTree>
    <p:extLst>
      <p:ext uri="{BB962C8B-B14F-4D97-AF65-F5344CB8AC3E}">
        <p14:creationId xmlns:p14="http://schemas.microsoft.com/office/powerpoint/2010/main" val="15633287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4BC8A55-0493-466D-BF9C-0E2AC7ECAA0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689352-0824-47B0-967C-3E65FC608687}"/>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0D06953D-1C82-4071-9290-E1FD49D0C274}"/>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FP32 e INT8</a:t>
            </a:r>
          </a:p>
        </p:txBody>
      </p:sp>
      <p:sp>
        <p:nvSpPr>
          <p:cNvPr id="4" name="">
            <a:extLst xmlns:a="http://schemas.openxmlformats.org/drawingml/2006/main">
              <a:ext uri="{FF2B5EF4-FFF2-40B4-BE49-F238E27FC236}">
                <a16:creationId xmlns:a16="http://schemas.microsoft.com/office/drawing/2014/main" id="{79524E1D-88B7-4A0B-B793-DB199515EC3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DC54A22-8BB5-4072-8BBB-FF623D6EB0EF}"/>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IEEE 754 [2]; cuantización ONNX Runtime [3]</a:t>
            </a:r>
          </a:p>
        </p:txBody>
      </p:sp>
      <p:sp>
        <p:nvSpPr>
          <p:cNvPr id="6" name="">
            <a:extLst xmlns:a="http://schemas.openxmlformats.org/drawingml/2006/main">
              <a:ext uri="{FF2B5EF4-FFF2-40B4-BE49-F238E27FC236}">
                <a16:creationId xmlns:a16="http://schemas.microsoft.com/office/drawing/2014/main" id="{CD787068-0669-4E28-959D-45F0ADB87A3A}"/>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06</a:t>
            </a:r>
          </a:p>
        </p:txBody>
      </p:sp>
      <p:sp>
        <p:nvSpPr>
          <p:cNvPr id="7" name="">
            <a:extLst xmlns:a="http://schemas.openxmlformats.org/drawingml/2006/main">
              <a:ext uri="{FF2B5EF4-FFF2-40B4-BE49-F238E27FC236}">
                <a16:creationId xmlns:a16="http://schemas.microsoft.com/office/drawing/2014/main" id="{06214629-4DB9-459F-AA46-0106033BFB43}"/>
              </a:ext>
            </a:extLst>
          </p:cNvPr>
          <p:cNvSpPr>
            <a:spLocks xmlns:a="http://schemas.openxmlformats.org/drawingml/2006/main" noGrp="1"/>
          </p:cNvSpPr>
          <p:nvPr/>
        </p:nvSpPr>
        <p:spPr>
          <a:xfrm xmlns:a="http://schemas.openxmlformats.org/drawingml/2006/main">
            <a:off x="762000" y="19431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FP32 · 32 bits por valor</a:t>
            </a:r>
          </a:p>
        </p:txBody>
      </p:sp>
      <p:sp>
        <p:nvSpPr>
          <p:cNvPr id="8" name="">
            <a:extLst xmlns:a="http://schemas.openxmlformats.org/drawingml/2006/main">
              <a:ext uri="{FF2B5EF4-FFF2-40B4-BE49-F238E27FC236}">
                <a16:creationId xmlns:a16="http://schemas.microsoft.com/office/drawing/2014/main" id="{2CB5123B-8F60-4F22-8F11-97E65D865434}"/>
              </a:ext>
            </a:extLst>
          </p:cNvPr>
          <p:cNvSpPr>
            <a:spLocks xmlns:a="http://schemas.openxmlformats.org/drawingml/2006/main" noGrp="1"/>
          </p:cNvSpPr>
          <p:nvPr/>
        </p:nvSpPr>
        <p:spPr>
          <a:xfrm xmlns:a="http://schemas.openxmlformats.org/drawingml/2006/main">
            <a:off x="762000" y="2628900"/>
            <a:ext cx="1238250" cy="10668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8B54BD5-7B7C-47D4-9FCC-98821FC8137E}"/>
              </a:ext>
            </a:extLst>
          </p:cNvPr>
          <p:cNvSpPr>
            <a:spLocks xmlns:a="http://schemas.openxmlformats.org/drawingml/2006/main" noGrp="1"/>
          </p:cNvSpPr>
          <p:nvPr/>
        </p:nvSpPr>
        <p:spPr>
          <a:xfrm xmlns:a="http://schemas.openxmlformats.org/drawingml/2006/main">
            <a:off x="838200" y="2790825"/>
            <a:ext cx="1085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Signo</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1 bit</a:t>
            </a:r>
          </a:p>
        </p:txBody>
      </p:sp>
      <p:sp>
        <p:nvSpPr>
          <p:cNvPr id="10" name="">
            <a:extLst xmlns:a="http://schemas.openxmlformats.org/drawingml/2006/main">
              <a:ext uri="{FF2B5EF4-FFF2-40B4-BE49-F238E27FC236}">
                <a16:creationId xmlns:a16="http://schemas.microsoft.com/office/drawing/2014/main" id="{CA949F1B-1AF7-4F43-8A27-8B6FF28D48FD}"/>
              </a:ext>
            </a:extLst>
          </p:cNvPr>
          <p:cNvSpPr>
            <a:spLocks xmlns:a="http://schemas.openxmlformats.org/drawingml/2006/main" noGrp="1"/>
          </p:cNvSpPr>
          <p:nvPr/>
        </p:nvSpPr>
        <p:spPr>
          <a:xfrm xmlns:a="http://schemas.openxmlformats.org/drawingml/2006/main">
            <a:off x="2047875" y="2628900"/>
            <a:ext cx="1809750" cy="10668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23EBAC8-083B-4732-A7DF-3BF2936B4338}"/>
              </a:ext>
            </a:extLst>
          </p:cNvPr>
          <p:cNvSpPr>
            <a:spLocks xmlns:a="http://schemas.openxmlformats.org/drawingml/2006/main" noGrp="1"/>
          </p:cNvSpPr>
          <p:nvPr/>
        </p:nvSpPr>
        <p:spPr>
          <a:xfrm xmlns:a="http://schemas.openxmlformats.org/drawingml/2006/main">
            <a:off x="2124075" y="2790825"/>
            <a:ext cx="165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Exponente</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8 bits</a:t>
            </a:r>
          </a:p>
        </p:txBody>
      </p:sp>
      <p:sp>
        <p:nvSpPr>
          <p:cNvPr id="12" name="">
            <a:extLst xmlns:a="http://schemas.openxmlformats.org/drawingml/2006/main">
              <a:ext uri="{FF2B5EF4-FFF2-40B4-BE49-F238E27FC236}">
                <a16:creationId xmlns:a16="http://schemas.microsoft.com/office/drawing/2014/main" id="{EE76722D-5E4D-43C4-8B1F-D34EC55C9616}"/>
              </a:ext>
            </a:extLst>
          </p:cNvPr>
          <p:cNvSpPr>
            <a:spLocks xmlns:a="http://schemas.openxmlformats.org/drawingml/2006/main" noGrp="1"/>
          </p:cNvSpPr>
          <p:nvPr/>
        </p:nvSpPr>
        <p:spPr>
          <a:xfrm xmlns:a="http://schemas.openxmlformats.org/drawingml/2006/main">
            <a:off x="3905250" y="2628900"/>
            <a:ext cx="2190750" cy="1066800"/>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F26F32C-D29F-48CC-B2D8-F64F361BE464}"/>
              </a:ext>
            </a:extLst>
          </p:cNvPr>
          <p:cNvSpPr>
            <a:spLocks xmlns:a="http://schemas.openxmlformats.org/drawingml/2006/main" noGrp="1"/>
          </p:cNvSpPr>
          <p:nvPr/>
        </p:nvSpPr>
        <p:spPr>
          <a:xfrm xmlns:a="http://schemas.openxmlformats.org/drawingml/2006/main">
            <a:off x="3981450" y="2790825"/>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Fracción</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23 bits</a:t>
            </a:r>
          </a:p>
        </p:txBody>
      </p:sp>
      <p:sp>
        <p:nvSpPr>
          <p:cNvPr id="14" name="">
            <a:extLst xmlns:a="http://schemas.openxmlformats.org/drawingml/2006/main">
              <a:ext uri="{FF2B5EF4-FFF2-40B4-BE49-F238E27FC236}">
                <a16:creationId xmlns:a16="http://schemas.microsoft.com/office/drawing/2014/main" id="{024106FA-E233-443A-9125-F77F577D663C}"/>
              </a:ext>
            </a:extLst>
          </p:cNvPr>
          <p:cNvSpPr>
            <a:spLocks xmlns:a="http://schemas.openxmlformats.org/drawingml/2006/main" noGrp="1"/>
          </p:cNvSpPr>
          <p:nvPr/>
        </p:nvSpPr>
        <p:spPr>
          <a:xfrm xmlns:a="http://schemas.openxmlformats.org/drawingml/2006/main">
            <a:off x="6953250" y="19431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B45309"/>
                </a:solidFill>
                <a:latin typeface="Lato"/>
                <a:ea typeface="Lato"/>
                <a:cs typeface="Lato"/>
              </a:defRPr>
            </a:defPPr>
          </a:lstStyle>
          <a:p xmlns:a="http://schemas.openxmlformats.org/drawingml/2006/main">
            <a:pPr algn="l">
              <a:defRPr sz="2325" b="1">
                <a:solidFill>
                  <a:srgbClr val="B45309"/>
                </a:solidFill>
                <a:latin typeface="Lato"/>
                <a:ea typeface="Lato"/>
                <a:cs typeface="Lato"/>
              </a:defRPr>
            </a:pPr>
            <a:r>
              <a:rPr sz="2325" b="1">
                <a:solidFill>
                  <a:srgbClr val="B45309"/>
                </a:solidFill>
                <a:latin typeface="Lato"/>
                <a:ea typeface="Lato"/>
                <a:cs typeface="Lato"/>
              </a:rPr>
              <a:t>INT8 · 8 bits por valor</a:t>
            </a:r>
          </a:p>
        </p:txBody>
      </p:sp>
      <p:sp>
        <p:nvSpPr>
          <p:cNvPr id="15" name="">
            <a:extLst xmlns:a="http://schemas.openxmlformats.org/drawingml/2006/main">
              <a:ext uri="{FF2B5EF4-FFF2-40B4-BE49-F238E27FC236}">
                <a16:creationId xmlns:a16="http://schemas.microsoft.com/office/drawing/2014/main" id="{355BAA82-6C81-43E7-909A-24070CF09963}"/>
              </a:ext>
            </a:extLst>
          </p:cNvPr>
          <p:cNvSpPr>
            <a:spLocks xmlns:a="http://schemas.openxmlformats.org/drawingml/2006/main" noGrp="1"/>
          </p:cNvSpPr>
          <p:nvPr/>
        </p:nvSpPr>
        <p:spPr>
          <a:xfrm xmlns:a="http://schemas.openxmlformats.org/drawingml/2006/main">
            <a:off x="7000875" y="2686050"/>
            <a:ext cx="457200" cy="6667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0777024-099C-4498-A017-1268A21C03AD}"/>
              </a:ext>
            </a:extLst>
          </p:cNvPr>
          <p:cNvSpPr>
            <a:spLocks xmlns:a="http://schemas.openxmlformats.org/drawingml/2006/main" noGrp="1"/>
          </p:cNvSpPr>
          <p:nvPr/>
        </p:nvSpPr>
        <p:spPr>
          <a:xfrm xmlns:a="http://schemas.openxmlformats.org/drawingml/2006/main">
            <a:off x="70294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b7</a:t>
            </a:r>
          </a:p>
        </p:txBody>
      </p:sp>
      <p:sp>
        <p:nvSpPr>
          <p:cNvPr id="17" name="">
            <a:extLst xmlns:a="http://schemas.openxmlformats.org/drawingml/2006/main">
              <a:ext uri="{FF2B5EF4-FFF2-40B4-BE49-F238E27FC236}">
                <a16:creationId xmlns:a16="http://schemas.microsoft.com/office/drawing/2014/main" id="{C0C2E201-40F9-4309-B20A-FB23AE65B80A}"/>
              </a:ext>
            </a:extLst>
          </p:cNvPr>
          <p:cNvSpPr>
            <a:spLocks xmlns:a="http://schemas.openxmlformats.org/drawingml/2006/main" noGrp="1"/>
          </p:cNvSpPr>
          <p:nvPr/>
        </p:nvSpPr>
        <p:spPr>
          <a:xfrm xmlns:a="http://schemas.openxmlformats.org/drawingml/2006/main">
            <a:off x="75057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ACD2ECB-C004-48C1-85E0-9B86A8272B4D}"/>
              </a:ext>
            </a:extLst>
          </p:cNvPr>
          <p:cNvSpPr>
            <a:spLocks xmlns:a="http://schemas.openxmlformats.org/drawingml/2006/main" noGrp="1"/>
          </p:cNvSpPr>
          <p:nvPr/>
        </p:nvSpPr>
        <p:spPr>
          <a:xfrm xmlns:a="http://schemas.openxmlformats.org/drawingml/2006/main">
            <a:off x="75342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b6</a:t>
            </a:r>
          </a:p>
        </p:txBody>
      </p:sp>
      <p:sp>
        <p:nvSpPr>
          <p:cNvPr id="19" name="">
            <a:extLst xmlns:a="http://schemas.openxmlformats.org/drawingml/2006/main">
              <a:ext uri="{FF2B5EF4-FFF2-40B4-BE49-F238E27FC236}">
                <a16:creationId xmlns:a16="http://schemas.microsoft.com/office/drawing/2014/main" id="{25AC78A9-8FAD-4F27-A25B-DBC0BA7844AD}"/>
              </a:ext>
            </a:extLst>
          </p:cNvPr>
          <p:cNvSpPr>
            <a:spLocks xmlns:a="http://schemas.openxmlformats.org/drawingml/2006/main" noGrp="1"/>
          </p:cNvSpPr>
          <p:nvPr/>
        </p:nvSpPr>
        <p:spPr>
          <a:xfrm xmlns:a="http://schemas.openxmlformats.org/drawingml/2006/main">
            <a:off x="80105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47D296F-8AAB-4567-8711-866BEF9F5DB9}"/>
              </a:ext>
            </a:extLst>
          </p:cNvPr>
          <p:cNvSpPr>
            <a:spLocks xmlns:a="http://schemas.openxmlformats.org/drawingml/2006/main" noGrp="1"/>
          </p:cNvSpPr>
          <p:nvPr/>
        </p:nvSpPr>
        <p:spPr>
          <a:xfrm xmlns:a="http://schemas.openxmlformats.org/drawingml/2006/main">
            <a:off x="80391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b5</a:t>
            </a:r>
          </a:p>
        </p:txBody>
      </p:sp>
      <p:sp>
        <p:nvSpPr>
          <p:cNvPr id="21" name="">
            <a:extLst xmlns:a="http://schemas.openxmlformats.org/drawingml/2006/main">
              <a:ext uri="{FF2B5EF4-FFF2-40B4-BE49-F238E27FC236}">
                <a16:creationId xmlns:a16="http://schemas.microsoft.com/office/drawing/2014/main" id="{5F1D4248-5615-4D18-914B-15C0A0A359EE}"/>
              </a:ext>
            </a:extLst>
          </p:cNvPr>
          <p:cNvSpPr>
            <a:spLocks xmlns:a="http://schemas.openxmlformats.org/drawingml/2006/main" noGrp="1"/>
          </p:cNvSpPr>
          <p:nvPr/>
        </p:nvSpPr>
        <p:spPr>
          <a:xfrm xmlns:a="http://schemas.openxmlformats.org/drawingml/2006/main">
            <a:off x="85153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5F2A38F-552F-4750-B463-7BB735E57B1B}"/>
              </a:ext>
            </a:extLst>
          </p:cNvPr>
          <p:cNvSpPr>
            <a:spLocks xmlns:a="http://schemas.openxmlformats.org/drawingml/2006/main" noGrp="1"/>
          </p:cNvSpPr>
          <p:nvPr/>
        </p:nvSpPr>
        <p:spPr>
          <a:xfrm xmlns:a="http://schemas.openxmlformats.org/drawingml/2006/main">
            <a:off x="85439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b4</a:t>
            </a:r>
          </a:p>
        </p:txBody>
      </p:sp>
      <p:sp>
        <p:nvSpPr>
          <p:cNvPr id="23" name="">
            <a:extLst xmlns:a="http://schemas.openxmlformats.org/drawingml/2006/main">
              <a:ext uri="{FF2B5EF4-FFF2-40B4-BE49-F238E27FC236}">
                <a16:creationId xmlns:a16="http://schemas.microsoft.com/office/drawing/2014/main" id="{6E25F78F-6C40-4543-95D1-43F52AFE1865}"/>
              </a:ext>
            </a:extLst>
          </p:cNvPr>
          <p:cNvSpPr>
            <a:spLocks xmlns:a="http://schemas.openxmlformats.org/drawingml/2006/main" noGrp="1"/>
          </p:cNvSpPr>
          <p:nvPr/>
        </p:nvSpPr>
        <p:spPr>
          <a:xfrm xmlns:a="http://schemas.openxmlformats.org/drawingml/2006/main">
            <a:off x="902017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6B52305-4436-424F-94DD-7E40ECE33370}"/>
              </a:ext>
            </a:extLst>
          </p:cNvPr>
          <p:cNvSpPr>
            <a:spLocks xmlns:a="http://schemas.openxmlformats.org/drawingml/2006/main" noGrp="1"/>
          </p:cNvSpPr>
          <p:nvPr/>
        </p:nvSpPr>
        <p:spPr>
          <a:xfrm xmlns:a="http://schemas.openxmlformats.org/drawingml/2006/main">
            <a:off x="90487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b3</a:t>
            </a:r>
          </a:p>
        </p:txBody>
      </p:sp>
      <p:sp>
        <p:nvSpPr>
          <p:cNvPr id="25" name="">
            <a:extLst xmlns:a="http://schemas.openxmlformats.org/drawingml/2006/main">
              <a:ext uri="{FF2B5EF4-FFF2-40B4-BE49-F238E27FC236}">
                <a16:creationId xmlns:a16="http://schemas.microsoft.com/office/drawing/2014/main" id="{4B92DAAE-6CA3-42D8-A3B2-E27FEA684AE2}"/>
              </a:ext>
            </a:extLst>
          </p:cNvPr>
          <p:cNvSpPr>
            <a:spLocks xmlns:a="http://schemas.openxmlformats.org/drawingml/2006/main" noGrp="1"/>
          </p:cNvSpPr>
          <p:nvPr/>
        </p:nvSpPr>
        <p:spPr>
          <a:xfrm xmlns:a="http://schemas.openxmlformats.org/drawingml/2006/main">
            <a:off x="95250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8C2E6AF-080B-4C15-92EA-62DF6C58D3AC}"/>
              </a:ext>
            </a:extLst>
          </p:cNvPr>
          <p:cNvSpPr>
            <a:spLocks xmlns:a="http://schemas.openxmlformats.org/drawingml/2006/main" noGrp="1"/>
          </p:cNvSpPr>
          <p:nvPr/>
        </p:nvSpPr>
        <p:spPr>
          <a:xfrm xmlns:a="http://schemas.openxmlformats.org/drawingml/2006/main">
            <a:off x="95535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b2</a:t>
            </a:r>
          </a:p>
        </p:txBody>
      </p:sp>
      <p:sp>
        <p:nvSpPr>
          <p:cNvPr id="27" name="">
            <a:extLst xmlns:a="http://schemas.openxmlformats.org/drawingml/2006/main">
              <a:ext uri="{FF2B5EF4-FFF2-40B4-BE49-F238E27FC236}">
                <a16:creationId xmlns:a16="http://schemas.microsoft.com/office/drawing/2014/main" id="{A3457FD6-2DEB-4967-A64F-1F2A8E7BADC0}"/>
              </a:ext>
            </a:extLst>
          </p:cNvPr>
          <p:cNvSpPr>
            <a:spLocks xmlns:a="http://schemas.openxmlformats.org/drawingml/2006/main" noGrp="1"/>
          </p:cNvSpPr>
          <p:nvPr/>
        </p:nvSpPr>
        <p:spPr>
          <a:xfrm xmlns:a="http://schemas.openxmlformats.org/drawingml/2006/main">
            <a:off x="100298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7C1AF25-F57F-484C-A565-DDE330CE2352}"/>
              </a:ext>
            </a:extLst>
          </p:cNvPr>
          <p:cNvSpPr>
            <a:spLocks xmlns:a="http://schemas.openxmlformats.org/drawingml/2006/main" noGrp="1"/>
          </p:cNvSpPr>
          <p:nvPr/>
        </p:nvSpPr>
        <p:spPr>
          <a:xfrm xmlns:a="http://schemas.openxmlformats.org/drawingml/2006/main">
            <a:off x="100584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b1</a:t>
            </a:r>
          </a:p>
        </p:txBody>
      </p:sp>
      <p:sp>
        <p:nvSpPr>
          <p:cNvPr id="29" name="">
            <a:extLst xmlns:a="http://schemas.openxmlformats.org/drawingml/2006/main">
              <a:ext uri="{FF2B5EF4-FFF2-40B4-BE49-F238E27FC236}">
                <a16:creationId xmlns:a16="http://schemas.microsoft.com/office/drawing/2014/main" id="{A17CFEF3-1AF0-470C-91CF-15C44A94AD8F}"/>
              </a:ext>
            </a:extLst>
          </p:cNvPr>
          <p:cNvSpPr>
            <a:spLocks xmlns:a="http://schemas.openxmlformats.org/drawingml/2006/main" noGrp="1"/>
          </p:cNvSpPr>
          <p:nvPr/>
        </p:nvSpPr>
        <p:spPr>
          <a:xfrm xmlns:a="http://schemas.openxmlformats.org/drawingml/2006/main">
            <a:off x="105346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FFB166A-A7FC-4E9F-BBF8-DAA4B8357BAF}"/>
              </a:ext>
            </a:extLst>
          </p:cNvPr>
          <p:cNvSpPr>
            <a:spLocks xmlns:a="http://schemas.openxmlformats.org/drawingml/2006/main" noGrp="1"/>
          </p:cNvSpPr>
          <p:nvPr/>
        </p:nvSpPr>
        <p:spPr>
          <a:xfrm xmlns:a="http://schemas.openxmlformats.org/drawingml/2006/main">
            <a:off x="105632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b0</a:t>
            </a:r>
          </a:p>
        </p:txBody>
      </p:sp>
      <p:sp>
        <p:nvSpPr>
          <p:cNvPr id="31" name="">
            <a:extLst xmlns:a="http://schemas.openxmlformats.org/drawingml/2006/main">
              <a:ext uri="{FF2B5EF4-FFF2-40B4-BE49-F238E27FC236}">
                <a16:creationId xmlns:a16="http://schemas.microsoft.com/office/drawing/2014/main" id="{D1F2BE71-E43C-4563-BB3E-2803F64A647B}"/>
              </a:ext>
            </a:extLst>
          </p:cNvPr>
          <p:cNvSpPr>
            <a:spLocks xmlns:a="http://schemas.openxmlformats.org/drawingml/2006/main" noGrp="1"/>
          </p:cNvSpPr>
          <p:nvPr/>
        </p:nvSpPr>
        <p:spPr>
          <a:xfrm xmlns:a="http://schemas.openxmlformats.org/drawingml/2006/main">
            <a:off x="7048500" y="37052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B45309"/>
                </a:solidFill>
                <a:latin typeface="Lato"/>
                <a:ea typeface="Lato"/>
                <a:cs typeface="Lato"/>
              </a:defRPr>
            </a:defPPr>
          </a:lstStyle>
          <a:p xmlns:a="http://schemas.openxmlformats.org/drawingml/2006/main">
            <a:pPr algn="ctr">
              <a:defRPr sz="2625" b="1">
                <a:solidFill>
                  <a:srgbClr val="B45309"/>
                </a:solidFill>
                <a:latin typeface="Lato"/>
                <a:ea typeface="Lato"/>
                <a:cs typeface="Lato"/>
              </a:defRPr>
            </a:pPr>
            <a:r>
              <a:rPr sz="2625" b="1">
                <a:solidFill>
                  <a:srgbClr val="B45309"/>
                </a:solidFill>
                <a:latin typeface="Lato"/>
                <a:ea typeface="Lato"/>
                <a:cs typeface="Lato"/>
              </a:rPr>
              <a:t>−128 … 127</a:t>
            </a:r>
          </a:p>
        </p:txBody>
      </p:sp>
      <p:sp>
        <p:nvSpPr>
          <p:cNvPr id="32" name="">
            <a:extLst xmlns:a="http://schemas.openxmlformats.org/drawingml/2006/main">
              <a:ext uri="{FF2B5EF4-FFF2-40B4-BE49-F238E27FC236}">
                <a16:creationId xmlns:a16="http://schemas.microsoft.com/office/drawing/2014/main" id="{D73BBD4C-5E1A-4B59-BB03-6D2163AF78B7}"/>
              </a:ext>
            </a:extLst>
          </p:cNvPr>
          <p:cNvSpPr>
            <a:spLocks xmlns:a="http://schemas.openxmlformats.org/drawingml/2006/main" noGrp="1"/>
          </p:cNvSpPr>
          <p:nvPr/>
        </p:nvSpPr>
        <p:spPr>
          <a:xfrm xmlns:a="http://schemas.openxmlformats.org/drawingml/2006/main">
            <a:off x="857250" y="4467225"/>
            <a:ext cx="5334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FP32: 4 bytes por valor</a:t>
            </a:r>
          </a:p>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1 byte por valor</a:t>
            </a:r>
          </a:p>
        </p:txBody>
      </p:sp>
      <p:sp>
        <p:nvSpPr>
          <p:cNvPr id="33" name="">
            <a:extLst xmlns:a="http://schemas.openxmlformats.org/drawingml/2006/main">
              <a:ext uri="{FF2B5EF4-FFF2-40B4-BE49-F238E27FC236}">
                <a16:creationId xmlns:a16="http://schemas.microsoft.com/office/drawing/2014/main" id="{085E784B-99CA-4D95-82EE-91608DA00A41}"/>
              </a:ext>
            </a:extLst>
          </p:cNvPr>
          <p:cNvSpPr>
            <a:spLocks xmlns:a="http://schemas.openxmlformats.org/drawingml/2006/main" noGrp="1"/>
          </p:cNvSpPr>
          <p:nvPr/>
        </p:nvSpPr>
        <p:spPr>
          <a:xfrm xmlns:a="http://schemas.openxmlformats.org/drawingml/2006/main">
            <a:off x="7000875" y="4467225"/>
            <a:ext cx="43338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UINT8 sin signo: 0 … 255</a:t>
            </a:r>
          </a:p>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Rango físico: x ≈ S(q − Z)</a:t>
            </a:r>
          </a:p>
        </p:txBody>
      </p:sp>
      <p:sp>
        <p:nvSpPr>
          <p:cNvPr id="34" name="">
            <a:extLst xmlns:a="http://schemas.openxmlformats.org/drawingml/2006/main">
              <a:ext uri="{FF2B5EF4-FFF2-40B4-BE49-F238E27FC236}">
                <a16:creationId xmlns:a16="http://schemas.microsoft.com/office/drawing/2014/main" id="{E7E66A2B-1AD0-41A6-A3D9-15F347EAD522}"/>
              </a:ext>
            </a:extLst>
          </p:cNvPr>
          <p:cNvSpPr>
            <a:spLocks xmlns:a="http://schemas.openxmlformats.org/drawingml/2006/main" noGrp="1"/>
          </p:cNvSpPr>
          <p:nvPr/>
        </p:nvSpPr>
        <p:spPr>
          <a:xfrm xmlns:a="http://schemas.openxmlformats.org/drawingml/2006/main">
            <a:off x="762000" y="57626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526173"/>
                </a:solidFill>
                <a:latin typeface="Lato"/>
                <a:ea typeface="Lato"/>
                <a:cs typeface="Lato"/>
              </a:defRPr>
            </a:defPPr>
          </a:lstStyle>
          <a:p xmlns:a="http://schemas.openxmlformats.org/drawingml/2006/main">
            <a:pPr algn="l">
              <a:defRPr sz="1800" b="0">
                <a:solidFill>
                  <a:srgbClr val="526173"/>
                </a:solidFill>
                <a:latin typeface="Lato"/>
                <a:ea typeface="Lato"/>
                <a:cs typeface="Lato"/>
              </a:defRPr>
            </a:pPr>
            <a:r>
              <a:rPr sz="1800" b="0">
                <a:solidFill>
                  <a:srgbClr val="526173"/>
                </a:solidFill>
                <a:latin typeface="Lato"/>
                <a:ea typeface="Lato"/>
                <a:cs typeface="Lato"/>
              </a:rPr>
              <a:t>La cuantización conserva la topología; algunos tensores permanecen flotantes.</a:t>
            </a:r>
          </a:p>
        </p:txBody>
      </p:sp>
    </p:spTree>
    <p:extLst>
      <p:ext uri="{BB962C8B-B14F-4D97-AF65-F5344CB8AC3E}">
        <p14:creationId xmlns:p14="http://schemas.microsoft.com/office/powerpoint/2010/main" val="16528277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0D8B5D-6C6E-4F59-A29C-327A9F1E5A5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3D5BE70-A46F-40F8-971E-A7404F52C983}"/>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497B0186-4500-4247-A5CE-4C4A79634B18}"/>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cuantización</a:t>
            </a:r>
          </a:p>
        </p:txBody>
      </p:sp>
      <p:sp>
        <p:nvSpPr>
          <p:cNvPr id="4" name="">
            <a:extLst xmlns:a="http://schemas.openxmlformats.org/drawingml/2006/main">
              <a:ext uri="{FF2B5EF4-FFF2-40B4-BE49-F238E27FC236}">
                <a16:creationId xmlns:a16="http://schemas.microsoft.com/office/drawing/2014/main" id="{919BE761-3968-49D6-84F0-FB5B4099889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44EEF66-DC91-44FA-8922-570C304DE0F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cuantización lineal [3]; ilustración conceptual de TT1 [1]</a:t>
            </a:r>
          </a:p>
        </p:txBody>
      </p:sp>
      <p:sp>
        <p:nvSpPr>
          <p:cNvPr id="6" name="">
            <a:extLst xmlns:a="http://schemas.openxmlformats.org/drawingml/2006/main">
              <a:ext uri="{FF2B5EF4-FFF2-40B4-BE49-F238E27FC236}">
                <a16:creationId xmlns:a16="http://schemas.microsoft.com/office/drawing/2014/main" id="{BEA18955-9EEC-4F37-A494-D6DFE29A7F4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07</a:t>
            </a:r>
          </a:p>
        </p:txBody>
      </p:sp>
      <p:sp>
        <p:nvSpPr>
          <p:cNvPr id="7" name="">
            <a:extLst xmlns:a="http://schemas.openxmlformats.org/drawingml/2006/main">
              <a:ext uri="{FF2B5EF4-FFF2-40B4-BE49-F238E27FC236}">
                <a16:creationId xmlns:a16="http://schemas.microsoft.com/office/drawing/2014/main" id="{6A8C13F5-7610-44C6-BD07-EC6173CE24A1}"/>
              </a:ext>
            </a:extLst>
          </p:cNvPr>
          <p:cNvSpPr>
            <a:spLocks xmlns:a="http://schemas.openxmlformats.org/drawingml/2006/main" noGrp="1"/>
          </p:cNvSpPr>
          <p:nvPr/>
        </p:nvSpPr>
        <p:spPr>
          <a:xfrm xmlns:a="http://schemas.openxmlformats.org/drawingml/2006/main">
            <a:off x="685800" y="2057400"/>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L = 2ᴮ  →  256 códigos para B = 8</a:t>
            </a:r>
          </a:p>
        </p:txBody>
      </p:sp>
      <p:sp>
        <p:nvSpPr>
          <p:cNvPr id="8" name="">
            <a:extLst xmlns:a="http://schemas.openxmlformats.org/drawingml/2006/main">
              <a:ext uri="{FF2B5EF4-FFF2-40B4-BE49-F238E27FC236}">
                <a16:creationId xmlns:a16="http://schemas.microsoft.com/office/drawing/2014/main" id="{83A27B74-B283-4764-8DCE-0A24BB06B5AE}"/>
              </a:ext>
            </a:extLst>
          </p:cNvPr>
          <p:cNvSpPr>
            <a:spLocks xmlns:a="http://schemas.openxmlformats.org/drawingml/2006/main" noGrp="1"/>
          </p:cNvSpPr>
          <p:nvPr/>
        </p:nvSpPr>
        <p:spPr>
          <a:xfrm xmlns:a="http://schemas.openxmlformats.org/drawingml/2006/main">
            <a:off x="714375" y="3019425"/>
            <a:ext cx="5381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S = (xmax − xmin) / (qmax − qmin)</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q = clip(round(x/S) + Z)</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x̂ = S(q − Z)</a:t>
            </a:r>
          </a:p>
        </p:txBody>
      </p:sp>
      <p:sp>
        <p:nvSpPr>
          <p:cNvPr id="9" name="">
            <a:extLst xmlns:a="http://schemas.openxmlformats.org/drawingml/2006/main">
              <a:ext uri="{FF2B5EF4-FFF2-40B4-BE49-F238E27FC236}">
                <a16:creationId xmlns:a16="http://schemas.microsoft.com/office/drawing/2014/main" id="{906B6683-09AE-4F4A-AFA5-B231328BB1AC}"/>
              </a:ext>
            </a:extLst>
          </p:cNvPr>
          <p:cNvSpPr>
            <a:spLocks xmlns:a="http://schemas.openxmlformats.org/drawingml/2006/main" noGrp="1"/>
          </p:cNvSpPr>
          <p:nvPr/>
        </p:nvSpPr>
        <p:spPr>
          <a:xfrm xmlns:a="http://schemas.openxmlformats.org/drawingml/2006/main">
            <a:off x="714375" y="5153025"/>
            <a:ext cx="523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Escala S: separación entre niveles</a:t>
            </a:r>
          </a:p>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Punto cero Z: representa el cero real</a:t>
            </a:r>
          </a:p>
        </p:txBody>
      </p:sp>
      <p:pic>
        <p:nvPicPr>
          <p:cNvPr id="10" name="">
            <a:extLst xmlns:a="http://schemas.openxmlformats.org/drawingml/2006/main">
              <a:ext uri="{FF2B5EF4-FFF2-40B4-BE49-F238E27FC236}">
                <a16:creationId xmlns:a16="http://schemas.microsoft.com/office/drawing/2014/main" id="{5C5417A5-9D4B-4E51-9031-71EEC010E53A}"/>
              </a:ext>
            </a:extLst>
          </p:cNvPr>
          <p:cNvPicPr>
            <a:picLocks xmlns:a="http://schemas.openxmlformats.org/drawingml/2006/main" noChangeAspect="1"/>
          </p:cNvPicPr>
          <p:nvPr/>
        </p:nvPicPr>
        <p:blipFill>
          <a:blip xmlns:r="http://schemas.openxmlformats.org/officeDocument/2006/relationships" xmlns:a="http://schemas.openxmlformats.org/drawingml/2006/main" r:embed="R675cba52db514935"/>
          <a:srcRect xmlns:a="http://schemas.openxmlformats.org/drawingml/2006/main" l="0" t="0" r="0" b="49000"/>
          <a:stretch xmlns:a="http://schemas.openxmlformats.org/drawingml/2006/main"/>
        </p:blipFill>
        <p:spPr>
          <a:xfrm xmlns:a="http://schemas.openxmlformats.org/drawingml/2006/main">
            <a:off x="6286500" y="1933575"/>
            <a:ext cx="5219700" cy="3857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712B3D9-783D-485D-AE67-CCC79173BE4D}"/>
              </a:ext>
            </a:extLst>
          </p:cNvPr>
          <p:cNvSpPr>
            <a:spLocks xmlns:a="http://schemas.openxmlformats.org/drawingml/2006/main" noGrp="1"/>
          </p:cNvSpPr>
          <p:nvPr/>
        </p:nvSpPr>
        <p:spPr>
          <a:xfrm xmlns:a="http://schemas.openxmlformats.org/drawingml/2006/main">
            <a:off x="6457950" y="5724525"/>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173"/>
                </a:solidFill>
                <a:latin typeface="Lato"/>
                <a:ea typeface="Lato"/>
                <a:cs typeface="Lato"/>
              </a:defRPr>
            </a:defPPr>
          </a:lstStyle>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Ejemplo didáctico; no es un histograma del modelo.</a:t>
            </a:r>
          </a:p>
        </p:txBody>
      </p:sp>
    </p:spTree>
    <p:extLst>
      <p:ext uri="{BB962C8B-B14F-4D97-AF65-F5344CB8AC3E}">
        <p14:creationId xmlns:p14="http://schemas.microsoft.com/office/powerpoint/2010/main" val="11593960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9DDDDAA-3F4A-4446-9A48-5260696F233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56CEA02-D0A3-494B-B78D-B657FAB1E9EB}"/>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APROXIMACIÓN Y CUANTIZACIÓN</a:t>
            </a:r>
          </a:p>
        </p:txBody>
      </p:sp>
      <p:sp>
        <p:nvSpPr>
          <p:cNvPr id="3" name="">
            <a:extLst xmlns:a="http://schemas.openxmlformats.org/drawingml/2006/main">
              <a:ext uri="{FF2B5EF4-FFF2-40B4-BE49-F238E27FC236}">
                <a16:creationId xmlns:a16="http://schemas.microsoft.com/office/drawing/2014/main" id="{2E823986-B01E-4392-A2E7-EADA5FCA67B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redes neuronales</a:t>
            </a:r>
          </a:p>
        </p:txBody>
      </p:sp>
      <p:sp>
        <p:nvSpPr>
          <p:cNvPr id="4" name="">
            <a:extLst xmlns:a="http://schemas.openxmlformats.org/drawingml/2006/main">
              <a:ext uri="{FF2B5EF4-FFF2-40B4-BE49-F238E27FC236}">
                <a16:creationId xmlns:a16="http://schemas.microsoft.com/office/drawing/2014/main" id="{63EB2C8E-FF20-41E5-AC7A-75821209D92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E061F8E-9DB2-495B-AC23-46DE7E6671F4}"/>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capas densas PyTorch [4]; implementación TT1 [1]</a:t>
            </a:r>
          </a:p>
        </p:txBody>
      </p:sp>
      <p:sp>
        <p:nvSpPr>
          <p:cNvPr id="6" name="">
            <a:extLst xmlns:a="http://schemas.openxmlformats.org/drawingml/2006/main">
              <a:ext uri="{FF2B5EF4-FFF2-40B4-BE49-F238E27FC236}">
                <a16:creationId xmlns:a16="http://schemas.microsoft.com/office/drawing/2014/main" id="{36EE0425-33E5-4F44-9331-77247B398DF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08</a:t>
            </a:r>
          </a:p>
        </p:txBody>
      </p:sp>
      <p:sp>
        <p:nvSpPr>
          <p:cNvPr id="7" name="">
            <a:extLst xmlns:a="http://schemas.openxmlformats.org/drawingml/2006/main">
              <a:ext uri="{FF2B5EF4-FFF2-40B4-BE49-F238E27FC236}">
                <a16:creationId xmlns:a16="http://schemas.microsoft.com/office/drawing/2014/main" id="{029088BF-CD9B-454C-9D82-03300FEF8D86}"/>
              </a:ext>
            </a:extLst>
          </p:cNvPr>
          <p:cNvSpPr>
            <a:spLocks xmlns:a="http://schemas.openxmlformats.org/drawingml/2006/main" noGrp="1"/>
          </p:cNvSpPr>
          <p:nvPr/>
        </p:nvSpPr>
        <p:spPr>
          <a:xfrm xmlns:a="http://schemas.openxmlformats.org/drawingml/2006/main">
            <a:off x="762000" y="2466975"/>
            <a:ext cx="2571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86DB1CE4-7AEC-42A8-A56F-503AA1A2C98C}"/>
              </a:ext>
            </a:extLst>
          </p:cNvPr>
          <p:cNvSpPr>
            <a:spLocks xmlns:a="http://schemas.openxmlformats.org/drawingml/2006/main" noGrp="1"/>
          </p:cNvSpPr>
          <p:nvPr/>
        </p:nvSpPr>
        <p:spPr>
          <a:xfrm xmlns:a="http://schemas.openxmlformats.org/drawingml/2006/main">
            <a:off x="762000" y="2466975"/>
            <a:ext cx="47625" cy="13144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9C530A5-6D5E-4229-92CC-368BD535691F}"/>
              </a:ext>
            </a:extLst>
          </p:cNvPr>
          <p:cNvSpPr>
            <a:spLocks xmlns:a="http://schemas.openxmlformats.org/drawingml/2006/main" noGrp="1"/>
          </p:cNvSpPr>
          <p:nvPr/>
        </p:nvSpPr>
        <p:spPr>
          <a:xfrm xmlns:a="http://schemas.openxmlformats.org/drawingml/2006/main">
            <a:off x="904875" y="2609850"/>
            <a:ext cx="2305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Entradas</a:t>
            </a:r>
          </a:p>
        </p:txBody>
      </p:sp>
      <p:sp>
        <p:nvSpPr>
          <p:cNvPr id="10" name="">
            <a:extLst xmlns:a="http://schemas.openxmlformats.org/drawingml/2006/main">
              <a:ext uri="{FF2B5EF4-FFF2-40B4-BE49-F238E27FC236}">
                <a16:creationId xmlns:a16="http://schemas.microsoft.com/office/drawing/2014/main" id="{95D6DE28-690B-4135-8173-540DF09496CF}"/>
              </a:ext>
            </a:extLst>
          </p:cNvPr>
          <p:cNvSpPr>
            <a:spLocks xmlns:a="http://schemas.openxmlformats.org/drawingml/2006/main" noGrp="1"/>
          </p:cNvSpPr>
          <p:nvPr/>
        </p:nvSpPr>
        <p:spPr>
          <a:xfrm xmlns:a="http://schemas.openxmlformats.org/drawingml/2006/main">
            <a:off x="3571875"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61338C7-AFE6-4BA7-96ED-B4BB6F397619}"/>
              </a:ext>
            </a:extLst>
          </p:cNvPr>
          <p:cNvSpPr>
            <a:spLocks xmlns:a="http://schemas.openxmlformats.org/drawingml/2006/main" noGrp="1"/>
          </p:cNvSpPr>
          <p:nvPr/>
        </p:nvSpPr>
        <p:spPr>
          <a:xfrm xmlns:a="http://schemas.openxmlformats.org/drawingml/2006/main">
            <a:off x="4333875" y="2466975"/>
            <a:ext cx="3333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B1DFD087-04DC-4434-ADAB-DB5E9C02DB53}"/>
              </a:ext>
            </a:extLst>
          </p:cNvPr>
          <p:cNvSpPr>
            <a:spLocks xmlns:a="http://schemas.openxmlformats.org/drawingml/2006/main" noGrp="1"/>
          </p:cNvSpPr>
          <p:nvPr/>
        </p:nvSpPr>
        <p:spPr>
          <a:xfrm xmlns:a="http://schemas.openxmlformats.org/drawingml/2006/main">
            <a:off x="4333875" y="2466975"/>
            <a:ext cx="47625" cy="13144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4CE9231-0D03-4E53-839D-138F655B161D}"/>
              </a:ext>
            </a:extLst>
          </p:cNvPr>
          <p:cNvSpPr>
            <a:spLocks xmlns:a="http://schemas.openxmlformats.org/drawingml/2006/main" noGrp="1"/>
          </p:cNvSpPr>
          <p:nvPr/>
        </p:nvSpPr>
        <p:spPr>
          <a:xfrm xmlns:a="http://schemas.openxmlformats.org/drawingml/2006/main">
            <a:off x="4476750" y="2609850"/>
            <a:ext cx="3067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325" b="1">
                <a:solidFill>
                  <a:srgbClr val="263445"/>
                </a:solidFill>
                <a:latin typeface="Lato"/>
                <a:ea typeface="Lato"/>
                <a:cs typeface="Lato"/>
              </a:defRPr>
            </a:defPPr>
          </a:lstStyle>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Capas densas</a:t>
            </a:r>
          </a:p>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y activaciones</a:t>
            </a:r>
          </a:p>
        </p:txBody>
      </p:sp>
      <p:sp>
        <p:nvSpPr>
          <p:cNvPr id="14" name="">
            <a:extLst xmlns:a="http://schemas.openxmlformats.org/drawingml/2006/main">
              <a:ext uri="{FF2B5EF4-FFF2-40B4-BE49-F238E27FC236}">
                <a16:creationId xmlns:a16="http://schemas.microsoft.com/office/drawing/2014/main" id="{69BAD1F9-2EF9-47C7-A769-D4460FFBA19F}"/>
              </a:ext>
            </a:extLst>
          </p:cNvPr>
          <p:cNvSpPr>
            <a:spLocks xmlns:a="http://schemas.openxmlformats.org/drawingml/2006/main" noGrp="1"/>
          </p:cNvSpPr>
          <p:nvPr/>
        </p:nvSpPr>
        <p:spPr>
          <a:xfrm xmlns:a="http://schemas.openxmlformats.org/drawingml/2006/main">
            <a:off x="7905750"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3E8A8E7-E3AF-41A6-B936-5726B24CC154}"/>
              </a:ext>
            </a:extLst>
          </p:cNvPr>
          <p:cNvSpPr>
            <a:spLocks xmlns:a="http://schemas.openxmlformats.org/drawingml/2006/main" noGrp="1"/>
          </p:cNvSpPr>
          <p:nvPr/>
        </p:nvSpPr>
        <p:spPr>
          <a:xfrm xmlns:a="http://schemas.openxmlformats.org/drawingml/2006/main">
            <a:off x="8667750" y="2466975"/>
            <a:ext cx="2619375"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6" name="">
            <a:extLst xmlns:a="http://schemas.openxmlformats.org/drawingml/2006/main">
              <a:ext uri="{FF2B5EF4-FFF2-40B4-BE49-F238E27FC236}">
                <a16:creationId xmlns:a16="http://schemas.microsoft.com/office/drawing/2014/main" id="{A0A6960E-DD64-434F-BB91-AD87F10D4162}"/>
              </a:ext>
            </a:extLst>
          </p:cNvPr>
          <p:cNvSpPr>
            <a:spLocks xmlns:a="http://schemas.openxmlformats.org/drawingml/2006/main" noGrp="1"/>
          </p:cNvSpPr>
          <p:nvPr/>
        </p:nvSpPr>
        <p:spPr>
          <a:xfrm xmlns:a="http://schemas.openxmlformats.org/drawingml/2006/main">
            <a:off x="8667750" y="2466975"/>
            <a:ext cx="47625" cy="13144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BA5F557-4ACF-42AC-B47E-6CA2C70C458C}"/>
              </a:ext>
            </a:extLst>
          </p:cNvPr>
          <p:cNvSpPr>
            <a:spLocks xmlns:a="http://schemas.openxmlformats.org/drawingml/2006/main" noGrp="1"/>
          </p:cNvSpPr>
          <p:nvPr/>
        </p:nvSpPr>
        <p:spPr>
          <a:xfrm xmlns:a="http://schemas.openxmlformats.org/drawingml/2006/main">
            <a:off x="8810625" y="2609850"/>
            <a:ext cx="23526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Salidas</a:t>
            </a:r>
          </a:p>
        </p:txBody>
      </p:sp>
      <p:sp>
        <p:nvSpPr>
          <p:cNvPr id="18" name="">
            <a:extLst xmlns:a="http://schemas.openxmlformats.org/drawingml/2006/main">
              <a:ext uri="{FF2B5EF4-FFF2-40B4-BE49-F238E27FC236}">
                <a16:creationId xmlns:a16="http://schemas.microsoft.com/office/drawing/2014/main" id="{09837A6F-0F36-47B0-86A4-805D1F9E57F7}"/>
              </a:ext>
            </a:extLst>
          </p:cNvPr>
          <p:cNvSpPr>
            <a:spLocks xmlns:a="http://schemas.openxmlformats.org/drawingml/2006/main" noGrp="1"/>
          </p:cNvSpPr>
          <p:nvPr/>
        </p:nvSpPr>
        <p:spPr>
          <a:xfrm xmlns:a="http://schemas.openxmlformats.org/drawingml/2006/main">
            <a:off x="800100" y="4438650"/>
            <a:ext cx="1047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0">
                <a:solidFill>
                  <a:srgbClr val="263445"/>
                </a:solidFill>
                <a:latin typeface="Lato"/>
                <a:ea typeface="Lato"/>
                <a:cs typeface="Lato"/>
              </a:defRPr>
            </a:defPPr>
          </a:lstStyle>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Una MLP aproxima una relación entre variables de entrada y objetivos.</a:t>
            </a:r>
          </a:p>
        </p:txBody>
      </p:sp>
      <p:sp>
        <p:nvSpPr>
          <p:cNvPr id="19" name="">
            <a:extLst xmlns:a="http://schemas.openxmlformats.org/drawingml/2006/main">
              <a:ext uri="{FF2B5EF4-FFF2-40B4-BE49-F238E27FC236}">
                <a16:creationId xmlns:a16="http://schemas.microsoft.com/office/drawing/2014/main" id="{1099056E-41A4-4913-99EB-4680E7BB6067}"/>
              </a:ext>
            </a:extLst>
          </p:cNvPr>
          <p:cNvSpPr>
            <a:spLocks xmlns:a="http://schemas.openxmlformats.org/drawingml/2006/main" noGrp="1"/>
          </p:cNvSpPr>
          <p:nvPr/>
        </p:nvSpPr>
        <p:spPr>
          <a:xfrm xmlns:a="http://schemas.openxmlformats.org/drawingml/2006/main">
            <a:off x="800100" y="5381625"/>
            <a:ext cx="10477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La cuantización modifica la representación numérica, no el número de neuronas.</a:t>
            </a:r>
          </a:p>
        </p:txBody>
      </p:sp>
    </p:spTree>
    <p:extLst>
      <p:ext uri="{BB962C8B-B14F-4D97-AF65-F5344CB8AC3E}">
        <p14:creationId xmlns:p14="http://schemas.microsoft.com/office/powerpoint/2010/main" val="12746690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88D1D62-319A-45B6-850E-BE3D2E286F3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90E9CF-4C4A-4089-B51A-EE954B0EFFC7}"/>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INTERCAMBIO Y EJECUCIÓN</a:t>
            </a:r>
          </a:p>
        </p:txBody>
      </p:sp>
      <p:sp>
        <p:nvSpPr>
          <p:cNvPr id="3" name="">
            <a:extLst xmlns:a="http://schemas.openxmlformats.org/drawingml/2006/main">
              <a:ext uri="{FF2B5EF4-FFF2-40B4-BE49-F238E27FC236}">
                <a16:creationId xmlns:a16="http://schemas.microsoft.com/office/drawing/2014/main" id="{96081C78-E20F-477C-A8B8-A8BDE48091FA}"/>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ONNX</a:t>
            </a:r>
          </a:p>
        </p:txBody>
      </p:sp>
      <p:sp>
        <p:nvSpPr>
          <p:cNvPr id="4" name="">
            <a:extLst xmlns:a="http://schemas.openxmlformats.org/drawingml/2006/main">
              <a:ext uri="{FF2B5EF4-FFF2-40B4-BE49-F238E27FC236}">
                <a16:creationId xmlns:a16="http://schemas.microsoft.com/office/drawing/2014/main" id="{936E1F13-49AC-43ED-A35A-5939C5785EE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CB733C6-0FBD-44CE-ADE8-FE6C1ED9C9E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ONNX Concepts [5]</a:t>
            </a:r>
          </a:p>
        </p:txBody>
      </p:sp>
      <p:sp>
        <p:nvSpPr>
          <p:cNvPr id="6" name="">
            <a:extLst xmlns:a="http://schemas.openxmlformats.org/drawingml/2006/main">
              <a:ext uri="{FF2B5EF4-FFF2-40B4-BE49-F238E27FC236}">
                <a16:creationId xmlns:a16="http://schemas.microsoft.com/office/drawing/2014/main" id="{802D1374-6059-4886-8191-483B52AA4FC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09</a:t>
            </a:r>
          </a:p>
        </p:txBody>
      </p:sp>
      <p:sp>
        <p:nvSpPr>
          <p:cNvPr id="7" name="">
            <a:extLst xmlns:a="http://schemas.openxmlformats.org/drawingml/2006/main">
              <a:ext uri="{FF2B5EF4-FFF2-40B4-BE49-F238E27FC236}">
                <a16:creationId xmlns:a16="http://schemas.microsoft.com/office/drawing/2014/main" id="{269F5997-C073-435D-B319-14FE7BE93943}"/>
              </a:ext>
            </a:extLst>
          </p:cNvPr>
          <p:cNvSpPr>
            <a:spLocks xmlns:a="http://schemas.openxmlformats.org/drawingml/2006/main" noGrp="1"/>
          </p:cNvSpPr>
          <p:nvPr/>
        </p:nvSpPr>
        <p:spPr>
          <a:xfrm xmlns:a="http://schemas.openxmlformats.org/drawingml/2006/main">
            <a:off x="762000" y="20288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0B4F7E20-2A8A-4730-8D56-C6F70BA2E7F1}"/>
              </a:ext>
            </a:extLst>
          </p:cNvPr>
          <p:cNvSpPr>
            <a:spLocks xmlns:a="http://schemas.openxmlformats.org/drawingml/2006/main" noGrp="1"/>
          </p:cNvSpPr>
          <p:nvPr/>
        </p:nvSpPr>
        <p:spPr>
          <a:xfrm xmlns:a="http://schemas.openxmlformats.org/drawingml/2006/main">
            <a:off x="1581150" y="2028825"/>
            <a:ext cx="96583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Modelo descrito mediante un grafo de operadores y tensores.</a:t>
            </a:r>
          </a:p>
        </p:txBody>
      </p:sp>
      <p:sp>
        <p:nvSpPr>
          <p:cNvPr id="9" name="">
            <a:extLst xmlns:a="http://schemas.openxmlformats.org/drawingml/2006/main">
              <a:ext uri="{FF2B5EF4-FFF2-40B4-BE49-F238E27FC236}">
                <a16:creationId xmlns:a16="http://schemas.microsoft.com/office/drawing/2014/main" id="{7AC9CB80-2F56-4EAE-A351-482055C9BF7F}"/>
              </a:ext>
            </a:extLst>
          </p:cNvPr>
          <p:cNvSpPr>
            <a:spLocks xmlns:a="http://schemas.openxmlformats.org/drawingml/2006/main" noGrp="1"/>
          </p:cNvSpPr>
          <p:nvPr/>
        </p:nvSpPr>
        <p:spPr>
          <a:xfrm xmlns:a="http://schemas.openxmlformats.org/drawingml/2006/main">
            <a:off x="762000" y="30670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29143625-810A-476B-83C0-E8564213BD31}"/>
              </a:ext>
            </a:extLst>
          </p:cNvPr>
          <p:cNvSpPr>
            <a:spLocks xmlns:a="http://schemas.openxmlformats.org/drawingml/2006/main" noGrp="1"/>
          </p:cNvSpPr>
          <p:nvPr/>
        </p:nvSpPr>
        <p:spPr>
          <a:xfrm xmlns:a="http://schemas.openxmlformats.org/drawingml/2006/main">
            <a:off x="1581150" y="3067050"/>
            <a:ext cx="96583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Representación abierta para herramientas compatibles.</a:t>
            </a:r>
          </a:p>
        </p:txBody>
      </p:sp>
      <p:sp>
        <p:nvSpPr>
          <p:cNvPr id="11" name="">
            <a:extLst xmlns:a="http://schemas.openxmlformats.org/drawingml/2006/main">
              <a:ext uri="{FF2B5EF4-FFF2-40B4-BE49-F238E27FC236}">
                <a16:creationId xmlns:a16="http://schemas.microsoft.com/office/drawing/2014/main" id="{0DF6663F-9A42-4307-B22E-7D2945D8A6C5}"/>
              </a:ext>
            </a:extLst>
          </p:cNvPr>
          <p:cNvSpPr>
            <a:spLocks xmlns:a="http://schemas.openxmlformats.org/drawingml/2006/main" noGrp="1"/>
          </p:cNvSpPr>
          <p:nvPr/>
        </p:nvSpPr>
        <p:spPr>
          <a:xfrm xmlns:a="http://schemas.openxmlformats.org/drawingml/2006/main">
            <a:off x="762000" y="41052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FE35C371-1BB5-435C-A1CE-96FE4A1DC94D}"/>
              </a:ext>
            </a:extLst>
          </p:cNvPr>
          <p:cNvSpPr>
            <a:spLocks xmlns:a="http://schemas.openxmlformats.org/drawingml/2006/main" noGrp="1"/>
          </p:cNvSpPr>
          <p:nvPr/>
        </p:nvSpPr>
        <p:spPr>
          <a:xfrm xmlns:a="http://schemas.openxmlformats.org/drawingml/2006/main">
            <a:off x="1581150" y="4105275"/>
            <a:ext cx="96583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En TT1: exportación desde PyTorch e inferencia C++.</a:t>
            </a:r>
          </a:p>
        </p:txBody>
      </p:sp>
      <p:sp>
        <p:nvSpPr>
          <p:cNvPr id="13" name="">
            <a:extLst xmlns:a="http://schemas.openxmlformats.org/drawingml/2006/main">
              <a:ext uri="{FF2B5EF4-FFF2-40B4-BE49-F238E27FC236}">
                <a16:creationId xmlns:a16="http://schemas.microsoft.com/office/drawing/2014/main" id="{A607772B-0401-437F-A50F-D400ED6B8EF9}"/>
              </a:ext>
            </a:extLst>
          </p:cNvPr>
          <p:cNvSpPr>
            <a:spLocks xmlns:a="http://schemas.openxmlformats.org/drawingml/2006/main" noGrp="1"/>
          </p:cNvSpPr>
          <p:nvPr/>
        </p:nvSpPr>
        <p:spPr>
          <a:xfrm xmlns:a="http://schemas.openxmlformats.org/drawingml/2006/main">
            <a:off x="762000" y="55054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0F766E"/>
                </a:solidFill>
                <a:latin typeface="Lato"/>
                <a:ea typeface="Lato"/>
                <a:cs typeface="Lato"/>
              </a:defRPr>
            </a:defPPr>
          </a:lstStyle>
          <a:p xmlns:a="http://schemas.openxmlformats.org/drawingml/2006/main">
            <a:pPr algn="ctr">
              <a:defRPr sz="2625" b="1">
                <a:solidFill>
                  <a:srgbClr val="0F766E"/>
                </a:solidFill>
                <a:latin typeface="Lato"/>
                <a:ea typeface="Lato"/>
                <a:cs typeface="Lato"/>
              </a:defRPr>
            </a:pPr>
            <a:r>
              <a:rPr sz="2625" b="1">
                <a:solidFill>
                  <a:srgbClr val="0F766E"/>
                </a:solidFill>
                <a:latin typeface="Lato"/>
                <a:ea typeface="Lato"/>
                <a:cs typeface="Lato"/>
              </a:rPr>
              <a:t>PyTorch  →  archivo ONNX  →  ONNX Runtime</a:t>
            </a:r>
          </a:p>
        </p:txBody>
      </p:sp>
    </p:spTree>
    <p:extLst>
      <p:ext uri="{BB962C8B-B14F-4D97-AF65-F5344CB8AC3E}">
        <p14:creationId xmlns:p14="http://schemas.microsoft.com/office/powerpoint/2010/main" val="837545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1822645-1604-43D4-B743-8FA3E2A5761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017CEA-1A87-40BF-8550-040050B2FDD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IMPLEMENTACIÓN</a:t>
            </a:r>
          </a:p>
        </p:txBody>
      </p:sp>
      <p:sp>
        <p:nvSpPr>
          <p:cNvPr id="3" name="">
            <a:extLst xmlns:a="http://schemas.openxmlformats.org/drawingml/2006/main">
              <a:ext uri="{FF2B5EF4-FFF2-40B4-BE49-F238E27FC236}">
                <a16:creationId xmlns:a16="http://schemas.microsoft.com/office/drawing/2014/main" id="{7294CF11-63C4-44AF-A5C0-2B13E5E0354C}"/>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Entorno de simulación</a:t>
            </a:r>
          </a:p>
        </p:txBody>
      </p:sp>
      <p:sp>
        <p:nvSpPr>
          <p:cNvPr id="4" name="">
            <a:extLst xmlns:a="http://schemas.openxmlformats.org/drawingml/2006/main">
              <a:ext uri="{FF2B5EF4-FFF2-40B4-BE49-F238E27FC236}">
                <a16:creationId xmlns:a16="http://schemas.microsoft.com/office/drawing/2014/main" id="{C4223B4C-7571-4F76-9FFC-018A0779D5A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E4E8428-33DB-4F65-A7AB-AEF1B265F229}"/>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captura del avance y reporte TT1 [1]</a:t>
            </a:r>
          </a:p>
        </p:txBody>
      </p:sp>
      <p:sp>
        <p:nvSpPr>
          <p:cNvPr id="6" name="">
            <a:extLst xmlns:a="http://schemas.openxmlformats.org/drawingml/2006/main">
              <a:ext uri="{FF2B5EF4-FFF2-40B4-BE49-F238E27FC236}">
                <a16:creationId xmlns:a16="http://schemas.microsoft.com/office/drawing/2014/main" id="{DF2D38BA-B5E7-41DC-B590-760FEA265DB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10</a:t>
            </a:r>
          </a:p>
        </p:txBody>
      </p:sp>
      <p:pic>
        <p:nvPicPr>
          <p:cNvPr id="7" name="">
            <a:extLst xmlns:a="http://schemas.openxmlformats.org/drawingml/2006/main">
              <a:ext uri="{FF2B5EF4-FFF2-40B4-BE49-F238E27FC236}">
                <a16:creationId xmlns:a16="http://schemas.microsoft.com/office/drawing/2014/main" id="{45234489-C600-4535-89E6-3EFCF90FB943}"/>
              </a:ext>
            </a:extLst>
          </p:cNvPr>
          <p:cNvPicPr>
            <a:picLocks xmlns:a="http://schemas.openxmlformats.org/drawingml/2006/main" noChangeAspect="1"/>
          </p:cNvPicPr>
          <p:nvPr/>
        </p:nvPicPr>
        <p:blipFill>
          <a:blip xmlns:r="http://schemas.openxmlformats.org/officeDocument/2006/relationships" xmlns:a="http://schemas.openxmlformats.org/drawingml/2006/main" r:embed="Rf097972b4a954270"/>
          <a:srcRect xmlns:a="http://schemas.openxmlformats.org/drawingml/2006/main" l="4500" t="6000" r="65000" b="15000"/>
          <a:stretch xmlns:a="http://schemas.openxmlformats.org/drawingml/2006/main"/>
        </p:blipFill>
        <p:spPr>
          <a:xfrm xmlns:a="http://schemas.openxmlformats.org/drawingml/2006/main">
            <a:off x="666750" y="1885950"/>
            <a:ext cx="4572000"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F0781A7-F367-46CB-A01B-C5C0F5A65321}"/>
              </a:ext>
            </a:extLst>
          </p:cNvPr>
          <p:cNvSpPr>
            <a:spLocks xmlns:a="http://schemas.openxmlformats.org/drawingml/2006/main" noGrp="1"/>
          </p:cNvSpPr>
          <p:nvPr/>
        </p:nvSpPr>
        <p:spPr>
          <a:xfrm xmlns:a="http://schemas.openxmlformats.org/drawingml/2006/main">
            <a:off x="5715000" y="2228850"/>
            <a:ext cx="56197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0">
                <a:solidFill>
                  <a:srgbClr val="263445"/>
                </a:solidFill>
                <a:latin typeface="Lato"/>
                <a:ea typeface="Lato"/>
                <a:cs typeface="Lato"/>
              </a:defRPr>
            </a:defPPr>
          </a:lstStyle>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UR3e · 6 grados de libertad</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Gazebo Harmonic</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ROS 2 Jazzy y ros2_control</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Inferencia en CPU</a:t>
            </a:r>
          </a:p>
        </p:txBody>
      </p:sp>
      <p:sp>
        <p:nvSpPr>
          <p:cNvPr id="9" name="">
            <a:extLst xmlns:a="http://schemas.openxmlformats.org/drawingml/2006/main">
              <a:ext uri="{FF2B5EF4-FFF2-40B4-BE49-F238E27FC236}">
                <a16:creationId xmlns:a16="http://schemas.microsoft.com/office/drawing/2014/main" id="{C4FB2796-C66D-43CA-8546-771E3EA5E81D}"/>
              </a:ext>
            </a:extLst>
          </p:cNvPr>
          <p:cNvSpPr>
            <a:spLocks xmlns:a="http://schemas.openxmlformats.org/drawingml/2006/main" noGrp="1"/>
          </p:cNvSpPr>
          <p:nvPr/>
        </p:nvSpPr>
        <p:spPr>
          <a:xfrm xmlns:a="http://schemas.openxmlformats.org/drawingml/2006/main">
            <a:off x="5715000" y="4991100"/>
            <a:ext cx="56197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500 Hz: control nominal</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100 Hz: referencias y datos</a:t>
            </a:r>
          </a:p>
        </p:txBody>
      </p:sp>
    </p:spTree>
    <p:extLst>
      <p:ext uri="{BB962C8B-B14F-4D97-AF65-F5344CB8AC3E}">
        <p14:creationId xmlns:p14="http://schemas.microsoft.com/office/powerpoint/2010/main" val="2673291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AA9DEB6-8D1A-4EC8-91F0-177B3003BC4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E006B0-D06A-47AE-95A7-5E44D7C067B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EFF662C5-D739-408B-893E-439AD121C9F0}"/>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Controlador maestro RNEA + PD</a:t>
            </a:r>
          </a:p>
        </p:txBody>
      </p:sp>
      <p:sp>
        <p:nvSpPr>
          <p:cNvPr id="4" name="">
            <a:extLst xmlns:a="http://schemas.openxmlformats.org/drawingml/2006/main">
              <a:ext uri="{FF2B5EF4-FFF2-40B4-BE49-F238E27FC236}">
                <a16:creationId xmlns:a16="http://schemas.microsoft.com/office/drawing/2014/main" id="{B4216320-104C-4C88-84D7-581745B73E3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F68A82-90B7-4426-81F5-72093AAEB2A4}"/>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dinámica de manipuladores [6]; controlador TT1 [1]</a:t>
            </a:r>
          </a:p>
        </p:txBody>
      </p:sp>
      <p:sp>
        <p:nvSpPr>
          <p:cNvPr id="6" name="">
            <a:extLst xmlns:a="http://schemas.openxmlformats.org/drawingml/2006/main">
              <a:ext uri="{FF2B5EF4-FFF2-40B4-BE49-F238E27FC236}">
                <a16:creationId xmlns:a16="http://schemas.microsoft.com/office/drawing/2014/main" id="{C1EE25A2-BF2B-4389-91B9-D5A82512D328}"/>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11</a:t>
            </a:r>
          </a:p>
        </p:txBody>
      </p:sp>
      <p:sp>
        <p:nvSpPr>
          <p:cNvPr id="7" name="">
            <a:extLst xmlns:a="http://schemas.openxmlformats.org/drawingml/2006/main">
              <a:ext uri="{FF2B5EF4-FFF2-40B4-BE49-F238E27FC236}">
                <a16:creationId xmlns:a16="http://schemas.microsoft.com/office/drawing/2014/main" id="{E5F11A9D-E698-4427-A6D9-712221DA2734}"/>
              </a:ext>
            </a:extLst>
          </p:cNvPr>
          <p:cNvSpPr>
            <a:spLocks xmlns:a="http://schemas.openxmlformats.org/drawingml/2006/main" noGrp="1"/>
          </p:cNvSpPr>
          <p:nvPr/>
        </p:nvSpPr>
        <p:spPr>
          <a:xfrm xmlns:a="http://schemas.openxmlformats.org/drawingml/2006/main">
            <a:off x="762000" y="1971675"/>
            <a:ext cx="1066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700" b="1">
                <a:solidFill>
                  <a:srgbClr val="263445"/>
                </a:solidFill>
                <a:latin typeface="Lato"/>
                <a:ea typeface="Lato"/>
                <a:cs typeface="Lato"/>
              </a:defRPr>
            </a:defPPr>
          </a:lstStyle>
          <a:p xmlns:a="http://schemas.openxmlformats.org/drawingml/2006/main">
            <a:pPr algn="ctr">
              <a:defRPr sz="2700" b="1">
                <a:solidFill>
                  <a:srgbClr val="263445"/>
                </a:solidFill>
                <a:latin typeface="Lato"/>
                <a:ea typeface="Lato"/>
                <a:cs typeface="Lato"/>
              </a:defRPr>
            </a:pPr>
            <a:r>
              <a:rPr sz="2700" b="1">
                <a:solidFill>
                  <a:srgbClr val="263445"/>
                </a:solidFill>
                <a:latin typeface="Lato"/>
                <a:ea typeface="Lato"/>
                <a:cs typeface="Lato"/>
              </a:rPr>
              <a:t>τmaestro = RNEA(q, q̇, q̈d) + Kp e + Kd ė</a:t>
            </a:r>
          </a:p>
        </p:txBody>
      </p:sp>
      <p:sp>
        <p:nvSpPr>
          <p:cNvPr id="8" name="">
            <a:extLst xmlns:a="http://schemas.openxmlformats.org/drawingml/2006/main">
              <a:ext uri="{FF2B5EF4-FFF2-40B4-BE49-F238E27FC236}">
                <a16:creationId xmlns:a16="http://schemas.microsoft.com/office/drawing/2014/main" id="{6106AC73-F498-4453-8CCF-460C135D5813}"/>
              </a:ext>
            </a:extLst>
          </p:cNvPr>
          <p:cNvSpPr>
            <a:spLocks xmlns:a="http://schemas.openxmlformats.org/drawingml/2006/main" noGrp="1"/>
          </p:cNvSpPr>
          <p:nvPr/>
        </p:nvSpPr>
        <p:spPr>
          <a:xfrm xmlns:a="http://schemas.openxmlformats.org/drawingml/2006/main">
            <a:off x="762000" y="3248025"/>
            <a:ext cx="2524125" cy="12763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0E7A564B-408C-448D-92D7-D16CFE46C901}"/>
              </a:ext>
            </a:extLst>
          </p:cNvPr>
          <p:cNvSpPr>
            <a:spLocks xmlns:a="http://schemas.openxmlformats.org/drawingml/2006/main" noGrp="1"/>
          </p:cNvSpPr>
          <p:nvPr/>
        </p:nvSpPr>
        <p:spPr>
          <a:xfrm xmlns:a="http://schemas.openxmlformats.org/drawingml/2006/main">
            <a:off x="762000" y="3248025"/>
            <a:ext cx="47625" cy="12763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D00E68A-BF56-49D6-813A-D01F4A609108}"/>
              </a:ext>
            </a:extLst>
          </p:cNvPr>
          <p:cNvSpPr>
            <a:spLocks xmlns:a="http://schemas.openxmlformats.org/drawingml/2006/main" noGrp="1"/>
          </p:cNvSpPr>
          <p:nvPr/>
        </p:nvSpPr>
        <p:spPr>
          <a:xfrm xmlns:a="http://schemas.openxmlformats.org/drawingml/2006/main">
            <a:off x="904875" y="3390900"/>
            <a:ext cx="22574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a:solidFill>
                  <a:srgbClr val="263445"/>
                </a:solidFill>
                <a:latin typeface="Lato"/>
                <a:ea typeface="Lato"/>
                <a:cs typeface="Lato"/>
              </a:defRPr>
            </a:defPPr>
          </a:lstStyle>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Error de posición</a:t>
            </a:r>
          </a:p>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y velocidad</a:t>
            </a:r>
          </a:p>
        </p:txBody>
      </p:sp>
      <p:sp>
        <p:nvSpPr>
          <p:cNvPr id="11" name="">
            <a:extLst xmlns:a="http://schemas.openxmlformats.org/drawingml/2006/main">
              <a:ext uri="{FF2B5EF4-FFF2-40B4-BE49-F238E27FC236}">
                <a16:creationId xmlns:a16="http://schemas.microsoft.com/office/drawing/2014/main" id="{E796C0BE-3601-447E-BBE0-F65F12E2107D}"/>
              </a:ext>
            </a:extLst>
          </p:cNvPr>
          <p:cNvSpPr>
            <a:spLocks xmlns:a="http://schemas.openxmlformats.org/drawingml/2006/main" noGrp="1"/>
          </p:cNvSpPr>
          <p:nvPr/>
        </p:nvSpPr>
        <p:spPr>
          <a:xfrm xmlns:a="http://schemas.openxmlformats.org/drawingml/2006/main">
            <a:off x="3476625" y="3752850"/>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D36BB42-A38D-4E49-8866-D4F4A0D31F57}"/>
              </a:ext>
            </a:extLst>
          </p:cNvPr>
          <p:cNvSpPr>
            <a:spLocks xmlns:a="http://schemas.openxmlformats.org/drawingml/2006/main" noGrp="1"/>
          </p:cNvSpPr>
          <p:nvPr/>
        </p:nvSpPr>
        <p:spPr>
          <a:xfrm xmlns:a="http://schemas.openxmlformats.org/drawingml/2006/main">
            <a:off x="4048125" y="3248025"/>
            <a:ext cx="2524125" cy="12763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1AD23F81-B7C8-43D0-8CEF-C8254CC0282D}"/>
              </a:ext>
            </a:extLst>
          </p:cNvPr>
          <p:cNvSpPr>
            <a:spLocks xmlns:a="http://schemas.openxmlformats.org/drawingml/2006/main" noGrp="1"/>
          </p:cNvSpPr>
          <p:nvPr/>
        </p:nvSpPr>
        <p:spPr>
          <a:xfrm xmlns:a="http://schemas.openxmlformats.org/drawingml/2006/main">
            <a:off x="4048125" y="3248025"/>
            <a:ext cx="47625" cy="12763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0481C1-D9A9-41FD-8208-AFA8D3972296}"/>
              </a:ext>
            </a:extLst>
          </p:cNvPr>
          <p:cNvSpPr>
            <a:spLocks xmlns:a="http://schemas.openxmlformats.org/drawingml/2006/main" noGrp="1"/>
          </p:cNvSpPr>
          <p:nvPr/>
        </p:nvSpPr>
        <p:spPr>
          <a:xfrm xmlns:a="http://schemas.openxmlformats.org/drawingml/2006/main">
            <a:off x="4191000" y="3390900"/>
            <a:ext cx="22574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a:solidFill>
                  <a:srgbClr val="263445"/>
                </a:solidFill>
                <a:latin typeface="Lato"/>
                <a:ea typeface="Lato"/>
                <a:cs typeface="Lato"/>
              </a:defRPr>
            </a:defPPr>
          </a:lstStyle>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PD en torque</a:t>
            </a:r>
          </a:p>
        </p:txBody>
      </p:sp>
      <p:sp>
        <p:nvSpPr>
          <p:cNvPr id="15" name="">
            <a:extLst xmlns:a="http://schemas.openxmlformats.org/drawingml/2006/main">
              <a:ext uri="{FF2B5EF4-FFF2-40B4-BE49-F238E27FC236}">
                <a16:creationId xmlns:a16="http://schemas.microsoft.com/office/drawing/2014/main" id="{6EC5F96B-B8A0-4206-A473-1A05C53C0478}"/>
              </a:ext>
            </a:extLst>
          </p:cNvPr>
          <p:cNvSpPr>
            <a:spLocks xmlns:a="http://schemas.openxmlformats.org/drawingml/2006/main" noGrp="1"/>
          </p:cNvSpPr>
          <p:nvPr/>
        </p:nvSpPr>
        <p:spPr>
          <a:xfrm xmlns:a="http://schemas.openxmlformats.org/drawingml/2006/main">
            <a:off x="6762750" y="3752850"/>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D6CACEA-21C3-461C-8D18-7582D83DFE3B}"/>
              </a:ext>
            </a:extLst>
          </p:cNvPr>
          <p:cNvSpPr>
            <a:spLocks xmlns:a="http://schemas.openxmlformats.org/drawingml/2006/main" noGrp="1"/>
          </p:cNvSpPr>
          <p:nvPr/>
        </p:nvSpPr>
        <p:spPr>
          <a:xfrm xmlns:a="http://schemas.openxmlformats.org/drawingml/2006/main">
            <a:off x="7334250" y="3248025"/>
            <a:ext cx="3905250" cy="12763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24830D33-47B9-4033-899E-FD2104EC3277}"/>
              </a:ext>
            </a:extLst>
          </p:cNvPr>
          <p:cNvSpPr>
            <a:spLocks xmlns:a="http://schemas.openxmlformats.org/drawingml/2006/main" noGrp="1"/>
          </p:cNvSpPr>
          <p:nvPr/>
        </p:nvSpPr>
        <p:spPr>
          <a:xfrm xmlns:a="http://schemas.openxmlformats.org/drawingml/2006/main">
            <a:off x="7334250" y="3248025"/>
            <a:ext cx="47625" cy="12763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A6163E3-9161-4F44-86CD-EF204004B225}"/>
              </a:ext>
            </a:extLst>
          </p:cNvPr>
          <p:cNvSpPr>
            <a:spLocks xmlns:a="http://schemas.openxmlformats.org/drawingml/2006/main" noGrp="1"/>
          </p:cNvSpPr>
          <p:nvPr/>
        </p:nvSpPr>
        <p:spPr>
          <a:xfrm xmlns:a="http://schemas.openxmlformats.org/drawingml/2006/main">
            <a:off x="7477125" y="3390900"/>
            <a:ext cx="3638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1">
                <a:solidFill>
                  <a:srgbClr val="263445"/>
                </a:solidFill>
                <a:latin typeface="Lato"/>
                <a:ea typeface="Lato"/>
                <a:cs typeface="Lato"/>
              </a:defRPr>
            </a:defPPr>
          </a:lstStyle>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Suma con RNEA</a:t>
            </a:r>
          </a:p>
          <a:p xmlns:a="http://schemas.openxmlformats.org/drawingml/2006/main">
            <a:pPr algn="ctr">
              <a:defRPr sz="1875" b="1">
                <a:solidFill>
                  <a:srgbClr val="263445"/>
                </a:solidFill>
                <a:latin typeface="Lato"/>
                <a:ea typeface="Lato"/>
                <a:cs typeface="Lato"/>
              </a:defRPr>
            </a:pPr>
            <a:r>
              <a:rPr sz="1875" b="1">
                <a:solidFill>
                  <a:srgbClr val="263445"/>
                </a:solidFill>
                <a:latin typeface="Lato"/>
                <a:ea typeface="Lato"/>
                <a:cs typeface="Lato"/>
              </a:rPr>
              <a:t>Torque total</a:t>
            </a:r>
          </a:p>
        </p:txBody>
      </p:sp>
      <p:sp>
        <p:nvSpPr>
          <p:cNvPr id="19" name="">
            <a:extLst xmlns:a="http://schemas.openxmlformats.org/drawingml/2006/main">
              <a:ext uri="{FF2B5EF4-FFF2-40B4-BE49-F238E27FC236}">
                <a16:creationId xmlns:a16="http://schemas.microsoft.com/office/drawing/2014/main" id="{F5484274-0D5E-43D6-B545-2FBED20A00ED}"/>
              </a:ext>
            </a:extLst>
          </p:cNvPr>
          <p:cNvSpPr>
            <a:spLocks xmlns:a="http://schemas.openxmlformats.org/drawingml/2006/main" noGrp="1"/>
          </p:cNvSpPr>
          <p:nvPr/>
        </p:nvSpPr>
        <p:spPr>
          <a:xfrm xmlns:a="http://schemas.openxmlformats.org/drawingml/2006/main">
            <a:off x="762000" y="496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a:solidFill>
                  <a:srgbClr val="263445"/>
                </a:solidFill>
                <a:latin typeface="Lato"/>
                <a:ea typeface="Lato"/>
                <a:cs typeface="Lato"/>
              </a:defRPr>
            </a:defPPr>
          </a:lstStyle>
          <a:p xmlns:a="http://schemas.openxmlformats.org/drawingml/2006/main">
            <a:pPr algn="l">
              <a:defRPr sz="2325" b="0">
                <a:solidFill>
                  <a:srgbClr val="263445"/>
                </a:solidFill>
                <a:latin typeface="Lato"/>
                <a:ea typeface="Lato"/>
                <a:cs typeface="Lato"/>
              </a:defRPr>
            </a:pPr>
            <a:r>
              <a:rPr sz="2325" b="0">
                <a:solidFill>
                  <a:srgbClr val="263445"/>
                </a:solidFill>
                <a:latin typeface="Lato"/>
                <a:ea typeface="Lato"/>
                <a:cs typeface="Lato"/>
              </a:rPr>
              <a:t>La dinámica inversa usa la aceleración deseada q̈d.</a:t>
            </a:r>
          </a:p>
        </p:txBody>
      </p:sp>
      <p:sp>
        <p:nvSpPr>
          <p:cNvPr id="20" name="">
            <a:extLst xmlns:a="http://schemas.openxmlformats.org/drawingml/2006/main">
              <a:ext uri="{FF2B5EF4-FFF2-40B4-BE49-F238E27FC236}">
                <a16:creationId xmlns:a16="http://schemas.microsoft.com/office/drawing/2014/main" id="{F9077B91-2168-48CC-8815-1138CC70B438}"/>
              </a:ext>
            </a:extLst>
          </p:cNvPr>
          <p:cNvSpPr>
            <a:spLocks xmlns:a="http://schemas.openxmlformats.org/drawingml/2006/main" noGrp="1"/>
          </p:cNvSpPr>
          <p:nvPr/>
        </p:nvSpPr>
        <p:spPr>
          <a:xfrm xmlns:a="http://schemas.openxmlformats.org/drawingml/2006/main">
            <a:off x="762000" y="5629275"/>
            <a:ext cx="10668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El torque total del maestro se utiliza como objetivo de entrenamiento.</a:t>
            </a:r>
          </a:p>
        </p:txBody>
      </p:sp>
    </p:spTree>
    <p:extLst>
      <p:ext uri="{BB962C8B-B14F-4D97-AF65-F5344CB8AC3E}">
        <p14:creationId xmlns:p14="http://schemas.microsoft.com/office/powerpoint/2010/main" val="12512229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CBA86B-5CA3-4046-8B84-5E045E80C09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E8A612-2C34-4A61-B753-AE500D0B798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NEURONAL</a:t>
            </a:r>
          </a:p>
        </p:txBody>
      </p:sp>
      <p:sp>
        <p:nvSpPr>
          <p:cNvPr id="3" name="">
            <a:extLst xmlns:a="http://schemas.openxmlformats.org/drawingml/2006/main">
              <a:ext uri="{FF2B5EF4-FFF2-40B4-BE49-F238E27FC236}">
                <a16:creationId xmlns:a16="http://schemas.microsoft.com/office/drawing/2014/main" id="{3EC7A48A-8463-4075-A93D-7DD126ED5F01}"/>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Topología de la red implementada</a:t>
            </a:r>
          </a:p>
        </p:txBody>
      </p:sp>
      <p:sp>
        <p:nvSpPr>
          <p:cNvPr id="4" name="">
            <a:extLst xmlns:a="http://schemas.openxmlformats.org/drawingml/2006/main">
              <a:ext uri="{FF2B5EF4-FFF2-40B4-BE49-F238E27FC236}">
                <a16:creationId xmlns:a16="http://schemas.microsoft.com/office/drawing/2014/main" id="{7DB494EF-B5AD-46F1-871C-177F51A4BD5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3C734A4-CA5A-4CE9-9A03-0FAD00BF3B8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figura corregida y código de TT1 [1]</a:t>
            </a:r>
          </a:p>
        </p:txBody>
      </p:sp>
      <p:sp>
        <p:nvSpPr>
          <p:cNvPr id="6" name="">
            <a:extLst xmlns:a="http://schemas.openxmlformats.org/drawingml/2006/main">
              <a:ext uri="{FF2B5EF4-FFF2-40B4-BE49-F238E27FC236}">
                <a16:creationId xmlns:a16="http://schemas.microsoft.com/office/drawing/2014/main" id="{DEEEC4F8-56E9-4090-B1F1-7974CECD0A7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12</a:t>
            </a:r>
          </a:p>
        </p:txBody>
      </p:sp>
      <p:pic>
        <p:nvPicPr>
          <p:cNvPr id="7" name="">
            <a:extLst xmlns:a="http://schemas.openxmlformats.org/drawingml/2006/main">
              <a:ext uri="{FF2B5EF4-FFF2-40B4-BE49-F238E27FC236}">
                <a16:creationId xmlns:a16="http://schemas.microsoft.com/office/drawing/2014/main" id="{56E53686-0E5D-4714-85CE-CBDF833AD2AC}"/>
              </a:ext>
            </a:extLst>
          </p:cNvPr>
          <p:cNvPicPr>
            <a:picLocks xmlns:a="http://schemas.openxmlformats.org/drawingml/2006/main" noChangeAspect="1"/>
          </p:cNvPicPr>
          <p:nvPr/>
        </p:nvPicPr>
        <p:blipFill>
          <a:blip xmlns:r="http://schemas.openxmlformats.org/officeDocument/2006/relationships" xmlns:a="http://schemas.openxmlformats.org/drawingml/2006/main" r:embed="R8cb773c2496341f8"/>
          <a:srcRect xmlns:a="http://schemas.openxmlformats.org/drawingml/2006/main" l="0" t="0" r="0" b="57000"/>
          <a:stretch xmlns:a="http://schemas.openxmlformats.org/drawingml/2006/main"/>
        </p:blipFill>
        <p:spPr>
          <a:xfrm xmlns:a="http://schemas.openxmlformats.org/drawingml/2006/main">
            <a:off x="666750" y="1895475"/>
            <a:ext cx="10858500" cy="3667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4D4371F-6590-4117-B228-2DF2E566BDA5}"/>
              </a:ext>
            </a:extLst>
          </p:cNvPr>
          <p:cNvSpPr>
            <a:spLocks xmlns:a="http://schemas.openxmlformats.org/drawingml/2006/main" noGrp="1"/>
          </p:cNvSpPr>
          <p:nvPr/>
        </p:nvSpPr>
        <p:spPr>
          <a:xfrm xmlns:a="http://schemas.openxmlformats.org/drawingml/2006/main">
            <a:off x="857250" y="55435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700" b="1">
                <a:solidFill>
                  <a:srgbClr val="0F766E"/>
                </a:solidFill>
                <a:latin typeface="Lato"/>
                <a:ea typeface="Lato"/>
                <a:cs typeface="Lato"/>
              </a:defRPr>
            </a:defPPr>
          </a:lstStyle>
          <a:p xmlns:a="http://schemas.openxmlformats.org/drawingml/2006/main">
            <a:pPr algn="ctr">
              <a:defRPr sz="2700" b="1">
                <a:solidFill>
                  <a:srgbClr val="0F766E"/>
                </a:solidFill>
                <a:latin typeface="Lato"/>
                <a:ea typeface="Lato"/>
                <a:cs typeface="Lato"/>
              </a:defRPr>
            </a:pPr>
            <a:r>
              <a:rPr sz="2700" b="1">
                <a:solidFill>
                  <a:srgbClr val="0F766E"/>
                </a:solidFill>
                <a:latin typeface="Lato"/>
                <a:ea typeface="Lato"/>
                <a:cs typeface="Lato"/>
              </a:rPr>
              <a:t>42 → 256 → 512 → 256 → 128 → 6</a:t>
            </a:r>
          </a:p>
        </p:txBody>
      </p:sp>
    </p:spTree>
    <p:extLst>
      <p:ext uri="{BB962C8B-B14F-4D97-AF65-F5344CB8AC3E}">
        <p14:creationId xmlns:p14="http://schemas.microsoft.com/office/powerpoint/2010/main" val="15563709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56099CE-5312-4131-BCEF-173FED57AAD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7A6807-F7B4-44F9-89F0-302B24E8687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ADC50ECA-B69A-4DF0-ABC9-09804BA33FC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Arquitectura del predictor de torque total</a:t>
            </a:r>
          </a:p>
        </p:txBody>
      </p:sp>
      <p:sp>
        <p:nvSpPr>
          <p:cNvPr id="4" name="">
            <a:extLst xmlns:a="http://schemas.openxmlformats.org/drawingml/2006/main">
              <a:ext uri="{FF2B5EF4-FFF2-40B4-BE49-F238E27FC236}">
                <a16:creationId xmlns:a16="http://schemas.microsoft.com/office/drawing/2014/main" id="{5EBD1108-43DA-41D7-BC60-137A88BB64C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7DE46A1-E6C0-4051-88D5-7F73EB3AC1A2}"/>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arquitectura funcional corregida de TT1 [1]</a:t>
            </a:r>
          </a:p>
        </p:txBody>
      </p:sp>
      <p:sp>
        <p:nvSpPr>
          <p:cNvPr id="6" name="">
            <a:extLst xmlns:a="http://schemas.openxmlformats.org/drawingml/2006/main">
              <a:ext uri="{FF2B5EF4-FFF2-40B4-BE49-F238E27FC236}">
                <a16:creationId xmlns:a16="http://schemas.microsoft.com/office/drawing/2014/main" id="{28677E7F-0C97-40F1-8CEC-2B7D3E2432C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13</a:t>
            </a:r>
          </a:p>
        </p:txBody>
      </p:sp>
      <p:sp>
        <p:nvSpPr>
          <p:cNvPr id="7" name="">
            <a:extLst xmlns:a="http://schemas.openxmlformats.org/drawingml/2006/main">
              <a:ext uri="{FF2B5EF4-FFF2-40B4-BE49-F238E27FC236}">
                <a16:creationId xmlns:a16="http://schemas.microsoft.com/office/drawing/2014/main" id="{1710AF43-B335-4E6D-9456-D0B50AEC8627}"/>
              </a:ext>
            </a:extLst>
          </p:cNvPr>
          <p:cNvSpPr>
            <a:spLocks xmlns:a="http://schemas.openxmlformats.org/drawingml/2006/main" noGrp="1"/>
          </p:cNvSpPr>
          <p:nvPr/>
        </p:nvSpPr>
        <p:spPr>
          <a:xfrm xmlns:a="http://schemas.openxmlformats.org/drawingml/2006/main">
            <a:off x="619125" y="1819275"/>
            <a:ext cx="3048000" cy="8572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1C474031-1D34-4A95-BABC-D79298056233}"/>
              </a:ext>
            </a:extLst>
          </p:cNvPr>
          <p:cNvSpPr>
            <a:spLocks xmlns:a="http://schemas.openxmlformats.org/drawingml/2006/main" noGrp="1"/>
          </p:cNvSpPr>
          <p:nvPr/>
        </p:nvSpPr>
        <p:spPr>
          <a:xfrm xmlns:a="http://schemas.openxmlformats.org/drawingml/2006/main">
            <a:off x="619125" y="1819275"/>
            <a:ext cx="47625" cy="8572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A835A62-90EA-4492-8198-2709469ABBFB}"/>
              </a:ext>
            </a:extLst>
          </p:cNvPr>
          <p:cNvSpPr>
            <a:spLocks xmlns:a="http://schemas.openxmlformats.org/drawingml/2006/main" noGrp="1"/>
          </p:cNvSpPr>
          <p:nvPr/>
        </p:nvSpPr>
        <p:spPr>
          <a:xfrm xmlns:a="http://schemas.openxmlformats.org/drawingml/2006/main">
            <a:off x="762000" y="1962150"/>
            <a:ext cx="2781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RNEA</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Característica dinámica</a:t>
            </a:r>
          </a:p>
        </p:txBody>
      </p:sp>
      <p:sp>
        <p:nvSpPr>
          <p:cNvPr id="10" name="">
            <a:extLst xmlns:a="http://schemas.openxmlformats.org/drawingml/2006/main">
              <a:ext uri="{FF2B5EF4-FFF2-40B4-BE49-F238E27FC236}">
                <a16:creationId xmlns:a16="http://schemas.microsoft.com/office/drawing/2014/main" id="{2859FA2E-4637-48FE-A28B-24EAB0017BAC}"/>
              </a:ext>
            </a:extLst>
          </p:cNvPr>
          <p:cNvSpPr>
            <a:spLocks xmlns:a="http://schemas.openxmlformats.org/drawingml/2006/main" noGrp="1"/>
          </p:cNvSpPr>
          <p:nvPr/>
        </p:nvSpPr>
        <p:spPr>
          <a:xfrm xmlns:a="http://schemas.openxmlformats.org/drawingml/2006/main">
            <a:off x="1619250" y="2676525"/>
            <a:ext cx="57150" cy="3810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2A05FC4-525F-46F9-BBC8-178BFD5F86B8}"/>
              </a:ext>
            </a:extLst>
          </p:cNvPr>
          <p:cNvSpPr>
            <a:spLocks xmlns:a="http://schemas.openxmlformats.org/drawingml/2006/main" noGrp="1"/>
          </p:cNvSpPr>
          <p:nvPr/>
        </p:nvSpPr>
        <p:spPr>
          <a:xfrm xmlns:a="http://schemas.openxmlformats.org/drawingml/2006/main">
            <a:off x="1552575" y="2971800"/>
            <a:ext cx="209550" cy="266700"/>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9B0F6E1-F449-4935-9094-73258AB307E7}"/>
              </a:ext>
            </a:extLst>
          </p:cNvPr>
          <p:cNvSpPr>
            <a:spLocks xmlns:a="http://schemas.openxmlformats.org/drawingml/2006/main" noGrp="1"/>
          </p:cNvSpPr>
          <p:nvPr/>
        </p:nvSpPr>
        <p:spPr>
          <a:xfrm xmlns:a="http://schemas.openxmlformats.org/drawingml/2006/main">
            <a:off x="6191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D420CAD0-1597-48CC-A1FC-83B48F70304F}"/>
              </a:ext>
            </a:extLst>
          </p:cNvPr>
          <p:cNvSpPr>
            <a:spLocks xmlns:a="http://schemas.openxmlformats.org/drawingml/2006/main" noGrp="1"/>
          </p:cNvSpPr>
          <p:nvPr/>
        </p:nvSpPr>
        <p:spPr>
          <a:xfrm xmlns:a="http://schemas.openxmlformats.org/drawingml/2006/main">
            <a:off x="6191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3CD7E4F-7CD0-40C3-82AD-8A147B6B6965}"/>
              </a:ext>
            </a:extLst>
          </p:cNvPr>
          <p:cNvSpPr>
            <a:spLocks xmlns:a="http://schemas.openxmlformats.org/drawingml/2006/main" noGrp="1"/>
          </p:cNvSpPr>
          <p:nvPr/>
        </p:nvSpPr>
        <p:spPr>
          <a:xfrm xmlns:a="http://schemas.openxmlformats.org/drawingml/2006/main">
            <a:off x="7620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42 entradas</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Normalización</a:t>
            </a:r>
          </a:p>
        </p:txBody>
      </p:sp>
      <p:sp>
        <p:nvSpPr>
          <p:cNvPr id="15" name="">
            <a:extLst xmlns:a="http://schemas.openxmlformats.org/drawingml/2006/main">
              <a:ext uri="{FF2B5EF4-FFF2-40B4-BE49-F238E27FC236}">
                <a16:creationId xmlns:a16="http://schemas.microsoft.com/office/drawing/2014/main" id="{A0428C4C-CE4E-41EE-BF8C-19DAE9740937}"/>
              </a:ext>
            </a:extLst>
          </p:cNvPr>
          <p:cNvSpPr>
            <a:spLocks xmlns:a="http://schemas.openxmlformats.org/drawingml/2006/main" noGrp="1"/>
          </p:cNvSpPr>
          <p:nvPr/>
        </p:nvSpPr>
        <p:spPr>
          <a:xfrm xmlns:a="http://schemas.openxmlformats.org/drawingml/2006/main">
            <a:off x="270510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6EAD645-3FAC-417C-A0A7-84F3DBF425E3}"/>
              </a:ext>
            </a:extLst>
          </p:cNvPr>
          <p:cNvSpPr>
            <a:spLocks xmlns:a="http://schemas.openxmlformats.org/drawingml/2006/main" noGrp="1"/>
          </p:cNvSpPr>
          <p:nvPr/>
        </p:nvSpPr>
        <p:spPr>
          <a:xfrm xmlns:a="http://schemas.openxmlformats.org/drawingml/2006/main">
            <a:off x="289560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35297C8F-9D13-4931-9295-DADC4F2FA958}"/>
              </a:ext>
            </a:extLst>
          </p:cNvPr>
          <p:cNvSpPr>
            <a:spLocks xmlns:a="http://schemas.openxmlformats.org/drawingml/2006/main" noGrp="1"/>
          </p:cNvSpPr>
          <p:nvPr/>
        </p:nvSpPr>
        <p:spPr>
          <a:xfrm xmlns:a="http://schemas.openxmlformats.org/drawingml/2006/main">
            <a:off x="2895600" y="3295650"/>
            <a:ext cx="47625" cy="1171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B03D514-9041-4CBF-BF4C-7D369FB94D02}"/>
              </a:ext>
            </a:extLst>
          </p:cNvPr>
          <p:cNvSpPr>
            <a:spLocks xmlns:a="http://schemas.openxmlformats.org/drawingml/2006/main" noGrp="1"/>
          </p:cNvSpPr>
          <p:nvPr/>
        </p:nvSpPr>
        <p:spPr>
          <a:xfrm xmlns:a="http://schemas.openxmlformats.org/drawingml/2006/main">
            <a:off x="303847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MLP</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FP32 / INT8</a:t>
            </a:r>
          </a:p>
        </p:txBody>
      </p:sp>
      <p:sp>
        <p:nvSpPr>
          <p:cNvPr id="19" name="">
            <a:extLst xmlns:a="http://schemas.openxmlformats.org/drawingml/2006/main">
              <a:ext uri="{FF2B5EF4-FFF2-40B4-BE49-F238E27FC236}">
                <a16:creationId xmlns:a16="http://schemas.microsoft.com/office/drawing/2014/main" id="{BE0A3CED-D294-4DE8-8B41-8E043187475E}"/>
              </a:ext>
            </a:extLst>
          </p:cNvPr>
          <p:cNvSpPr>
            <a:spLocks xmlns:a="http://schemas.openxmlformats.org/drawingml/2006/main" noGrp="1"/>
          </p:cNvSpPr>
          <p:nvPr/>
        </p:nvSpPr>
        <p:spPr>
          <a:xfrm xmlns:a="http://schemas.openxmlformats.org/drawingml/2006/main">
            <a:off x="498157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A4D0022-1D43-4553-BCF2-0AB073B711CA}"/>
              </a:ext>
            </a:extLst>
          </p:cNvPr>
          <p:cNvSpPr>
            <a:spLocks xmlns:a="http://schemas.openxmlformats.org/drawingml/2006/main" noGrp="1"/>
          </p:cNvSpPr>
          <p:nvPr/>
        </p:nvSpPr>
        <p:spPr>
          <a:xfrm xmlns:a="http://schemas.openxmlformats.org/drawingml/2006/main">
            <a:off x="517207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1" name="">
            <a:extLst xmlns:a="http://schemas.openxmlformats.org/drawingml/2006/main">
              <a:ext uri="{FF2B5EF4-FFF2-40B4-BE49-F238E27FC236}">
                <a16:creationId xmlns:a16="http://schemas.microsoft.com/office/drawing/2014/main" id="{33F456D6-5154-4B0E-99A6-07B8F0BE7984}"/>
              </a:ext>
            </a:extLst>
          </p:cNvPr>
          <p:cNvSpPr>
            <a:spLocks xmlns:a="http://schemas.openxmlformats.org/drawingml/2006/main" noGrp="1"/>
          </p:cNvSpPr>
          <p:nvPr/>
        </p:nvSpPr>
        <p:spPr>
          <a:xfrm xmlns:a="http://schemas.openxmlformats.org/drawingml/2006/main">
            <a:off x="517207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F23FABC-3E10-476D-A8D8-2E567E936ED2}"/>
              </a:ext>
            </a:extLst>
          </p:cNvPr>
          <p:cNvSpPr>
            <a:spLocks xmlns:a="http://schemas.openxmlformats.org/drawingml/2006/main" noGrp="1"/>
          </p:cNvSpPr>
          <p:nvPr/>
        </p:nvSpPr>
        <p:spPr>
          <a:xfrm xmlns:a="http://schemas.openxmlformats.org/drawingml/2006/main">
            <a:off x="531495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Escala de salida</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Torque total</a:t>
            </a:r>
          </a:p>
        </p:txBody>
      </p:sp>
      <p:sp>
        <p:nvSpPr>
          <p:cNvPr id="23" name="">
            <a:extLst xmlns:a="http://schemas.openxmlformats.org/drawingml/2006/main">
              <a:ext uri="{FF2B5EF4-FFF2-40B4-BE49-F238E27FC236}">
                <a16:creationId xmlns:a16="http://schemas.microsoft.com/office/drawing/2014/main" id="{B2C56C2A-D408-40D2-BD80-0FABA588561F}"/>
              </a:ext>
            </a:extLst>
          </p:cNvPr>
          <p:cNvSpPr>
            <a:spLocks xmlns:a="http://schemas.openxmlformats.org/drawingml/2006/main" noGrp="1"/>
          </p:cNvSpPr>
          <p:nvPr/>
        </p:nvSpPr>
        <p:spPr>
          <a:xfrm xmlns:a="http://schemas.openxmlformats.org/drawingml/2006/main">
            <a:off x="725805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8E994A0-E048-49B3-BB7D-D0F9B842346E}"/>
              </a:ext>
            </a:extLst>
          </p:cNvPr>
          <p:cNvSpPr>
            <a:spLocks xmlns:a="http://schemas.openxmlformats.org/drawingml/2006/main" noGrp="1"/>
          </p:cNvSpPr>
          <p:nvPr/>
        </p:nvSpPr>
        <p:spPr>
          <a:xfrm xmlns:a="http://schemas.openxmlformats.org/drawingml/2006/main">
            <a:off x="744855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5" name="">
            <a:extLst xmlns:a="http://schemas.openxmlformats.org/drawingml/2006/main">
              <a:ext uri="{FF2B5EF4-FFF2-40B4-BE49-F238E27FC236}">
                <a16:creationId xmlns:a16="http://schemas.microsoft.com/office/drawing/2014/main" id="{1E148005-F324-4E23-AF20-FB4DE2B4E44C}"/>
              </a:ext>
            </a:extLst>
          </p:cNvPr>
          <p:cNvSpPr>
            <a:spLocks xmlns:a="http://schemas.openxmlformats.org/drawingml/2006/main" noGrp="1"/>
          </p:cNvSpPr>
          <p:nvPr/>
        </p:nvSpPr>
        <p:spPr>
          <a:xfrm xmlns:a="http://schemas.openxmlformats.org/drawingml/2006/main">
            <a:off x="7448550" y="3295650"/>
            <a:ext cx="47625" cy="11715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E72DD88-17DA-41C1-B83B-733DA5A4BD5E}"/>
              </a:ext>
            </a:extLst>
          </p:cNvPr>
          <p:cNvSpPr>
            <a:spLocks xmlns:a="http://schemas.openxmlformats.org/drawingml/2006/main" noGrp="1"/>
          </p:cNvSpPr>
          <p:nvPr/>
        </p:nvSpPr>
        <p:spPr>
          <a:xfrm xmlns:a="http://schemas.openxmlformats.org/drawingml/2006/main">
            <a:off x="759142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Saturación</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provisional</a:t>
            </a:r>
          </a:p>
        </p:txBody>
      </p:sp>
      <p:sp>
        <p:nvSpPr>
          <p:cNvPr id="27" name="">
            <a:extLst xmlns:a="http://schemas.openxmlformats.org/drawingml/2006/main">
              <a:ext uri="{FF2B5EF4-FFF2-40B4-BE49-F238E27FC236}">
                <a16:creationId xmlns:a16="http://schemas.microsoft.com/office/drawing/2014/main" id="{0BFFAE0E-790C-4E3E-92E6-9E363C123971}"/>
              </a:ext>
            </a:extLst>
          </p:cNvPr>
          <p:cNvSpPr>
            <a:spLocks xmlns:a="http://schemas.openxmlformats.org/drawingml/2006/main" noGrp="1"/>
          </p:cNvSpPr>
          <p:nvPr/>
        </p:nvSpPr>
        <p:spPr>
          <a:xfrm xmlns:a="http://schemas.openxmlformats.org/drawingml/2006/main">
            <a:off x="953452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73E7B91-9CF2-4255-B4D1-7C1C49E0E164}"/>
              </a:ext>
            </a:extLst>
          </p:cNvPr>
          <p:cNvSpPr>
            <a:spLocks xmlns:a="http://schemas.openxmlformats.org/drawingml/2006/main" noGrp="1"/>
          </p:cNvSpPr>
          <p:nvPr/>
        </p:nvSpPr>
        <p:spPr>
          <a:xfrm xmlns:a="http://schemas.openxmlformats.org/drawingml/2006/main">
            <a:off x="97250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9" name="">
            <a:extLst xmlns:a="http://schemas.openxmlformats.org/drawingml/2006/main">
              <a:ext uri="{FF2B5EF4-FFF2-40B4-BE49-F238E27FC236}">
                <a16:creationId xmlns:a16="http://schemas.microsoft.com/office/drawing/2014/main" id="{9AE1EA0B-78DF-4FF7-B763-22B91E15D8BC}"/>
              </a:ext>
            </a:extLst>
          </p:cNvPr>
          <p:cNvSpPr>
            <a:spLocks xmlns:a="http://schemas.openxmlformats.org/drawingml/2006/main" noGrp="1"/>
          </p:cNvSpPr>
          <p:nvPr/>
        </p:nvSpPr>
        <p:spPr>
          <a:xfrm xmlns:a="http://schemas.openxmlformats.org/drawingml/2006/main">
            <a:off x="97250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367C12B-070E-4D9C-B703-6FCABE71098A}"/>
              </a:ext>
            </a:extLst>
          </p:cNvPr>
          <p:cNvSpPr>
            <a:spLocks xmlns:a="http://schemas.openxmlformats.org/drawingml/2006/main" noGrp="1"/>
          </p:cNvSpPr>
          <p:nvPr/>
        </p:nvSpPr>
        <p:spPr>
          <a:xfrm xmlns:a="http://schemas.openxmlformats.org/drawingml/2006/main">
            <a:off x="98679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UR3e</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virtual</a:t>
            </a:r>
          </a:p>
        </p:txBody>
      </p:sp>
      <p:sp>
        <p:nvSpPr>
          <p:cNvPr id="31" name="">
            <a:extLst xmlns:a="http://schemas.openxmlformats.org/drawingml/2006/main">
              <a:ext uri="{FF2B5EF4-FFF2-40B4-BE49-F238E27FC236}">
                <a16:creationId xmlns:a16="http://schemas.microsoft.com/office/drawing/2014/main" id="{77314CC1-5995-4B32-9B72-4D0C98A74FAA}"/>
              </a:ext>
            </a:extLst>
          </p:cNvPr>
          <p:cNvSpPr>
            <a:spLocks xmlns:a="http://schemas.openxmlformats.org/drawingml/2006/main" noGrp="1"/>
          </p:cNvSpPr>
          <p:nvPr/>
        </p:nvSpPr>
        <p:spPr>
          <a:xfrm xmlns:a="http://schemas.openxmlformats.org/drawingml/2006/main">
            <a:off x="666750" y="4838700"/>
            <a:ext cx="10858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a:solidFill>
                  <a:srgbClr val="263445"/>
                </a:solidFill>
                <a:latin typeface="Lato"/>
                <a:ea typeface="Lato"/>
                <a:cs typeface="Lato"/>
              </a:defRPr>
            </a:defPPr>
          </a:lstStyle>
          <a:p xmlns:a="http://schemas.openxmlformats.org/drawingml/2006/main">
            <a:pPr algn="l">
              <a:defRPr sz="2325" b="0">
                <a:solidFill>
                  <a:srgbClr val="263445"/>
                </a:solidFill>
                <a:latin typeface="Lato"/>
                <a:ea typeface="Lato"/>
                <a:cs typeface="Lato"/>
              </a:defRPr>
            </a:pPr>
            <a:r>
              <a:rPr sz="2325" b="0">
                <a:solidFill>
                  <a:srgbClr val="263445"/>
                </a:solidFill>
                <a:latin typeface="Lato"/>
                <a:ea typeface="Lato"/>
                <a:cs typeface="Lato"/>
              </a:rPr>
              <a:t>Referencias y estado articular → entradas de la red</a:t>
            </a:r>
          </a:p>
        </p:txBody>
      </p:sp>
      <p:sp>
        <p:nvSpPr>
          <p:cNvPr id="32" name="">
            <a:extLst xmlns:a="http://schemas.openxmlformats.org/drawingml/2006/main">
              <a:ext uri="{FF2B5EF4-FFF2-40B4-BE49-F238E27FC236}">
                <a16:creationId xmlns:a16="http://schemas.microsoft.com/office/drawing/2014/main" id="{0FFA58ED-26FC-4DD6-A134-1C7E1B240B3C}"/>
              </a:ext>
            </a:extLst>
          </p:cNvPr>
          <p:cNvSpPr>
            <a:spLocks xmlns:a="http://schemas.openxmlformats.org/drawingml/2006/main" noGrp="1"/>
          </p:cNvSpPr>
          <p:nvPr/>
        </p:nvSpPr>
        <p:spPr>
          <a:xfrm xmlns:a="http://schemas.openxmlformats.org/drawingml/2006/main">
            <a:off x="666750" y="5429250"/>
            <a:ext cx="10858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Control nominal: 500 Hz    ·    Referencias/datos: 100 Hz</a:t>
            </a:r>
          </a:p>
        </p:txBody>
      </p:sp>
      <p:sp>
        <p:nvSpPr>
          <p:cNvPr id="33" name="">
            <a:extLst xmlns:a="http://schemas.openxmlformats.org/drawingml/2006/main">
              <a:ext uri="{FF2B5EF4-FFF2-40B4-BE49-F238E27FC236}">
                <a16:creationId xmlns:a16="http://schemas.microsoft.com/office/drawing/2014/main" id="{72467BF6-F324-4DF5-965E-ADA1F2953CC6}"/>
              </a:ext>
            </a:extLst>
          </p:cNvPr>
          <p:cNvSpPr>
            <a:spLocks xmlns:a="http://schemas.openxmlformats.org/drawingml/2006/main" noGrp="1"/>
          </p:cNvSpPr>
          <p:nvPr/>
        </p:nvSpPr>
        <p:spPr>
          <a:xfrm xmlns:a="http://schemas.openxmlformats.org/drawingml/2006/main">
            <a:off x="666750" y="5943600"/>
            <a:ext cx="1085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526173"/>
                </a:solidFill>
                <a:latin typeface="Lato"/>
                <a:ea typeface="Lato"/>
                <a:cs typeface="Lato"/>
              </a:defRPr>
            </a:defPPr>
          </a:lstStyle>
          <a:p xmlns:a="http://schemas.openxmlformats.org/drawingml/2006/main">
            <a:pPr algn="l">
              <a:defRPr sz="1650" b="0">
                <a:solidFill>
                  <a:srgbClr val="526173"/>
                </a:solidFill>
                <a:latin typeface="Lato"/>
                <a:ea typeface="Lato"/>
                <a:cs typeface="Lato"/>
              </a:defRPr>
            </a:pPr>
            <a:r>
              <a:rPr sz="1650" b="0">
                <a:solidFill>
                  <a:srgbClr val="526173"/>
                </a:solidFill>
                <a:latin typeface="Lato"/>
                <a:ea typeface="Lato"/>
                <a:cs typeface="Lato"/>
              </a:rPr>
              <a:t>Límite uniforme ±55 N·m, provisional en simulación.</a:t>
            </a:r>
          </a:p>
        </p:txBody>
      </p:sp>
    </p:spTree>
    <p:extLst>
      <p:ext uri="{BB962C8B-B14F-4D97-AF65-F5344CB8AC3E}">
        <p14:creationId xmlns:p14="http://schemas.microsoft.com/office/powerpoint/2010/main" val="15498523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E413E98-572E-43DB-976D-4066C32AF5B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74D154-A157-4159-98EE-B1E43BA7F49B}"/>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ENTRENAMIENTO Y DESPLIEGUE</a:t>
            </a:r>
          </a:p>
        </p:txBody>
      </p:sp>
      <p:sp>
        <p:nvSpPr>
          <p:cNvPr id="3" name="">
            <a:extLst xmlns:a="http://schemas.openxmlformats.org/drawingml/2006/main">
              <a:ext uri="{FF2B5EF4-FFF2-40B4-BE49-F238E27FC236}">
                <a16:creationId xmlns:a16="http://schemas.microsoft.com/office/drawing/2014/main" id="{B6688038-A6DA-4B61-A0BB-3E2E489D694E}"/>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Datos y tratamiento de la aceleración</a:t>
            </a:r>
          </a:p>
        </p:txBody>
      </p:sp>
      <p:sp>
        <p:nvSpPr>
          <p:cNvPr id="4" name="">
            <a:extLst xmlns:a="http://schemas.openxmlformats.org/drawingml/2006/main">
              <a:ext uri="{FF2B5EF4-FFF2-40B4-BE49-F238E27FC236}">
                <a16:creationId xmlns:a16="http://schemas.microsoft.com/office/drawing/2014/main" id="{3F6F70DF-53B3-4BD4-A0AF-C715304B4CD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927BE11-1184-46F3-90EB-00A690AFCFB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pipeline y limitaciones de TT1 [1]</a:t>
            </a:r>
          </a:p>
        </p:txBody>
      </p:sp>
      <p:sp>
        <p:nvSpPr>
          <p:cNvPr id="6" name="">
            <a:extLst xmlns:a="http://schemas.openxmlformats.org/drawingml/2006/main">
              <a:ext uri="{FF2B5EF4-FFF2-40B4-BE49-F238E27FC236}">
                <a16:creationId xmlns:a16="http://schemas.microsoft.com/office/drawing/2014/main" id="{A94274D6-1DDD-4DC4-A0A6-2E5C302743D0}"/>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14</a:t>
            </a:r>
          </a:p>
        </p:txBody>
      </p:sp>
      <p:sp>
        <p:nvSpPr>
          <p:cNvPr id="7" name="">
            <a:extLst xmlns:a="http://schemas.openxmlformats.org/drawingml/2006/main">
              <a:ext uri="{FF2B5EF4-FFF2-40B4-BE49-F238E27FC236}">
                <a16:creationId xmlns:a16="http://schemas.microsoft.com/office/drawing/2014/main" id="{F63D489F-3CEA-490D-89B2-831CE45552BE}"/>
              </a:ext>
            </a:extLst>
          </p:cNvPr>
          <p:cNvSpPr>
            <a:spLocks xmlns:a="http://schemas.openxmlformats.org/drawingml/2006/main" noGrp="1"/>
          </p:cNvSpPr>
          <p:nvPr/>
        </p:nvSpPr>
        <p:spPr>
          <a:xfrm xmlns:a="http://schemas.openxmlformats.org/drawingml/2006/main">
            <a:off x="762000" y="198120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0F766E"/>
                </a:solidFill>
                <a:latin typeface="Lato"/>
                <a:ea typeface="Lato"/>
                <a:cs typeface="Lato"/>
              </a:defRPr>
            </a:defPPr>
          </a:lstStyle>
          <a:p xmlns:a="http://schemas.openxmlformats.org/drawingml/2006/main">
            <a:pPr algn="l">
              <a:defRPr sz="2550" b="1">
                <a:solidFill>
                  <a:srgbClr val="0F766E"/>
                </a:solidFill>
                <a:latin typeface="Lato"/>
                <a:ea typeface="Lato"/>
                <a:cs typeface="Lato"/>
              </a:defRPr>
            </a:pPr>
            <a:r>
              <a:rPr sz="2550" b="1">
                <a:solidFill>
                  <a:srgbClr val="0F766E"/>
                </a:solidFill>
                <a:latin typeface="Lato"/>
                <a:ea typeface="Lato"/>
                <a:cs typeface="Lato"/>
              </a:rPr>
              <a:t>42 entradas + 6 objetivos de torque</a:t>
            </a:r>
          </a:p>
        </p:txBody>
      </p:sp>
      <p:sp>
        <p:nvSpPr>
          <p:cNvPr id="8" name="">
            <a:extLst xmlns:a="http://schemas.openxmlformats.org/drawingml/2006/main">
              <a:ext uri="{FF2B5EF4-FFF2-40B4-BE49-F238E27FC236}">
                <a16:creationId xmlns:a16="http://schemas.microsoft.com/office/drawing/2014/main" id="{0C189464-170C-4E0E-991F-B4C0E67F795D}"/>
              </a:ext>
            </a:extLst>
          </p:cNvPr>
          <p:cNvSpPr>
            <a:spLocks xmlns:a="http://schemas.openxmlformats.org/drawingml/2006/main" noGrp="1"/>
          </p:cNvSpPr>
          <p:nvPr/>
        </p:nvSpPr>
        <p:spPr>
          <a:xfrm xmlns:a="http://schemas.openxmlformats.org/drawingml/2006/main">
            <a:off x="762000" y="2895600"/>
            <a:ext cx="4857750" cy="12668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E3E0F4D8-8DD6-4EFE-AA35-4541E0EE94FE}"/>
              </a:ext>
            </a:extLst>
          </p:cNvPr>
          <p:cNvSpPr>
            <a:spLocks xmlns:a="http://schemas.openxmlformats.org/drawingml/2006/main" noGrp="1"/>
          </p:cNvSpPr>
          <p:nvPr/>
        </p:nvSpPr>
        <p:spPr>
          <a:xfrm xmlns:a="http://schemas.openxmlformats.org/drawingml/2006/main">
            <a:off x="762000" y="2895600"/>
            <a:ext cx="47625" cy="126682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E891E49-59F2-46CD-88DF-4CA6C6A68803}"/>
              </a:ext>
            </a:extLst>
          </p:cNvPr>
          <p:cNvSpPr>
            <a:spLocks xmlns:a="http://schemas.openxmlformats.org/drawingml/2006/main" noGrp="1"/>
          </p:cNvSpPr>
          <p:nvPr/>
        </p:nvSpPr>
        <p:spPr>
          <a:xfrm xmlns:a="http://schemas.openxmlformats.org/drawingml/2006/main">
            <a:off x="904875" y="3038475"/>
            <a:ext cx="45910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Entrenamiento</a:t>
            </a:r>
          </a:p>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Aceleración actual filtrada</a:t>
            </a:r>
          </a:p>
        </p:txBody>
      </p:sp>
      <p:sp>
        <p:nvSpPr>
          <p:cNvPr id="11" name="">
            <a:extLst xmlns:a="http://schemas.openxmlformats.org/drawingml/2006/main">
              <a:ext uri="{FF2B5EF4-FFF2-40B4-BE49-F238E27FC236}">
                <a16:creationId xmlns:a16="http://schemas.microsoft.com/office/drawing/2014/main" id="{367E3A77-2D7F-4720-900B-94DE6B0C3855}"/>
              </a:ext>
            </a:extLst>
          </p:cNvPr>
          <p:cNvSpPr>
            <a:spLocks xmlns:a="http://schemas.openxmlformats.org/drawingml/2006/main" noGrp="1"/>
          </p:cNvSpPr>
          <p:nvPr/>
        </p:nvSpPr>
        <p:spPr>
          <a:xfrm xmlns:a="http://schemas.openxmlformats.org/drawingml/2006/main">
            <a:off x="6286500" y="2895600"/>
            <a:ext cx="5048250" cy="12668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893D7A5F-19A7-4136-A11C-8D2964C52434}"/>
              </a:ext>
            </a:extLst>
          </p:cNvPr>
          <p:cNvSpPr>
            <a:spLocks xmlns:a="http://schemas.openxmlformats.org/drawingml/2006/main" noGrp="1"/>
          </p:cNvSpPr>
          <p:nvPr/>
        </p:nvSpPr>
        <p:spPr>
          <a:xfrm xmlns:a="http://schemas.openxmlformats.org/drawingml/2006/main">
            <a:off x="6286500" y="2895600"/>
            <a:ext cx="47625" cy="126682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2909464-4EBF-4290-937C-E379F71283FC}"/>
              </a:ext>
            </a:extLst>
          </p:cNvPr>
          <p:cNvSpPr>
            <a:spLocks xmlns:a="http://schemas.openxmlformats.org/drawingml/2006/main" noGrp="1"/>
          </p:cNvSpPr>
          <p:nvPr/>
        </p:nvSpPr>
        <p:spPr>
          <a:xfrm xmlns:a="http://schemas.openxmlformats.org/drawingml/2006/main">
            <a:off x="6429375" y="3038475"/>
            <a:ext cx="47815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Despliegue</a:t>
            </a:r>
          </a:p>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Aceleración actual fijada a cero</a:t>
            </a:r>
          </a:p>
        </p:txBody>
      </p:sp>
      <p:sp>
        <p:nvSpPr>
          <p:cNvPr id="14" name="">
            <a:extLst xmlns:a="http://schemas.openxmlformats.org/drawingml/2006/main">
              <a:ext uri="{FF2B5EF4-FFF2-40B4-BE49-F238E27FC236}">
                <a16:creationId xmlns:a16="http://schemas.microsoft.com/office/drawing/2014/main" id="{E9A9BF3C-EECD-45D6-9EA7-405DA1F805E2}"/>
              </a:ext>
            </a:extLst>
          </p:cNvPr>
          <p:cNvSpPr>
            <a:spLocks xmlns:a="http://schemas.openxmlformats.org/drawingml/2006/main" noGrp="1"/>
          </p:cNvSpPr>
          <p:nvPr/>
        </p:nvSpPr>
        <p:spPr>
          <a:xfrm xmlns:a="http://schemas.openxmlformats.org/drawingml/2006/main">
            <a:off x="762000" y="468630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a:solidFill>
                  <a:srgbClr val="263445"/>
                </a:solidFill>
                <a:latin typeface="Lato"/>
                <a:ea typeface="Lato"/>
                <a:cs typeface="Lato"/>
              </a:defRPr>
            </a:defPPr>
          </a:lstStyle>
          <a:p xmlns:a="http://schemas.openxmlformats.org/drawingml/2006/main">
            <a:pPr algn="l">
              <a:defRPr sz="2325" b="0">
                <a:solidFill>
                  <a:srgbClr val="263445"/>
                </a:solidFill>
                <a:latin typeface="Lato"/>
                <a:ea typeface="Lato"/>
                <a:cs typeface="Lato"/>
              </a:defRPr>
            </a:pPr>
            <a:r>
              <a:rPr sz="2325" b="0">
                <a:solidFill>
                  <a:srgbClr val="263445"/>
                </a:solidFill>
                <a:latin typeface="Lato"/>
                <a:ea typeface="Lato"/>
                <a:cs typeface="Lato"/>
              </a:rPr>
              <a:t>Esta diferencia entre entradas se reconoce como una limitación.</a:t>
            </a:r>
          </a:p>
        </p:txBody>
      </p:sp>
      <p:sp>
        <p:nvSpPr>
          <p:cNvPr id="15" name="">
            <a:extLst xmlns:a="http://schemas.openxmlformats.org/drawingml/2006/main">
              <a:ext uri="{FF2B5EF4-FFF2-40B4-BE49-F238E27FC236}">
                <a16:creationId xmlns:a16="http://schemas.microsoft.com/office/drawing/2014/main" id="{BEF55FAB-5D88-41F5-8386-2611E356947C}"/>
              </a:ext>
            </a:extLst>
          </p:cNvPr>
          <p:cNvSpPr>
            <a:spLocks xmlns:a="http://schemas.openxmlformats.org/drawingml/2006/main" noGrp="1"/>
          </p:cNvSpPr>
          <p:nvPr/>
        </p:nvSpPr>
        <p:spPr>
          <a:xfrm xmlns:a="http://schemas.openxmlformats.org/drawingml/2006/main">
            <a:off x="762000" y="56007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526173"/>
                </a:solidFill>
                <a:latin typeface="Lato"/>
                <a:ea typeface="Lato"/>
                <a:cs typeface="Lato"/>
              </a:defRPr>
            </a:defPPr>
          </a:lstStyle>
          <a:p xmlns:a="http://schemas.openxmlformats.org/drawingml/2006/main">
            <a:pPr algn="l">
              <a:defRPr sz="2100" b="0">
                <a:solidFill>
                  <a:srgbClr val="526173"/>
                </a:solidFill>
                <a:latin typeface="Lato"/>
                <a:ea typeface="Lato"/>
                <a:cs typeface="Lato"/>
              </a:defRPr>
            </a:pPr>
            <a:r>
              <a:rPr sz="2100" b="0">
                <a:solidFill>
                  <a:srgbClr val="526173"/>
                </a:solidFill>
                <a:latin typeface="Lato"/>
                <a:ea typeface="Lato"/>
                <a:cs typeface="Lato"/>
              </a:rPr>
              <a:t>Su efecto en el seguimiento requiere ensayos controlados.</a:t>
            </a:r>
          </a:p>
        </p:txBody>
      </p:sp>
    </p:spTree>
    <p:extLst>
      <p:ext uri="{BB962C8B-B14F-4D97-AF65-F5344CB8AC3E}">
        <p14:creationId xmlns:p14="http://schemas.microsoft.com/office/powerpoint/2010/main" val="3098629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C2613B-1205-455C-9093-C034A896A0C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F95265-CCEF-40C8-92CB-8F61EACC4007}"/>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METODOLOGÍA DE TT1</a:t>
            </a:r>
          </a:p>
        </p:txBody>
      </p:sp>
      <p:sp>
        <p:nvSpPr>
          <p:cNvPr id="3" name="">
            <a:extLst xmlns:a="http://schemas.openxmlformats.org/drawingml/2006/main">
              <a:ext uri="{FF2B5EF4-FFF2-40B4-BE49-F238E27FC236}">
                <a16:creationId xmlns:a16="http://schemas.microsoft.com/office/drawing/2014/main" id="{D8F831FD-7C79-4CB1-A851-5C38B9821EA8}"/>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Cuantización dinámica implementada</a:t>
            </a:r>
          </a:p>
        </p:txBody>
      </p:sp>
      <p:sp>
        <p:nvSpPr>
          <p:cNvPr id="4" name="">
            <a:extLst xmlns:a="http://schemas.openxmlformats.org/drawingml/2006/main">
              <a:ext uri="{FF2B5EF4-FFF2-40B4-BE49-F238E27FC236}">
                <a16:creationId xmlns:a16="http://schemas.microsoft.com/office/drawing/2014/main" id="{45DF6FC9-C27B-420B-804A-E05A377CB68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B890038-8719-407C-AB53-EC83AB4DE7D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flujo PTQ corregido [1]; ONNX Runtime [3]</a:t>
            </a:r>
          </a:p>
        </p:txBody>
      </p:sp>
      <p:sp>
        <p:nvSpPr>
          <p:cNvPr id="6" name="">
            <a:extLst xmlns:a="http://schemas.openxmlformats.org/drawingml/2006/main">
              <a:ext uri="{FF2B5EF4-FFF2-40B4-BE49-F238E27FC236}">
                <a16:creationId xmlns:a16="http://schemas.microsoft.com/office/drawing/2014/main" id="{171CE2AE-CE0F-42FC-85F8-446B96D0874C}"/>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15</a:t>
            </a:r>
          </a:p>
        </p:txBody>
      </p:sp>
      <p:pic>
        <p:nvPicPr>
          <p:cNvPr id="7" name="">
            <a:extLst xmlns:a="http://schemas.openxmlformats.org/drawingml/2006/main">
              <a:ext uri="{FF2B5EF4-FFF2-40B4-BE49-F238E27FC236}">
                <a16:creationId xmlns:a16="http://schemas.microsoft.com/office/drawing/2014/main" id="{84B76C08-4ACC-4FC1-AE87-B83DD4ED41DD}"/>
              </a:ext>
            </a:extLst>
          </p:cNvPr>
          <p:cNvPicPr>
            <a:picLocks xmlns:a="http://schemas.openxmlformats.org/drawingml/2006/main" noChangeAspect="1"/>
          </p:cNvPicPr>
          <p:nvPr/>
        </p:nvPicPr>
        <p:blipFill>
          <a:blip xmlns:r="http://schemas.openxmlformats.org/officeDocument/2006/relationships" xmlns:a="http://schemas.openxmlformats.org/drawingml/2006/main" r:embed="R75d40f5668a94654"/>
          <a:srcRect xmlns:a="http://schemas.openxmlformats.org/drawingml/2006/main" l="0" t="0" r="0" b="49000"/>
          <a:stretch xmlns:a="http://schemas.openxmlformats.org/drawingml/2006/main"/>
        </p:blipFill>
        <p:spPr>
          <a:xfrm xmlns:a="http://schemas.openxmlformats.org/drawingml/2006/main">
            <a:off x="647700" y="1866900"/>
            <a:ext cx="10906125" cy="3371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35C8DB5-0F52-49A4-9F31-C207876E5F49}"/>
              </a:ext>
            </a:extLst>
          </p:cNvPr>
          <p:cNvSpPr>
            <a:spLocks xmlns:a="http://schemas.openxmlformats.org/drawingml/2006/main" noGrp="1"/>
          </p:cNvSpPr>
          <p:nvPr/>
        </p:nvSpPr>
        <p:spPr>
          <a:xfrm xmlns:a="http://schemas.openxmlformats.org/drawingml/2006/main">
            <a:off x="762000" y="5238750"/>
            <a:ext cx="1047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Pesos: cuantización fuera de línea</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Activaciones: parámetros calculados durante la inferencia</a:t>
            </a:r>
          </a:p>
        </p:txBody>
      </p:sp>
    </p:spTree>
    <p:extLst>
      <p:ext uri="{BB962C8B-B14F-4D97-AF65-F5344CB8AC3E}">
        <p14:creationId xmlns:p14="http://schemas.microsoft.com/office/powerpoint/2010/main" val="20781458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7FB787-5474-4DF7-9698-B106A231752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B249E9B-8FEF-4D14-9C45-AFE179A421E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a:t>
            </a:r>
          </a:p>
        </p:txBody>
      </p:sp>
      <p:sp>
        <p:nvSpPr>
          <p:cNvPr id="3" name="">
            <a:extLst xmlns:a="http://schemas.openxmlformats.org/drawingml/2006/main">
              <a:ext uri="{FF2B5EF4-FFF2-40B4-BE49-F238E27FC236}">
                <a16:creationId xmlns:a16="http://schemas.microsoft.com/office/drawing/2014/main" id="{3E272B2D-EF9B-45C8-B6FA-D65D92937CE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Condiciones y métricas de comparación</a:t>
            </a:r>
          </a:p>
        </p:txBody>
      </p:sp>
      <p:sp>
        <p:nvSpPr>
          <p:cNvPr id="4" name="">
            <a:extLst xmlns:a="http://schemas.openxmlformats.org/drawingml/2006/main">
              <a:ext uri="{FF2B5EF4-FFF2-40B4-BE49-F238E27FC236}">
                <a16:creationId xmlns:a16="http://schemas.microsoft.com/office/drawing/2014/main" id="{5CA2B5BD-8255-4044-AC9B-95615A32181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33436A6-EEB5-4F68-A934-68D7A7C8FBF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condiciones experimentales y perfil quíntico de TT1 [1]</a:t>
            </a:r>
          </a:p>
        </p:txBody>
      </p:sp>
      <p:sp>
        <p:nvSpPr>
          <p:cNvPr id="6" name="">
            <a:extLst xmlns:a="http://schemas.openxmlformats.org/drawingml/2006/main">
              <a:ext uri="{FF2B5EF4-FFF2-40B4-BE49-F238E27FC236}">
                <a16:creationId xmlns:a16="http://schemas.microsoft.com/office/drawing/2014/main" id="{0CBA1A6D-52B5-499E-A880-7F0C45A9A506}"/>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16</a:t>
            </a:r>
          </a:p>
        </p:txBody>
      </p:sp>
      <p:pic>
        <p:nvPicPr>
          <p:cNvPr id="7" name="">
            <a:extLst xmlns:a="http://schemas.openxmlformats.org/drawingml/2006/main">
              <a:ext uri="{FF2B5EF4-FFF2-40B4-BE49-F238E27FC236}">
                <a16:creationId xmlns:a16="http://schemas.microsoft.com/office/drawing/2014/main" id="{5E4C6497-ADA2-40F1-BF53-9D8909516AC0}"/>
              </a:ext>
            </a:extLst>
          </p:cNvPr>
          <p:cNvPicPr>
            <a:picLocks xmlns:a="http://schemas.openxmlformats.org/drawingml/2006/main" noChangeAspect="1"/>
          </p:cNvPicPr>
          <p:nvPr/>
        </p:nvPicPr>
        <p:blipFill>
          <a:blip xmlns:r="http://schemas.openxmlformats.org/officeDocument/2006/relationships" xmlns:a="http://schemas.openxmlformats.org/drawingml/2006/main" r:embed="R805655f907de4b5b"/>
          <a:stretch xmlns:a="http://schemas.openxmlformats.org/drawingml/2006/main"/>
        </p:blipFill>
        <p:spPr>
          <a:xfrm xmlns:a="http://schemas.openxmlformats.org/drawingml/2006/main">
            <a:off x="6572250" y="1850529"/>
            <a:ext cx="4905375" cy="398561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79CB715-66F3-4991-8994-4258B1F5D935}"/>
              </a:ext>
            </a:extLst>
          </p:cNvPr>
          <p:cNvSpPr>
            <a:spLocks xmlns:a="http://schemas.openxmlformats.org/drawingml/2006/main" noGrp="1"/>
          </p:cNvSpPr>
          <p:nvPr/>
        </p:nvSpPr>
        <p:spPr>
          <a:xfrm xmlns:a="http://schemas.openxmlformats.org/drawingml/2006/main">
            <a:off x="714375" y="2085975"/>
            <a:ext cx="5476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Tres configuraciones</a:t>
            </a:r>
          </a:p>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Analítico · FP32 · INT8</a:t>
            </a:r>
          </a:p>
        </p:txBody>
      </p:sp>
      <p:sp>
        <p:nvSpPr>
          <p:cNvPr id="9" name="">
            <a:extLst xmlns:a="http://schemas.openxmlformats.org/drawingml/2006/main">
              <a:ext uri="{FF2B5EF4-FFF2-40B4-BE49-F238E27FC236}">
                <a16:creationId xmlns:a16="http://schemas.microsoft.com/office/drawing/2014/main" id="{478C37A8-059A-43A0-A929-EEEB9721A7F2}"/>
              </a:ext>
            </a:extLst>
          </p:cNvPr>
          <p:cNvSpPr>
            <a:spLocks xmlns:a="http://schemas.openxmlformats.org/drawingml/2006/main" noGrp="1"/>
          </p:cNvSpPr>
          <p:nvPr/>
        </p:nvSpPr>
        <p:spPr>
          <a:xfrm xmlns:a="http://schemas.openxmlformats.org/drawingml/2006/main">
            <a:off x="714375" y="3448050"/>
            <a:ext cx="5476875"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Trayectorias articulares quínticas</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Simulación y ejecución en CPU</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Datos recopilados a 100 Hz</a:t>
            </a:r>
          </a:p>
        </p:txBody>
      </p:sp>
      <p:sp>
        <p:nvSpPr>
          <p:cNvPr id="10" name="">
            <a:extLst xmlns:a="http://schemas.openxmlformats.org/drawingml/2006/main">
              <a:ext uri="{FF2B5EF4-FFF2-40B4-BE49-F238E27FC236}">
                <a16:creationId xmlns:a16="http://schemas.microsoft.com/office/drawing/2014/main" id="{B251EC9C-4850-4120-A0B3-3AC7EEE34931}"/>
              </a:ext>
            </a:extLst>
          </p:cNvPr>
          <p:cNvSpPr>
            <a:spLocks xmlns:a="http://schemas.openxmlformats.org/drawingml/2006/main" noGrp="1"/>
          </p:cNvSpPr>
          <p:nvPr/>
        </p:nvSpPr>
        <p:spPr>
          <a:xfrm xmlns:a="http://schemas.openxmlformats.org/drawingml/2006/main">
            <a:off x="714375" y="5286375"/>
            <a:ext cx="54768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Métricas: RMSE, inferencia</a:t>
            </a:r>
          </a:p>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y tamaño del archivo ONNX</a:t>
            </a:r>
          </a:p>
        </p:txBody>
      </p:sp>
    </p:spTree>
    <p:extLst>
      <p:ext uri="{BB962C8B-B14F-4D97-AF65-F5344CB8AC3E}">
        <p14:creationId xmlns:p14="http://schemas.microsoft.com/office/powerpoint/2010/main" val="53954061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FF27063-300F-418B-8EFE-23B47BF9893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2E2DD22-9A65-48E0-A07F-A9F397683866}"/>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2D2A1C6F-5CB0-4B42-9ED2-923FFD320E38}"/>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Tamaño del archivo ONNX</a:t>
            </a:r>
          </a:p>
        </p:txBody>
      </p:sp>
      <p:sp>
        <p:nvSpPr>
          <p:cNvPr id="4" name="">
            <a:extLst xmlns:a="http://schemas.openxmlformats.org/drawingml/2006/main">
              <a:ext uri="{FF2B5EF4-FFF2-40B4-BE49-F238E27FC236}">
                <a16:creationId xmlns:a16="http://schemas.microsoft.com/office/drawing/2014/main" id="{75E178EC-6D83-4B20-BEF3-F15B54D89EA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1D94F0-3C4D-47E0-A3EC-55399B9FBF4F}"/>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tamaños de campaña confirmados en TT1 [1]</a:t>
            </a:r>
          </a:p>
        </p:txBody>
      </p:sp>
      <p:sp>
        <p:nvSpPr>
          <p:cNvPr id="6" name="">
            <a:extLst xmlns:a="http://schemas.openxmlformats.org/drawingml/2006/main">
              <a:ext uri="{FF2B5EF4-FFF2-40B4-BE49-F238E27FC236}">
                <a16:creationId xmlns:a16="http://schemas.microsoft.com/office/drawing/2014/main" id="{36A19380-4DB0-4DBD-A9B0-1F63174FB8E6}"/>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17</a:t>
            </a:r>
          </a:p>
        </p:txBody>
      </p:sp>
      <p:graphicFrame>
        <p:nvGraphicFramePr>
          <p:cNvPr id="7" name="Chart">
            <a:extLst xmlns:a="http://schemas.openxmlformats.org/drawingml/2006/main">
              <a:ext uri="{FF2B5EF4-FFF2-40B4-BE49-F238E27FC236}">
                <a16:creationId xmlns:a16="http://schemas.microsoft.com/office/drawing/2014/main" id="{2F5DC97F-0AC8-446B-839E-3E601AB123E2}"/>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4631f48f9221449e"/>
          </a:graphicData>
        </a:graphic>
      </p:graphicFrame>
      <p:sp>
        <p:nvSpPr>
          <p:cNvPr id="8" name="">
            <a:extLst xmlns:a="http://schemas.openxmlformats.org/drawingml/2006/main">
              <a:ext uri="{FF2B5EF4-FFF2-40B4-BE49-F238E27FC236}">
                <a16:creationId xmlns:a16="http://schemas.microsoft.com/office/drawing/2014/main" id="{261FE50E-CC84-48B8-8657-4D0766164F83}"/>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74.43%</a:t>
            </a:r>
          </a:p>
        </p:txBody>
      </p:sp>
      <p:sp>
        <p:nvSpPr>
          <p:cNvPr id="9" name="">
            <a:extLst xmlns:a="http://schemas.openxmlformats.org/drawingml/2006/main">
              <a:ext uri="{FF2B5EF4-FFF2-40B4-BE49-F238E27FC236}">
                <a16:creationId xmlns:a16="http://schemas.microsoft.com/office/drawing/2014/main" id="{4691AC3C-0446-47D3-9D7E-5CFE36F0792F}"/>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del archivo</a:t>
            </a:r>
          </a:p>
        </p:txBody>
      </p:sp>
      <p:sp>
        <p:nvSpPr>
          <p:cNvPr id="10" name="">
            <a:extLst xmlns:a="http://schemas.openxmlformats.org/drawingml/2006/main">
              <a:ext uri="{FF2B5EF4-FFF2-40B4-BE49-F238E27FC236}">
                <a16:creationId xmlns:a16="http://schemas.microsoft.com/office/drawing/2014/main" id="{0DA87161-7B15-4028-913B-29F6805D7EC7}"/>
              </a:ext>
            </a:extLst>
          </p:cNvPr>
          <p:cNvSpPr>
            <a:spLocks xmlns:a="http://schemas.openxmlformats.org/drawingml/2006/main" noGrp="1"/>
          </p:cNvSpPr>
          <p:nvPr/>
        </p:nvSpPr>
        <p:spPr>
          <a:xfrm xmlns:a="http://schemas.openxmlformats.org/drawingml/2006/main">
            <a:off x="8382000" y="4791075"/>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No equivale a memoria total</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de ejecución ni a energía.</a:t>
            </a:r>
          </a:p>
        </p:txBody>
      </p:sp>
    </p:spTree>
    <p:extLst>
      <p:ext uri="{BB962C8B-B14F-4D97-AF65-F5344CB8AC3E}">
        <p14:creationId xmlns:p14="http://schemas.microsoft.com/office/powerpoint/2010/main" val="5910096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0AFA04-DE04-4AFC-A56B-6306CE72C20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7F3227-3309-41F6-B6A0-230BDDF73D4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FEA63700-B7F1-4640-84D9-E6CDE3BAB8B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Latencia de inferencia</a:t>
            </a:r>
          </a:p>
        </p:txBody>
      </p:sp>
      <p:sp>
        <p:nvSpPr>
          <p:cNvPr id="4" name="">
            <a:extLst xmlns:a="http://schemas.openxmlformats.org/drawingml/2006/main">
              <a:ext uri="{FF2B5EF4-FFF2-40B4-BE49-F238E27FC236}">
                <a16:creationId xmlns:a16="http://schemas.microsoft.com/office/drawing/2014/main" id="{D5EBEF80-8A49-48EB-BC82-19D5E2F49F2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85D26F3-87BB-46AD-81E4-53F3083BF8F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medias de inferencia reportadas en TT1 [1]</a:t>
            </a:r>
          </a:p>
        </p:txBody>
      </p:sp>
      <p:sp>
        <p:nvSpPr>
          <p:cNvPr id="6" name="">
            <a:extLst xmlns:a="http://schemas.openxmlformats.org/drawingml/2006/main">
              <a:ext uri="{FF2B5EF4-FFF2-40B4-BE49-F238E27FC236}">
                <a16:creationId xmlns:a16="http://schemas.microsoft.com/office/drawing/2014/main" id="{AE525025-6DAB-4F96-8E11-7121C476C30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18</a:t>
            </a:r>
          </a:p>
        </p:txBody>
      </p:sp>
      <p:graphicFrame>
        <p:nvGraphicFramePr>
          <p:cNvPr id="7" name="Chart">
            <a:extLst xmlns:a="http://schemas.openxmlformats.org/drawingml/2006/main">
              <a:ext uri="{FF2B5EF4-FFF2-40B4-BE49-F238E27FC236}">
                <a16:creationId xmlns:a16="http://schemas.microsoft.com/office/drawing/2014/main" id="{E075B71F-4370-477B-864A-1C5C39F7F23E}"/>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08dd21b31ee645a0"/>
          </a:graphicData>
        </a:graphic>
      </p:graphicFrame>
      <p:sp>
        <p:nvSpPr>
          <p:cNvPr id="8" name="">
            <a:extLst xmlns:a="http://schemas.openxmlformats.org/drawingml/2006/main">
              <a:ext uri="{FF2B5EF4-FFF2-40B4-BE49-F238E27FC236}">
                <a16:creationId xmlns:a16="http://schemas.microsoft.com/office/drawing/2014/main" id="{B86F718F-5597-47CD-A815-9467ABA4F6DC}"/>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21.29%</a:t>
            </a:r>
          </a:p>
        </p:txBody>
      </p:sp>
      <p:sp>
        <p:nvSpPr>
          <p:cNvPr id="9" name="">
            <a:extLst xmlns:a="http://schemas.openxmlformats.org/drawingml/2006/main">
              <a:ext uri="{FF2B5EF4-FFF2-40B4-BE49-F238E27FC236}">
                <a16:creationId xmlns:a16="http://schemas.microsoft.com/office/drawing/2014/main" id="{B60BCFE3-9AEB-4AF1-B1F8-7F6D88F8F36F}"/>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 la media</a:t>
            </a:r>
          </a:p>
        </p:txBody>
      </p:sp>
      <p:sp>
        <p:nvSpPr>
          <p:cNvPr id="10" name="">
            <a:extLst xmlns:a="http://schemas.openxmlformats.org/drawingml/2006/main">
              <a:ext uri="{FF2B5EF4-FFF2-40B4-BE49-F238E27FC236}">
                <a16:creationId xmlns:a16="http://schemas.microsoft.com/office/drawing/2014/main" id="{5B5C76E0-8E21-4805-BFEC-17AFE3C6A01D}"/>
              </a:ext>
            </a:extLst>
          </p:cNvPr>
          <p:cNvSpPr>
            <a:spLocks xmlns:a="http://schemas.openxmlformats.org/drawingml/2006/main" noGrp="1"/>
          </p:cNvSpPr>
          <p:nvPr/>
        </p:nvSpPr>
        <p:spPr>
          <a:xfrm xmlns:a="http://schemas.openxmlformats.org/drawingml/2006/main">
            <a:off x="8191500" y="4791075"/>
            <a:ext cx="3381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Inferencia aislada en CPU.</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El tiempo total del controlador</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permanece por verificar.</a:t>
            </a:r>
          </a:p>
        </p:txBody>
      </p:sp>
    </p:spTree>
    <p:extLst>
      <p:ext uri="{BB962C8B-B14F-4D97-AF65-F5344CB8AC3E}">
        <p14:creationId xmlns:p14="http://schemas.microsoft.com/office/powerpoint/2010/main" val="139907344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48289D-9D5C-4BDC-8CD7-A487BAC2381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E796B9-4229-491D-B5EB-37B970B3116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17EC22AE-1E19-497A-BAC6-7661FF2D4B71}"/>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Seguimiento articular</a:t>
            </a:r>
          </a:p>
        </p:txBody>
      </p:sp>
      <p:sp>
        <p:nvSpPr>
          <p:cNvPr id="4" name="">
            <a:extLst xmlns:a="http://schemas.openxmlformats.org/drawingml/2006/main">
              <a:ext uri="{FF2B5EF4-FFF2-40B4-BE49-F238E27FC236}">
                <a16:creationId xmlns:a16="http://schemas.microsoft.com/office/drawing/2014/main" id="{DCDDE2EC-2951-4E27-8C97-EAFAB044263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F2920D-68E4-4A03-A008-8D2F3B25337A}"/>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RMSE reportados y criterio RF-01 en TT1 [1]</a:t>
            </a:r>
          </a:p>
        </p:txBody>
      </p:sp>
      <p:sp>
        <p:nvSpPr>
          <p:cNvPr id="6" name="">
            <a:extLst xmlns:a="http://schemas.openxmlformats.org/drawingml/2006/main">
              <a:ext uri="{FF2B5EF4-FFF2-40B4-BE49-F238E27FC236}">
                <a16:creationId xmlns:a16="http://schemas.microsoft.com/office/drawing/2014/main" id="{5CA95D50-32E9-4B68-AFB8-C2592F2ED9B6}"/>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19</a:t>
            </a:r>
          </a:p>
        </p:txBody>
      </p:sp>
      <p:graphicFrame>
        <p:nvGraphicFramePr>
          <p:cNvPr id="7" name="Chart">
            <a:extLst xmlns:a="http://schemas.openxmlformats.org/drawingml/2006/main">
              <a:ext uri="{FF2B5EF4-FFF2-40B4-BE49-F238E27FC236}">
                <a16:creationId xmlns:a16="http://schemas.microsoft.com/office/drawing/2014/main" id="{B2B8B89A-4D55-4EA0-BF5D-9C6C50D4BDD3}"/>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8c89a17e61b3453a"/>
          </a:graphicData>
        </a:graphic>
      </p:graphicFrame>
      <p:sp>
        <p:nvSpPr>
          <p:cNvPr id="8" name="">
            <a:extLst xmlns:a="http://schemas.openxmlformats.org/drawingml/2006/main">
              <a:ext uri="{FF2B5EF4-FFF2-40B4-BE49-F238E27FC236}">
                <a16:creationId xmlns:a16="http://schemas.microsoft.com/office/drawing/2014/main" id="{48356E9A-25CC-463A-808C-92FDBBC64D99}"/>
              </a:ext>
            </a:extLst>
          </p:cNvPr>
          <p:cNvSpPr>
            <a:spLocks xmlns:a="http://schemas.openxmlformats.org/drawingml/2006/main" noGrp="1"/>
          </p:cNvSpPr>
          <p:nvPr/>
        </p:nvSpPr>
        <p:spPr>
          <a:xfrm xmlns:a="http://schemas.openxmlformats.org/drawingml/2006/main">
            <a:off x="8524875" y="2343150"/>
            <a:ext cx="276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B45309"/>
                </a:solidFill>
                <a:latin typeface="Lato"/>
                <a:ea typeface="Lato"/>
                <a:cs typeface="Lato"/>
              </a:defRPr>
            </a:defPPr>
          </a:lstStyle>
          <a:p xmlns:a="http://schemas.openxmlformats.org/drawingml/2006/main">
            <a:pPr algn="l">
              <a:defRPr sz="3300" b="1">
                <a:solidFill>
                  <a:srgbClr val="B45309"/>
                </a:solidFill>
                <a:latin typeface="Lato"/>
                <a:ea typeface="Lato"/>
                <a:cs typeface="Lato"/>
              </a:defRPr>
            </a:pPr>
            <a:r>
              <a:rPr sz="3300" b="1">
                <a:solidFill>
                  <a:srgbClr val="B45309"/>
                </a:solidFill>
                <a:latin typeface="Lato"/>
                <a:ea typeface="Lato"/>
                <a:cs typeface="Lato"/>
              </a:rPr>
              <a:t>RF-01</a:t>
            </a:r>
          </a:p>
        </p:txBody>
      </p:sp>
      <p:sp>
        <p:nvSpPr>
          <p:cNvPr id="9" name="">
            <a:extLst xmlns:a="http://schemas.openxmlformats.org/drawingml/2006/main">
              <a:ext uri="{FF2B5EF4-FFF2-40B4-BE49-F238E27FC236}">
                <a16:creationId xmlns:a16="http://schemas.microsoft.com/office/drawing/2014/main" id="{A9D8C61E-BDE0-460B-BB53-7312F59FAC87}"/>
              </a:ext>
            </a:extLst>
          </p:cNvPr>
          <p:cNvSpPr>
            <a:spLocks xmlns:a="http://schemas.openxmlformats.org/drawingml/2006/main" noGrp="1"/>
          </p:cNvSpPr>
          <p:nvPr/>
        </p:nvSpPr>
        <p:spPr>
          <a:xfrm xmlns:a="http://schemas.openxmlformats.org/drawingml/2006/main">
            <a:off x="8191500" y="3209925"/>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263445"/>
                </a:solidFill>
                <a:latin typeface="Lato"/>
                <a:ea typeface="Lato"/>
                <a:cs typeface="Lato"/>
              </a:defRPr>
            </a:defPPr>
          </a:lstStyle>
          <a:p xmlns:a="http://schemas.openxmlformats.org/drawingml/2006/main">
            <a:pPr algn="l">
              <a:defRPr sz="2175" b="1">
                <a:solidFill>
                  <a:srgbClr val="263445"/>
                </a:solidFill>
                <a:latin typeface="Lato"/>
                <a:ea typeface="Lato"/>
                <a:cs typeface="Lato"/>
              </a:defRPr>
            </a:pPr>
            <a:r>
              <a:rPr sz="2175" b="1">
                <a:solidFill>
                  <a:srgbClr val="263445"/>
                </a:solidFill>
                <a:latin typeface="Lato"/>
                <a:ea typeface="Lato"/>
                <a:cs typeface="Lato"/>
              </a:rPr>
              <a:t>RMSE &lt; 0.05 rad</a:t>
            </a:r>
          </a:p>
        </p:txBody>
      </p:sp>
      <p:sp>
        <p:nvSpPr>
          <p:cNvPr id="10" name="">
            <a:extLst xmlns:a="http://schemas.openxmlformats.org/drawingml/2006/main">
              <a:ext uri="{FF2B5EF4-FFF2-40B4-BE49-F238E27FC236}">
                <a16:creationId xmlns:a16="http://schemas.microsoft.com/office/drawing/2014/main" id="{3CF19FC4-B9D9-4528-9DB8-1DC29B4B2BC2}"/>
              </a:ext>
            </a:extLst>
          </p:cNvPr>
          <p:cNvSpPr>
            <a:spLocks xmlns:a="http://schemas.openxmlformats.org/drawingml/2006/main" noGrp="1"/>
          </p:cNvSpPr>
          <p:nvPr/>
        </p:nvSpPr>
        <p:spPr>
          <a:xfrm xmlns:a="http://schemas.openxmlformats.org/drawingml/2006/main">
            <a:off x="8286750" y="409575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45309"/>
                </a:solidFill>
                <a:latin typeface="Lato"/>
                <a:ea typeface="Lato"/>
                <a:cs typeface="Lato"/>
              </a:defRPr>
            </a:defPPr>
          </a:lstStyle>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No alcanzado</a:t>
            </a:r>
          </a:p>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en las tres configuraciones.</a:t>
            </a:r>
          </a:p>
        </p:txBody>
      </p:sp>
      <p:sp>
        <p:nvSpPr>
          <p:cNvPr id="11" name="">
            <a:extLst xmlns:a="http://schemas.openxmlformats.org/drawingml/2006/main">
              <a:ext uri="{FF2B5EF4-FFF2-40B4-BE49-F238E27FC236}">
                <a16:creationId xmlns:a16="http://schemas.microsoft.com/office/drawing/2014/main" id="{B2D2160A-7E87-4A0B-9C89-797D977AD7D2}"/>
              </a:ext>
            </a:extLst>
          </p:cNvPr>
          <p:cNvSpPr>
            <a:spLocks xmlns:a="http://schemas.openxmlformats.org/drawingml/2006/main" noGrp="1"/>
          </p:cNvSpPr>
          <p:nvPr/>
        </p:nvSpPr>
        <p:spPr>
          <a:xfrm xmlns:a="http://schemas.openxmlformats.org/drawingml/2006/main">
            <a:off x="8286750" y="5457825"/>
            <a:ext cx="3143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Referencia de desempeño</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para la siguiente etapa.</a:t>
            </a:r>
          </a:p>
        </p:txBody>
      </p:sp>
    </p:spTree>
    <p:extLst>
      <p:ext uri="{BB962C8B-B14F-4D97-AF65-F5344CB8AC3E}">
        <p14:creationId xmlns:p14="http://schemas.microsoft.com/office/powerpoint/2010/main" val="206469838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188EB7-6C7B-430F-B9D7-64C38A1AF47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9DC47EB-68A4-44F2-AABE-CEBE5B25FA16}"/>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 DE TT1</a:t>
            </a:r>
          </a:p>
        </p:txBody>
      </p:sp>
      <p:sp>
        <p:nvSpPr>
          <p:cNvPr id="3" name="">
            <a:extLst xmlns:a="http://schemas.openxmlformats.org/drawingml/2006/main">
              <a:ext uri="{FF2B5EF4-FFF2-40B4-BE49-F238E27FC236}">
                <a16:creationId xmlns:a16="http://schemas.microsoft.com/office/drawing/2014/main" id="{6C9140C2-CE3B-498D-98F8-42221F5F6CA4}"/>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Cumplimiento y limitaciones</a:t>
            </a:r>
          </a:p>
        </p:txBody>
      </p:sp>
      <p:sp>
        <p:nvSpPr>
          <p:cNvPr id="4" name="">
            <a:extLst xmlns:a="http://schemas.openxmlformats.org/drawingml/2006/main">
              <a:ext uri="{FF2B5EF4-FFF2-40B4-BE49-F238E27FC236}">
                <a16:creationId xmlns:a16="http://schemas.microsoft.com/office/drawing/2014/main" id="{0C3137C9-95BD-4884-BF80-CF9D7F6951C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4908C5-35E8-4D05-8EF7-46954C9EE80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matriz consolidada de verificación TT1 [1]</a:t>
            </a:r>
          </a:p>
        </p:txBody>
      </p:sp>
      <p:sp>
        <p:nvSpPr>
          <p:cNvPr id="6" name="">
            <a:extLst xmlns:a="http://schemas.openxmlformats.org/drawingml/2006/main">
              <a:ext uri="{FF2B5EF4-FFF2-40B4-BE49-F238E27FC236}">
                <a16:creationId xmlns:a16="http://schemas.microsoft.com/office/drawing/2014/main" id="{0554B2E6-B94D-4293-B6E9-A881AB9A306B}"/>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20</a:t>
            </a:r>
          </a:p>
        </p:txBody>
      </p:sp>
      <p:graphicFrame>
        <p:nvGraphicFramePr>
          <p:cNvPr id="7" name="">
            <a:extLst xmlns:a="http://schemas.openxmlformats.org/drawingml/2006/main">
              <a:ext uri="{FF2B5EF4-FFF2-40B4-BE49-F238E27FC236}">
                <a16:creationId xmlns:a16="http://schemas.microsoft.com/office/drawing/2014/main" id="{AEE408D7-37F0-46D1-818F-C00293243DEB}"/>
              </a:ext>
            </a:extLst>
          </p:cNvPr>
          <p:cNvGraphicFramePr/>
          <p:nvPr/>
        </p:nvGraphicFramePr>
        <p:xfrm>
          <a:off xmlns:a="http://schemas.openxmlformats.org/drawingml/2006/main" x="685800" y="2009775"/>
          <a:ext xmlns:a="http://schemas.openxmlformats.org/drawingml/2006/main" cx="10810875" cy="3209925"/>
        </p:xfrm>
        <a:graphic xmlns:a="http://schemas.openxmlformats.org/drawingml/2006/main">
          <a:graphicData uri="http://schemas.openxmlformats.org/drawingml/2006/table">
            <a:tbl>
              <a:tblPr/>
              <a:tblGrid>
                <a:gridCol w="3238500"/>
                <a:gridCol w="5143500"/>
                <a:gridCol w="2428875"/>
              </a:tblGrid>
              <a:tr h="641985">
                <a:tc>
                  <a:txBody>
                    <a:bodyPr/>
                    <a:lstStyle/>
                    <a:p>
                      <a:r>
                        <a:rPr sz="1800" b="1">
                          <a:solidFill>
                            <a:srgbClr val="FFFFFF"/>
                          </a:solidFill>
                          <a:latin typeface="Lato"/>
                          <a:ea typeface="Lato"/>
                          <a:cs typeface="Lato"/>
                        </a:rPr>
                        <a:t>Criterio</a:t>
                      </a:r>
                    </a:p>
                  </a:txBody>
                  <a:tcPr marL="91440" marR="91440" marT="45720" marB="45720">
                    <a:solidFill>
                      <a:srgbClr val="263445"/>
                    </a:solidFill>
                  </a:tcPr>
                </a:tc>
                <a:tc>
                  <a:txBody>
                    <a:bodyPr/>
                    <a:lstStyle/>
                    <a:p>
                      <a:r>
                        <a:rPr sz="1800" b="1">
                          <a:solidFill>
                            <a:srgbClr val="FFFFFF"/>
                          </a:solidFill>
                          <a:latin typeface="Lato"/>
                          <a:ea typeface="Lato"/>
                          <a:cs typeface="Lato"/>
                        </a:rPr>
                        <a:t>Resultado TT1</a:t>
                      </a:r>
                    </a:p>
                  </a:txBody>
                  <a:tcPr marL="91440" marR="91440" marT="45720" marB="45720">
                    <a:solidFill>
                      <a:srgbClr val="263445"/>
                    </a:solidFill>
                  </a:tcPr>
                </a:tc>
                <a:tc>
                  <a:txBody>
                    <a:bodyPr/>
                    <a:lstStyle/>
                    <a:p>
                      <a:r>
                        <a:rPr sz="1800" b="1">
                          <a:solidFill>
                            <a:srgbClr val="FFFFFF"/>
                          </a:solidFill>
                          <a:latin typeface="Lato"/>
                          <a:ea typeface="Lato"/>
                          <a:cs typeface="Lato"/>
                        </a:rPr>
                        <a:t>Estado</a:t>
                      </a:r>
                    </a:p>
                  </a:txBody>
                  <a:tcPr marL="91440" marR="91440" marT="45720" marB="45720">
                    <a:solidFill>
                      <a:srgbClr val="263445"/>
                    </a:solidFill>
                  </a:tcPr>
                </a:tc>
              </a:tr>
              <a:tr h="641985">
                <a:tc>
                  <a:txBody>
                    <a:bodyPr/>
                    <a:lstStyle/>
                    <a:p>
                      <a:r>
                        <a:rPr sz="1875" b="0">
                          <a:solidFill>
                            <a:srgbClr val="263445"/>
                          </a:solidFill>
                          <a:latin typeface="Lato"/>
                          <a:ea typeface="Lato"/>
                          <a:cs typeface="Lato"/>
                        </a:rPr>
                        <a:t>Reducción ONNX ≥50%</a:t>
                      </a:r>
                    </a:p>
                  </a:txBody>
                  <a:tcPr marL="91440" marR="91440" marT="45720" marB="45720">
                    <a:solidFill>
                      <a:srgbClr val="FFFFFF"/>
                    </a:solidFill>
                  </a:tcPr>
                </a:tc>
                <a:tc>
                  <a:txBody>
                    <a:bodyPr/>
                    <a:lstStyle/>
                    <a:p>
                      <a:r>
                        <a:rPr sz="1875" b="0">
                          <a:solidFill>
                            <a:srgbClr val="263445"/>
                          </a:solidFill>
                          <a:latin typeface="Lato"/>
                          <a:ea typeface="Lato"/>
                          <a:cs typeface="Lato"/>
                        </a:rPr>
                        <a:t>74.43%</a:t>
                      </a:r>
                    </a:p>
                  </a:txBody>
                  <a:tcPr marL="91440" marR="91440" marT="45720" marB="45720">
                    <a:solidFill>
                      <a:srgbClr val="FFFFFF"/>
                    </a:solidFill>
                  </a:tcPr>
                </a:tc>
                <a:tc>
                  <a:txBody>
                    <a:bodyPr/>
                    <a:lstStyle/>
                    <a:p>
                      <a:r>
                        <a:rPr sz="1875" b="0">
                          <a:solidFill>
                            <a:srgbClr val="263445"/>
                          </a:solidFill>
                          <a:latin typeface="Lato"/>
                          <a:ea typeface="Lato"/>
                          <a:cs typeface="Lato"/>
                        </a:rPr>
                        <a:t>Cumplido</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RMSE &lt;0.05 rad</a:t>
                      </a:r>
                    </a:p>
                  </a:txBody>
                  <a:tcPr marL="91440" marR="91440" marT="45720" marB="45720">
                    <a:solidFill>
                      <a:srgbClr val="F8FAFC"/>
                    </a:solidFill>
                  </a:tcPr>
                </a:tc>
                <a:tc>
                  <a:txBody>
                    <a:bodyPr/>
                    <a:lstStyle/>
                    <a:p>
                      <a:r>
                        <a:rPr sz="1875" b="0">
                          <a:solidFill>
                            <a:srgbClr val="263445"/>
                          </a:solidFill>
                          <a:latin typeface="Lato"/>
                          <a:ea typeface="Lato"/>
                          <a:cs typeface="Lato"/>
                        </a:rPr>
                        <a:t>0.063 / 0.092 / 0.138 rad</a:t>
                      </a:r>
                    </a:p>
                  </a:txBody>
                  <a:tcPr marL="91440" marR="91440" marT="45720" marB="45720">
                    <a:solidFill>
                      <a:srgbClr val="F8FAFC"/>
                    </a:solidFill>
                  </a:tcPr>
                </a:tc>
                <a:tc>
                  <a:txBody>
                    <a:bodyPr/>
                    <a:lstStyle/>
                    <a:p>
                      <a:r>
                        <a:rPr sz="1875" b="0">
                          <a:solidFill>
                            <a:srgbClr val="263445"/>
                          </a:solidFill>
                          <a:latin typeface="Lato"/>
                          <a:ea typeface="Lato"/>
                          <a:cs typeface="Lato"/>
                        </a:rPr>
                        <a:t>No alcanzado</a:t>
                      </a:r>
                    </a:p>
                  </a:txBody>
                  <a:tcPr marL="91440" marR="91440" marT="45720" marB="45720">
                    <a:solidFill>
                      <a:srgbClr val="F8FAFC"/>
                    </a:solidFill>
                  </a:tcPr>
                </a:tc>
              </a:tr>
              <a:tr h="641985">
                <a:tc>
                  <a:txBody>
                    <a:bodyPr/>
                    <a:lstStyle/>
                    <a:p>
                      <a:r>
                        <a:rPr sz="1875" b="0">
                          <a:solidFill>
                            <a:srgbClr val="263445"/>
                          </a:solidFill>
                          <a:latin typeface="Lato"/>
                          <a:ea typeface="Lato"/>
                          <a:cs typeface="Lato"/>
                        </a:rPr>
                        <a:t>Ciclo total y jitter</a:t>
                      </a:r>
                    </a:p>
                  </a:txBody>
                  <a:tcPr marL="91440" marR="91440" marT="45720" marB="45720">
                    <a:solidFill>
                      <a:srgbClr val="FFFFFF"/>
                    </a:solidFill>
                  </a:tcPr>
                </a:tc>
                <a:tc>
                  <a:txBody>
                    <a:bodyPr/>
                    <a:lstStyle/>
                    <a:p>
                      <a:r>
                        <a:rPr sz="1875" b="0">
                          <a:solidFill>
                            <a:srgbClr val="263445"/>
                          </a:solidFill>
                          <a:latin typeface="Lato"/>
                          <a:ea typeface="Lato"/>
                          <a:cs typeface="Lato"/>
                        </a:rPr>
                        <a:t>Sin medición trazable completa</a:t>
                      </a:r>
                    </a:p>
                  </a:txBody>
                  <a:tcPr marL="91440" marR="91440" marT="45720" marB="45720">
                    <a:solidFill>
                      <a:srgbClr val="FFFFFF"/>
                    </a:solidFill>
                  </a:tcPr>
                </a:tc>
                <a:tc>
                  <a:txBody>
                    <a:bodyPr/>
                    <a:lstStyle/>
                    <a:p>
                      <a:r>
                        <a:rPr sz="1875" b="0">
                          <a:solidFill>
                            <a:srgbClr val="263445"/>
                          </a:solidFill>
                          <a:latin typeface="Lato"/>
                          <a:ea typeface="Lato"/>
                          <a:cs typeface="Lato"/>
                        </a:rPr>
                        <a:t>Por verificar</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Consumo eléctrico</a:t>
                      </a:r>
                    </a:p>
                  </a:txBody>
                  <a:tcPr marL="91440" marR="91440" marT="45720" marB="45720">
                    <a:solidFill>
                      <a:srgbClr val="F8FAFC"/>
                    </a:solidFill>
                  </a:tcPr>
                </a:tc>
                <a:tc>
                  <a:txBody>
                    <a:bodyPr/>
                    <a:lstStyle/>
                    <a:p>
                      <a:r>
                        <a:rPr sz="1875" b="0">
                          <a:solidFill>
                            <a:srgbClr val="263445"/>
                          </a:solidFill>
                          <a:latin typeface="Lato"/>
                          <a:ea typeface="Lato"/>
                          <a:cs typeface="Lato"/>
                        </a:rPr>
                        <a:t>Sin medición directa</a:t>
                      </a:r>
                    </a:p>
                  </a:txBody>
                  <a:tcPr marL="91440" marR="91440" marT="45720" marB="45720">
                    <a:solidFill>
                      <a:srgbClr val="F8FAFC"/>
                    </a:solidFill>
                  </a:tcPr>
                </a:tc>
                <a:tc>
                  <a:txBody>
                    <a:bodyPr/>
                    <a:lstStyle/>
                    <a:p>
                      <a:r>
                        <a:rPr sz="1875" b="0">
                          <a:solidFill>
                            <a:srgbClr val="263445"/>
                          </a:solidFill>
                          <a:latin typeface="Lato"/>
                          <a:ea typeface="Lato"/>
                          <a:cs typeface="Lato"/>
                        </a:rPr>
                        <a:t>Pendiente</a:t>
                      </a:r>
                    </a:p>
                  </a:txBody>
                  <a:tcPr marL="91440" marR="91440" marT="45720" marB="45720">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11087EB9-A5B0-43D7-887D-88FD420BF271}"/>
              </a:ext>
            </a:extLst>
          </p:cNvPr>
          <p:cNvSpPr>
            <a:spLocks xmlns:a="http://schemas.openxmlformats.org/drawingml/2006/main" noGrp="1"/>
          </p:cNvSpPr>
          <p:nvPr/>
        </p:nvSpPr>
        <p:spPr>
          <a:xfrm xmlns:a="http://schemas.openxmlformats.org/drawingml/2006/main">
            <a:off x="752475" y="5562600"/>
            <a:ext cx="1047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526173"/>
                </a:solidFill>
                <a:latin typeface="Lato"/>
                <a:ea typeface="Lato"/>
                <a:cs typeface="Lato"/>
              </a:defRPr>
            </a:defPPr>
          </a:lstStyle>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Saturación uniforme ±55 N·m: simplificación provisional de simulación.</a:t>
            </a:r>
          </a:p>
        </p:txBody>
      </p:sp>
    </p:spTree>
    <p:extLst>
      <p:ext uri="{BB962C8B-B14F-4D97-AF65-F5344CB8AC3E}">
        <p14:creationId xmlns:p14="http://schemas.microsoft.com/office/powerpoint/2010/main" val="178498112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4644CF6-240A-46B6-A955-A32E330CE84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1C622E-5063-450F-831F-AE668C2E664B}"/>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CIERRE</a:t>
            </a:r>
          </a:p>
        </p:txBody>
      </p:sp>
      <p:sp>
        <p:nvSpPr>
          <p:cNvPr id="3" name="">
            <a:extLst xmlns:a="http://schemas.openxmlformats.org/drawingml/2006/main">
              <a:ext uri="{FF2B5EF4-FFF2-40B4-BE49-F238E27FC236}">
                <a16:creationId xmlns:a16="http://schemas.microsoft.com/office/drawing/2014/main" id="{2768F835-D8D2-48D4-952F-A9274396180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Conclusiones de TT1</a:t>
            </a:r>
          </a:p>
        </p:txBody>
      </p:sp>
      <p:sp>
        <p:nvSpPr>
          <p:cNvPr id="4" name="">
            <a:extLst xmlns:a="http://schemas.openxmlformats.org/drawingml/2006/main">
              <a:ext uri="{FF2B5EF4-FFF2-40B4-BE49-F238E27FC236}">
                <a16:creationId xmlns:a16="http://schemas.microsoft.com/office/drawing/2014/main" id="{8456BD13-0405-4749-8EE0-5BD0378E720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F6B3DA8-CB05-4F76-B47D-4B0A3C36E0E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resultados y limitaciones de TT1 [1]</a:t>
            </a:r>
          </a:p>
        </p:txBody>
      </p:sp>
      <p:sp>
        <p:nvSpPr>
          <p:cNvPr id="6" name="">
            <a:extLst xmlns:a="http://schemas.openxmlformats.org/drawingml/2006/main">
              <a:ext uri="{FF2B5EF4-FFF2-40B4-BE49-F238E27FC236}">
                <a16:creationId xmlns:a16="http://schemas.microsoft.com/office/drawing/2014/main" id="{4564D4AC-C6F9-427C-8D2C-F8A567E0638C}"/>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21</a:t>
            </a:r>
          </a:p>
        </p:txBody>
      </p:sp>
      <p:sp>
        <p:nvSpPr>
          <p:cNvPr id="7" name="">
            <a:extLst xmlns:a="http://schemas.openxmlformats.org/drawingml/2006/main">
              <a:ext uri="{FF2B5EF4-FFF2-40B4-BE49-F238E27FC236}">
                <a16:creationId xmlns:a16="http://schemas.microsoft.com/office/drawing/2014/main" id="{8023EED5-B099-46C0-B5C4-D89CFE948D98}"/>
              </a:ext>
            </a:extLst>
          </p:cNvPr>
          <p:cNvSpPr>
            <a:spLocks xmlns:a="http://schemas.openxmlformats.org/drawingml/2006/main" noGrp="1"/>
          </p:cNvSpPr>
          <p:nvPr/>
        </p:nvSpPr>
        <p:spPr>
          <a:xfrm xmlns:a="http://schemas.openxmlformats.org/drawingml/2006/main">
            <a:off x="762000" y="19716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8D1711BB-9F1B-4576-ACE9-D560CC6AE156}"/>
              </a:ext>
            </a:extLst>
          </p:cNvPr>
          <p:cNvSpPr>
            <a:spLocks xmlns:a="http://schemas.openxmlformats.org/drawingml/2006/main" noGrp="1"/>
          </p:cNvSpPr>
          <p:nvPr/>
        </p:nvSpPr>
        <p:spPr>
          <a:xfrm xmlns:a="http://schemas.openxmlformats.org/drawingml/2006/main">
            <a:off x="1581150" y="197167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Se integró y evaluó el predictor de torque total en simulación.</a:t>
            </a:r>
          </a:p>
        </p:txBody>
      </p:sp>
      <p:sp>
        <p:nvSpPr>
          <p:cNvPr id="9" name="">
            <a:extLst xmlns:a="http://schemas.openxmlformats.org/drawingml/2006/main">
              <a:ext uri="{FF2B5EF4-FFF2-40B4-BE49-F238E27FC236}">
                <a16:creationId xmlns:a16="http://schemas.microsoft.com/office/drawing/2014/main" id="{CDE98375-33F2-49E6-BF8A-615813CCA888}"/>
              </a:ext>
            </a:extLst>
          </p:cNvPr>
          <p:cNvSpPr>
            <a:spLocks xmlns:a="http://schemas.openxmlformats.org/drawingml/2006/main" noGrp="1"/>
          </p:cNvSpPr>
          <p:nvPr/>
        </p:nvSpPr>
        <p:spPr>
          <a:xfrm xmlns:a="http://schemas.openxmlformats.org/drawingml/2006/main">
            <a:off x="762000" y="31813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813311AB-AC1D-475F-AAD2-D7BA498B71C3}"/>
              </a:ext>
            </a:extLst>
          </p:cNvPr>
          <p:cNvSpPr>
            <a:spLocks xmlns:a="http://schemas.openxmlformats.org/drawingml/2006/main" noGrp="1"/>
          </p:cNvSpPr>
          <p:nvPr/>
        </p:nvSpPr>
        <p:spPr>
          <a:xfrm xmlns:a="http://schemas.openxmlformats.org/drawingml/2006/main">
            <a:off x="1581150" y="3181350"/>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redujo el archivo ONNX y la latencia media de inferencia observada.</a:t>
            </a:r>
          </a:p>
        </p:txBody>
      </p:sp>
      <p:sp>
        <p:nvSpPr>
          <p:cNvPr id="11" name="">
            <a:extLst xmlns:a="http://schemas.openxmlformats.org/drawingml/2006/main">
              <a:ext uri="{FF2B5EF4-FFF2-40B4-BE49-F238E27FC236}">
                <a16:creationId xmlns:a16="http://schemas.microsoft.com/office/drawing/2014/main" id="{9CFCCEB3-3CBC-47E1-B13D-41D4A9ACD02A}"/>
              </a:ext>
            </a:extLst>
          </p:cNvPr>
          <p:cNvSpPr>
            <a:spLocks xmlns:a="http://schemas.openxmlformats.org/drawingml/2006/main" noGrp="1"/>
          </p:cNvSpPr>
          <p:nvPr/>
        </p:nvSpPr>
        <p:spPr>
          <a:xfrm xmlns:a="http://schemas.openxmlformats.org/drawingml/2006/main">
            <a:off x="762000" y="43910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BAFB54A5-6085-44CC-8CC5-792087BE9575}"/>
              </a:ext>
            </a:extLst>
          </p:cNvPr>
          <p:cNvSpPr>
            <a:spLocks xmlns:a="http://schemas.openxmlformats.org/drawingml/2006/main" noGrp="1"/>
          </p:cNvSpPr>
          <p:nvPr/>
        </p:nvSpPr>
        <p:spPr>
          <a:xfrm xmlns:a="http://schemas.openxmlformats.org/drawingml/2006/main">
            <a:off x="1581150" y="439102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La precisión de seguimiento no alcanzó RF-01; se documentaron las limitaciones.</a:t>
            </a:r>
          </a:p>
        </p:txBody>
      </p:sp>
    </p:spTree>
    <p:extLst>
      <p:ext uri="{BB962C8B-B14F-4D97-AF65-F5344CB8AC3E}">
        <p14:creationId xmlns:p14="http://schemas.microsoft.com/office/powerpoint/2010/main" val="16083782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CA48D76-F21B-4660-AFAF-E7B12268814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1B3C8D-ECC5-4FC0-BEE4-A2F9BF46C0A3}"/>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FUENTES</a:t>
            </a:r>
          </a:p>
        </p:txBody>
      </p:sp>
      <p:sp>
        <p:nvSpPr>
          <p:cNvPr id="3" name="">
            <a:extLst xmlns:a="http://schemas.openxmlformats.org/drawingml/2006/main">
              <a:ext uri="{FF2B5EF4-FFF2-40B4-BE49-F238E27FC236}">
                <a16:creationId xmlns:a16="http://schemas.microsoft.com/office/drawing/2014/main" id="{29740B8E-E6ED-484B-BF65-ADEF22B1A22C}"/>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Referencias</a:t>
            </a:r>
          </a:p>
        </p:txBody>
      </p:sp>
      <p:sp>
        <p:nvSpPr>
          <p:cNvPr id="4" name="">
            <a:extLst xmlns:a="http://schemas.openxmlformats.org/drawingml/2006/main">
              <a:ext uri="{FF2B5EF4-FFF2-40B4-BE49-F238E27FC236}">
                <a16:creationId xmlns:a16="http://schemas.microsoft.com/office/drawing/2014/main" id="{0C12F1E1-E61D-42B2-9B51-DF1A6E73CA6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3A8E9B9-52E0-4AD1-8144-FA38990015A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Consulta de documentación: 7 de octubre de 2026</a:t>
            </a:r>
          </a:p>
        </p:txBody>
      </p:sp>
      <p:sp>
        <p:nvSpPr>
          <p:cNvPr id="6" name="">
            <a:extLst xmlns:a="http://schemas.openxmlformats.org/drawingml/2006/main">
              <a:ext uri="{FF2B5EF4-FFF2-40B4-BE49-F238E27FC236}">
                <a16:creationId xmlns:a16="http://schemas.microsoft.com/office/drawing/2014/main" id="{DEB05337-6792-44BB-8067-868620283C0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22</a:t>
            </a:r>
          </a:p>
        </p:txBody>
      </p:sp>
      <p:sp>
        <p:nvSpPr>
          <p:cNvPr id="7" name="">
            <a:extLst xmlns:a="http://schemas.openxmlformats.org/drawingml/2006/main">
              <a:ext uri="{FF2B5EF4-FFF2-40B4-BE49-F238E27FC236}">
                <a16:creationId xmlns:a16="http://schemas.microsoft.com/office/drawing/2014/main" id="{98BBB4F9-23E3-42ED-9BE5-0B3D1CB2F25C}"/>
              </a:ext>
            </a:extLst>
          </p:cNvPr>
          <p:cNvSpPr>
            <a:spLocks xmlns:a="http://schemas.openxmlformats.org/drawingml/2006/main" noGrp="1"/>
          </p:cNvSpPr>
          <p:nvPr/>
        </p:nvSpPr>
        <p:spPr>
          <a:xfrm xmlns:a="http://schemas.openxmlformats.org/drawingml/2006/main">
            <a:off x="723900" y="18573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[1] R. Mendoza Díaz. Reporte de Trabajo Terminal I. UPIITA–IPN, versión corregida, 2026.</a:t>
            </a:r>
          </a:p>
        </p:txBody>
      </p:sp>
      <p:sp>
        <p:nvSpPr>
          <p:cNvPr id="8" name="">
            <a:extLst xmlns:a="http://schemas.openxmlformats.org/drawingml/2006/main">
              <a:ext uri="{FF2B5EF4-FFF2-40B4-BE49-F238E27FC236}">
                <a16:creationId xmlns:a16="http://schemas.microsoft.com/office/drawing/2014/main" id="{34FE7E77-BE2E-4E5F-AFB5-67DC268B2345}"/>
              </a:ext>
            </a:extLst>
          </p:cNvPr>
          <p:cNvSpPr>
            <a:spLocks xmlns:a="http://schemas.openxmlformats.org/drawingml/2006/main" noGrp="1"/>
          </p:cNvSpPr>
          <p:nvPr/>
        </p:nvSpPr>
        <p:spPr>
          <a:xfrm xmlns:a="http://schemas.openxmlformats.org/drawingml/2006/main">
            <a:off x="723900" y="25622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[2] IEEE. IEEE Standard for Floating-Point Arithmetic, IEEE 754-2019. standards.ieee.org/standard/754-2019.html</a:t>
            </a:r>
          </a:p>
        </p:txBody>
      </p:sp>
      <p:sp>
        <p:nvSpPr>
          <p:cNvPr id="9" name="">
            <a:extLst xmlns:a="http://schemas.openxmlformats.org/drawingml/2006/main">
              <a:ext uri="{FF2B5EF4-FFF2-40B4-BE49-F238E27FC236}">
                <a16:creationId xmlns:a16="http://schemas.microsoft.com/office/drawing/2014/main" id="{A58977AF-7A05-493B-ADE6-09143C1285C9}"/>
              </a:ext>
            </a:extLst>
          </p:cNvPr>
          <p:cNvSpPr>
            <a:spLocks xmlns:a="http://schemas.openxmlformats.org/drawingml/2006/main" noGrp="1"/>
          </p:cNvSpPr>
          <p:nvPr/>
        </p:nvSpPr>
        <p:spPr>
          <a:xfrm xmlns:a="http://schemas.openxmlformats.org/drawingml/2006/main">
            <a:off x="723900" y="32670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[3] ONNX Runtime. Quantize ONNX models. onnxruntime.ai/docs/performance/model-optimizations/quantization.html</a:t>
            </a:r>
          </a:p>
        </p:txBody>
      </p:sp>
      <p:sp>
        <p:nvSpPr>
          <p:cNvPr id="10" name="">
            <a:extLst xmlns:a="http://schemas.openxmlformats.org/drawingml/2006/main">
              <a:ext uri="{FF2B5EF4-FFF2-40B4-BE49-F238E27FC236}">
                <a16:creationId xmlns:a16="http://schemas.microsoft.com/office/drawing/2014/main" id="{32BA8D41-6300-428D-BDB4-8CA60004F2C6}"/>
              </a:ext>
            </a:extLst>
          </p:cNvPr>
          <p:cNvSpPr>
            <a:spLocks xmlns:a="http://schemas.openxmlformats.org/drawingml/2006/main" noGrp="1"/>
          </p:cNvSpPr>
          <p:nvPr/>
        </p:nvSpPr>
        <p:spPr>
          <a:xfrm xmlns:a="http://schemas.openxmlformats.org/drawingml/2006/main">
            <a:off x="723900" y="39719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[4] PyTorch. torch.nn.Linear. docs.pytorch.org/docs/stable/generated/torch.nn.Linear.html</a:t>
            </a:r>
          </a:p>
        </p:txBody>
      </p:sp>
      <p:sp>
        <p:nvSpPr>
          <p:cNvPr id="11" name="">
            <a:extLst xmlns:a="http://schemas.openxmlformats.org/drawingml/2006/main">
              <a:ext uri="{FF2B5EF4-FFF2-40B4-BE49-F238E27FC236}">
                <a16:creationId xmlns:a16="http://schemas.microsoft.com/office/drawing/2014/main" id="{6DA8DDB1-993C-446F-B7A5-B5075F2B6965}"/>
              </a:ext>
            </a:extLst>
          </p:cNvPr>
          <p:cNvSpPr>
            <a:spLocks xmlns:a="http://schemas.openxmlformats.org/drawingml/2006/main" noGrp="1"/>
          </p:cNvSpPr>
          <p:nvPr/>
        </p:nvSpPr>
        <p:spPr>
          <a:xfrm xmlns:a="http://schemas.openxmlformats.org/drawingml/2006/main">
            <a:off x="723900" y="46767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[5] ONNX. ONNX Concepts. onnx.ai/onnx/intro/concepts.html</a:t>
            </a:r>
          </a:p>
        </p:txBody>
      </p:sp>
      <p:sp>
        <p:nvSpPr>
          <p:cNvPr id="12" name="">
            <a:extLst xmlns:a="http://schemas.openxmlformats.org/drawingml/2006/main">
              <a:ext uri="{FF2B5EF4-FFF2-40B4-BE49-F238E27FC236}">
                <a16:creationId xmlns:a16="http://schemas.microsoft.com/office/drawing/2014/main" id="{7B172131-DB98-4464-A587-6EEB97BFF799}"/>
              </a:ext>
            </a:extLst>
          </p:cNvPr>
          <p:cNvSpPr>
            <a:spLocks xmlns:a="http://schemas.openxmlformats.org/drawingml/2006/main" noGrp="1"/>
          </p:cNvSpPr>
          <p:nvPr/>
        </p:nvSpPr>
        <p:spPr>
          <a:xfrm xmlns:a="http://schemas.openxmlformats.org/drawingml/2006/main">
            <a:off x="723900" y="53816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[6] J. J. Craig. Introduction to Robotics: Mechanics and Control. 3.ª ed., Pearson Prentice Hall, 2005.</a:t>
            </a:r>
          </a:p>
        </p:txBody>
      </p:sp>
    </p:spTree>
    <p:extLst>
      <p:ext uri="{BB962C8B-B14F-4D97-AF65-F5344CB8AC3E}">
        <p14:creationId xmlns:p14="http://schemas.microsoft.com/office/powerpoint/2010/main" val="1015751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2026-10-07T16:09:55.6480000Z</dcterms:created>
  <dcterms:modified xsi:type="dcterms:W3CDTF">2026-10-07T16:09:55.6480000Z</dcterms:modified>
</coreProperties>
</file>